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media/image1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1" r:id="rId6"/>
    <p:sldId id="268" r:id="rId13"/>
    <p:sldId id="271" r:id="rId16"/>
    <p:sldId id="270" r:id="rId15"/>
    <p:sldId id="272" r:id="rId17"/>
    <p:sldId id="276" r:id="rId21"/>
    <p:sldId id="262" r:id="rId7"/>
    <p:sldId id="265" r:id="rId10"/>
    <p:sldId id="266" r:id="rId11"/>
    <p:sldId id="280" r:id="rId25"/>
    <p:sldId id="283" r:id="rId28"/>
    <p:sldId id="291" r:id="rId36"/>
    <p:sldId id="292" r:id="rId37"/>
    <p:sldId id="301" r:id="rId46"/>
    <p:sldId id="302" r:id="rId47"/>
  </p:sldIdLst>
  <p:sldSz cx="18288000" cy="10287000"/>
  <p:notesSz cx="6858000" cy="9144000"/>
  <p:embeddedFontLst>
    <p:embeddedFont>
      <p:font typeface="Francois One" panose="020B0604020202020204" charset="0"/>
      <p:regular r:id="rId49"/>
    </p:embeddedFont>
    <p:embeddedFont>
      <p:font typeface="Montserrat" panose="00000500000000000000" pitchFamily="2" charset="0"/>
      <p:regular r:id="rId50"/>
    </p:embeddedFont>
    <p:embeddedFont>
      <p:font typeface="Montserrat Bold" panose="00000800000000000000" charset="0"/>
      <p:regular r:id="rId51"/>
    </p:embeddedFont>
    <p:embeddedFont>
      <p:font typeface="Montserrat Extra-Light" panose="020B0604020202020204" charset="0"/>
      <p:regular r:id="rId52"/>
    </p:embeddedFont>
    <p:embeddedFont>
      <p:font typeface="Montserrat Italics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4.xml"/><Relationship Id="rId7" Type="http://schemas.openxmlformats.org/officeDocument/2006/relationships/slide" Target="slides/slide10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5.xml"/><Relationship Id="rId14" Type="http://schemas.openxmlformats.org/officeDocument/2006/relationships/slide" Target="slides/slide13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8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1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14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47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6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38236" cy="103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219588"/>
            <a:ext cx="14039003" cy="170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89"/>
              </a:lnSpc>
              <a:spcBef>
                <a:spcPct val="0"/>
              </a:spcBef>
            </a:pPr>
            <a:r>
              <a:rPr lang="en-US" sz="9992" b="1" spc="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BÁO CÁO ĐỒ ÁN KHO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7174" y="4837683"/>
            <a:ext cx="15134802" cy="16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7"/>
              </a:lnSpc>
              <a:spcBef>
                <a:spcPct val="0"/>
              </a:spcBef>
            </a:pPr>
            <a:r>
              <a:rPr lang="en-US" sz="4826" spc="52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KHO DỮ LIỆU PHÂN TÍCH DOANH THU CỬA HÀNG GAME &amp; VẬT PHẨM 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079909"/>
            <a:ext cx="255402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61206" y="8079909"/>
            <a:ext cx="392855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Group 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4575" y="812270"/>
            <a:ext cx="300194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7703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 dirty="0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6639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9362" cy="338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446628" cy="11072020"/>
            <a:chOff x="0" y="0"/>
            <a:chExt cx="143450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503" cy="2916088"/>
            </a:xfrm>
            <a:custGeom>
              <a:avLst/>
              <a:gdLst/>
              <a:ahLst/>
              <a:cxnLst/>
              <a:rect l="l" t="t" r="r" b="b"/>
              <a:pathLst>
                <a:path w="1434503" h="2916088">
                  <a:moveTo>
                    <a:pt x="0" y="0"/>
                  </a:moveTo>
                  <a:lnTo>
                    <a:pt x="1434503" y="0"/>
                  </a:lnTo>
                  <a:lnTo>
                    <a:pt x="143450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3450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5400000">
            <a:off x="3180213" y="7315170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251355" y="424358"/>
            <a:ext cx="466876" cy="9407130"/>
            <a:chOff x="0" y="0"/>
            <a:chExt cx="122963" cy="247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3" cy="2477598"/>
            </a:xfrm>
            <a:custGeom>
              <a:avLst/>
              <a:gdLst/>
              <a:ahLst/>
              <a:cxnLst/>
              <a:rect l="l" t="t" r="r" b="b"/>
              <a:pathLst>
                <a:path w="122963" h="2477598">
                  <a:moveTo>
                    <a:pt x="61482" y="0"/>
                  </a:moveTo>
                  <a:lnTo>
                    <a:pt x="61482" y="0"/>
                  </a:lnTo>
                  <a:cubicBezTo>
                    <a:pt x="95437" y="0"/>
                    <a:pt x="122963" y="27526"/>
                    <a:pt x="122963" y="61482"/>
                  </a:cubicBezTo>
                  <a:lnTo>
                    <a:pt x="122963" y="2416116"/>
                  </a:lnTo>
                  <a:cubicBezTo>
                    <a:pt x="122963" y="2450072"/>
                    <a:pt x="95437" y="2477598"/>
                    <a:pt x="61482" y="2477598"/>
                  </a:cubicBezTo>
                  <a:lnTo>
                    <a:pt x="61482" y="2477598"/>
                  </a:lnTo>
                  <a:cubicBezTo>
                    <a:pt x="27526" y="2477598"/>
                    <a:pt x="0" y="2450072"/>
                    <a:pt x="0" y="2416116"/>
                  </a:cubicBezTo>
                  <a:lnTo>
                    <a:pt x="0" y="61482"/>
                  </a:lnTo>
                  <a:cubicBezTo>
                    <a:pt x="0" y="27526"/>
                    <a:pt x="27526" y="0"/>
                    <a:pt x="61482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3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6212501" y="4911215"/>
          <a:ext cx="11087100" cy="3143250"/>
        </p:xfrm>
        <a:graphic>
          <a:graphicData uri="http://schemas.openxmlformats.org/presentationml/2006/ole">
            <ns3:AlternateContent>
              <ns3:Choice Requires="v">
                <p:oleObj name="Worksheet" r:id="rId3" imgW="13296900" imgH="5359400" progId="Excel.Sheet.12">
                  <p:embed/>
                </p:oleObj>
              </ns3:Choice>
              <ns3:Fallback>
                <p:oleObj name="Worksheet" r:id="rId3" imgW="13296900" imgH="5359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2501" y="4911215"/>
                        <a:ext cx="11087100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5593065" y="678333"/>
            <a:ext cx="1199763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0"/>
              </a:lnSpc>
            </a:pPr>
            <a:r>
              <a:rPr lang="en-US" sz="6800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GIỚI THIỆU BỘ DỮ LIỆU &amp; ĐẶC TẢ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988633" y="186643"/>
            <a:ext cx="6026397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3065" y="1976503"/>
            <a:ext cx="9973606" cy="220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Tên hệ thống: GameStoreOLTP &amp; GameStoreDW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Nguồn dữ liệu: CSDL 3NF bán Game/DLC &amp; Vật phẩm ảo + 3 nguồn ngoại vi (Time.csv, Territories.xml, Cities.txt).</a:t>
            </a:r>
          </a:p>
          <a:p>
            <a:pPr algn="l">
              <a:lnSpc>
                <a:spcPts val="4499"/>
              </a:lnSpc>
            </a:pPr>
            <a:endParaRPr lang="en-US" sz="2999" spc="14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34640" y="4130165"/>
            <a:ext cx="46493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Quy mô: 10.000+ giao dịch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278820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514565" y="2843995"/>
          <a:ext cx="8758238" cy="3143250"/>
        </p:xfrm>
        <a:graphic>
          <a:graphicData uri="http://schemas.openxmlformats.org/presentationml/2006/ole">
            <ns3:AlternateContent>
              <ns3:Choice Requires="v">
                <p:oleObj name="Worksheet" r:id="rId4" imgW="10502900" imgH="4889500" progId="Excel.Sheet.12">
                  <p:embed/>
                </p:oleObj>
              </ns3:Choice>
              <ns3:Fallback>
                <p:oleObj name="Worksheet" r:id="rId4" imgW="10502900" imgH="488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565" y="2843995"/>
                        <a:ext cx="8758238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8912046" y="2843995"/>
          <a:ext cx="6686550" cy="4400550"/>
        </p:xfrm>
        <a:graphic>
          <a:graphicData uri="http://schemas.openxmlformats.org/presentationml/2006/ole">
            <ns3:AlternateContent>
              <ns3:Choice Requires="v">
                <p:oleObj name="Worksheet" r:id="rId6" imgW="8013700" imgH="5727700" progId="Excel.Sheet.12">
                  <p:embed/>
                </p:oleObj>
              </ns3:Choice>
              <ns3:Fallback>
                <p:oleObj name="Worksheet" r:id="rId6" imgW="80137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12046" y="2843995"/>
                        <a:ext cx="6686550" cy="44005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3398251" y="7795527"/>
            <a:ext cx="5453898" cy="3719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87"/>
              </a:lnSpc>
            </a:pPr>
            <a:r>
              <a:rPr lang="en-US" sz="28543" b="1" spc="-2283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565" y="2096192"/>
            <a:ext cx="3876356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PLAYERS &amp; PUBLISHERS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9503" y="660399"/>
            <a:ext cx="586508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3. GIẢI THÍCH DỮ LIỆU NGUỒN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6933" y="2096192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GAMES &amp; IN-GAME ITEMS</a:t>
            </a:r>
          </a:p>
        </p:txBody>
      </p:sp>
      <p:sp>
        <p:nvSpPr>
          <p:cNvPr id="13" name="Freeform 13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/>
        </p:nvGraphicFramePr>
        <p:xfrm>
          <a:off x="1324409" y="1946143"/>
          <a:ext cx="10272712" cy="5114639"/>
        </p:xfrm>
        <a:graphic>
          <a:graphicData uri="http://schemas.openxmlformats.org/presentationml/2006/ole">
            <ns3:AlternateContent>
              <ns3:Choice Requires="v">
                <p:oleObj name="Worksheet" r:id="rId5" imgW="12319000" imgH="7162800" progId="Excel.Sheet.12">
                  <p:embed/>
                </p:oleObj>
              </ns3:Choice>
              <ns3:Fallback>
                <p:oleObj name="Worksheet" r:id="rId5" imgW="12319000" imgH="716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4409" y="1946143"/>
                        <a:ext cx="10272712" cy="5114639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017540" y="660399"/>
            <a:ext cx="825292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4. ĐÁNH GIÁ DỮ LIỆU &amp; MÔ HÌNH MULTIDIM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6868" y="7829633"/>
            <a:ext cx="5797615" cy="35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0"/>
              </a:lnSpc>
            </a:pPr>
            <a:r>
              <a:rPr lang="en-US" sz="27505" b="1" spc="-220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9260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Bảng Fact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Chiều (Dimension)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Quan hệ (Cardinality)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Phân cấp (Hierarchy &amp; Levels)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Game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Categories: SubCat -&gt; Category -&gt; Department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 : m (Many-to-Many)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BridgeGameGenre [WeightFactor sum = 1.0]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 (Parent-Child)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StudioHierarchy: SubStudio -&gt; ParentStudio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FactItemTx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 (SCD2 / SCD6)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Geography: City -&gt; State (0,1) -&gt; Country -&gt; Continent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/>
        </p:nvGraphicFramePr>
        <p:xfrm>
          <a:off x="1324409" y="1946143"/>
          <a:ext cx="10272712" cy="5114639"/>
        </p:xfrm>
        <a:graphic>
          <a:graphicData uri="http://schemas.openxmlformats.org/presentationml/2006/ole">
            <ns3:AlternateContent>
              <ns3:Choice Requires="v">
                <p:oleObj name="Worksheet" r:id="rId5" imgW="12319000" imgH="7162800" progId="Excel.Sheet.12">
                  <p:embed/>
                </p:oleObj>
              </ns3:Choice>
              <ns3:Fallback>
                <p:oleObj name="Worksheet" r:id="rId5" imgW="12319000" imgH="716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4409" y="1946143"/>
                        <a:ext cx="10272712" cy="5114639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017540" y="660399"/>
            <a:ext cx="825292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4. ĐÁNH GIÁ DỮ LIỆU &amp; MÔ HÌNH MULTIDIM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6868" y="7829633"/>
            <a:ext cx="5797615" cy="35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0"/>
              </a:lnSpc>
            </a:pPr>
            <a:r>
              <a:rPr lang="en-US" sz="27505" b="1" spc="-220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9260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Bảng Fact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Chiều (Dimension)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Quan hệ (Cardinality)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Phân cấp (Hierarchy &amp; Levels)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Game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Categories: SubCat -&gt; Category -&gt; Department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 : m (Many-to-Many)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BridgeGameGenre [WeightFactor sum = 1.0]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FactGameSales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 (Parent-Child)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StudioHierarchy: SubStudio -&gt; ParentStudio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FactItemTx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: n (SCD2 / SCD6)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Geography: City -&gt; State (0,1) -&gt; Country -&gt; Continent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65348" flipH="1">
            <a:off x="-1362223" y="-2212276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250927">
            <a:off x="5486162" y="7645079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362" cy="2029631"/>
            </a:xfrm>
            <a:custGeom>
              <a:avLst/>
              <a:gdLst/>
              <a:ahLst/>
              <a:cxnLst/>
              <a:rect l="l" t="t" r="r" b="b"/>
              <a:pathLst>
                <a:path w="169362" h="2029631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69362" cy="2077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661255" y="3351832"/>
            <a:ext cx="9137621" cy="6609055"/>
          </a:xfrm>
          <a:custGeom>
            <a:avLst/>
            <a:gdLst/>
            <a:ahLst/>
            <a:cxnLst/>
            <a:rect l="l" t="t" r="r" b="b"/>
            <a:pathLst>
              <a:path w="9137621" h="6609055">
                <a:moveTo>
                  <a:pt x="0" y="0"/>
                </a:moveTo>
                <a:lnTo>
                  <a:pt x="9137621" y="0"/>
                </a:lnTo>
                <a:lnTo>
                  <a:pt x="9137621" y="6609055"/>
                </a:lnTo>
                <a:lnTo>
                  <a:pt x="0" y="6609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028076" y="4795210"/>
            <a:ext cx="27980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26108" y="4795210"/>
            <a:ext cx="20427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90520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TO 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CONSTELLATION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4615" y="2322178"/>
            <a:ext cx="828300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OLTP 3NF ĐẾN CONSTELLATION SCHEMA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2591" y="3689131"/>
            <a:ext cx="7817645" cy="642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7"/>
              </a:lnSpc>
            </a:pPr>
            <a:r>
              <a:rPr lang="en-US" sz="2599" spc="1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CSDL tác nghiệp chuẩn 3NF và các file XML/TXT/CSV rời rạc, đồ án chuyển đổi sang mô hình Constellation Schema (2 bảng Fact dùng chung các Conformed Dimensions) hỗ trợ đầy đủ 6 loại Hierarchy và SCD Type 2/6.</a:t>
            </a:r>
          </a:p>
          <a:p>
            <a:pPr algn="l">
              <a:lnSpc>
                <a:spcPts val="4905"/>
              </a:lnSpc>
            </a:pPr>
            <a:endParaRPr lang="en-US" sz="2599" spc="17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49531" y="144609"/>
            <a:ext cx="3395880" cy="211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27"/>
              </a:lnSpc>
            </a:pPr>
            <a:r>
              <a:rPr lang="en-US" sz="16110" b="1" spc="-1288">
                <a:gradFill>
                  <a:gsLst>
                    <a:gs pos="0">
                      <a:srgbClr val="E4B795">
                        <a:alpha val="100000"/>
                      </a:srgbClr>
                    </a:gs>
                    <a:gs pos="50000">
                      <a:srgbClr val="699ACD">
                        <a:alpha val="100000"/>
                      </a:srgbClr>
                    </a:gs>
                    <a:gs pos="100000">
                      <a:srgbClr val="2F679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SURROGATE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ALTERNATE KEY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4" name="Freeform 1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6" name="Freeform 1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607504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3" y="0"/>
                </a:lnTo>
                <a:lnTo>
                  <a:pt x="7816263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25226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2" y="0"/>
                </a:lnTo>
                <a:lnTo>
                  <a:pt x="7816262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40814" y="7882080"/>
            <a:ext cx="15406371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KHÓA THAY THẾ TỰ TĂNG (Surrogate Key: INT IDENTITY) CHO MỌI BẢNG CHIỀU ĐỒNG THỜI GIỮ LẠI KHÓA NGHIỆP VỤ (Alternate Key: PlayerAltKey, GameAltKey).</a:t>
            </a:r>
          </a:p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=&gt;&gt; Đảm bảo tính độc lập với hệ thống nguồn, hỗ trợ SCD Type 2 và tối ưu tốc độ JOIN trên bảng Fact.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DIM_PLAYER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33631" y="2407725"/>
            <a:ext cx="6324517" cy="6257325"/>
          </a:xfrm>
          <a:custGeom>
            <a:avLst/>
            <a:gdLst/>
            <a:ahLst/>
            <a:cxnLst/>
            <a:rect l="l" t="t" r="r" b="b"/>
            <a:pathLst>
              <a:path w="6324517" h="6257325">
                <a:moveTo>
                  <a:pt x="0" y="0"/>
                </a:moveTo>
                <a:lnTo>
                  <a:pt x="6324518" y="0"/>
                </a:lnTo>
                <a:lnTo>
                  <a:pt x="6324518" y="6257324"/>
                </a:lnTo>
                <a:lnTo>
                  <a:pt x="0" y="6257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53897" y="2407725"/>
            <a:ext cx="6819367" cy="6231196"/>
          </a:xfrm>
          <a:custGeom>
            <a:avLst/>
            <a:gdLst/>
            <a:ahLst/>
            <a:cxnLst/>
            <a:rect l="l" t="t" r="r" b="b"/>
            <a:pathLst>
              <a:path w="6819367" h="6231196">
                <a:moveTo>
                  <a:pt x="0" y="0"/>
                </a:moveTo>
                <a:lnTo>
                  <a:pt x="6819367" y="0"/>
                </a:lnTo>
                <a:lnTo>
                  <a:pt x="6819367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DIM_GAME &amp; ITEM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6" name="Freeform 16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8" name="Freeform 18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20" name="Freeform 20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22" name="Freeform 22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50780" y="7147560"/>
            <a:ext cx="1983105" cy="782002"/>
            <a:chOff x="0" y="0"/>
            <a:chExt cx="2644140" cy="1042670"/>
          </a:xfrm>
        </p:grpSpPr>
        <p:sp>
          <p:nvSpPr>
            <p:cNvPr id="24" name="Freeform 24"/>
            <p:cNvSpPr/>
            <p:nvPr/>
          </p:nvSpPr>
          <p:spPr>
            <a:xfrm>
              <a:off x="50800" y="46465"/>
              <a:ext cx="2542920" cy="944661"/>
            </a:xfrm>
            <a:custGeom>
              <a:avLst/>
              <a:gdLst/>
              <a:ahLst/>
              <a:cxnLst/>
              <a:rect l="l" t="t" r="r" b="b"/>
              <a:pathLst>
                <a:path w="2542920" h="944661">
                  <a:moveTo>
                    <a:pt x="0" y="566945"/>
                  </a:moveTo>
                  <a:cubicBezTo>
                    <a:pt x="1270" y="391685"/>
                    <a:pt x="0" y="342155"/>
                    <a:pt x="6350" y="306595"/>
                  </a:cubicBezTo>
                  <a:cubicBezTo>
                    <a:pt x="11430" y="281195"/>
                    <a:pt x="26670" y="251985"/>
                    <a:pt x="26670" y="244365"/>
                  </a:cubicBezTo>
                  <a:cubicBezTo>
                    <a:pt x="26670" y="243095"/>
                    <a:pt x="25400" y="243095"/>
                    <a:pt x="25400" y="241825"/>
                  </a:cubicBezTo>
                  <a:cubicBezTo>
                    <a:pt x="25400" y="226585"/>
                    <a:pt x="33020" y="66565"/>
                    <a:pt x="73660" y="29735"/>
                  </a:cubicBezTo>
                  <a:cubicBezTo>
                    <a:pt x="107950" y="-745"/>
                    <a:pt x="194310" y="-2015"/>
                    <a:pt x="231140" y="10685"/>
                  </a:cubicBezTo>
                  <a:cubicBezTo>
                    <a:pt x="255270" y="18305"/>
                    <a:pt x="261620" y="52595"/>
                    <a:pt x="281940" y="58945"/>
                  </a:cubicBezTo>
                  <a:cubicBezTo>
                    <a:pt x="302260" y="66565"/>
                    <a:pt x="326390" y="52595"/>
                    <a:pt x="355600" y="50055"/>
                  </a:cubicBezTo>
                  <a:cubicBezTo>
                    <a:pt x="394970" y="47515"/>
                    <a:pt x="448310" y="48785"/>
                    <a:pt x="497840" y="46245"/>
                  </a:cubicBezTo>
                  <a:cubicBezTo>
                    <a:pt x="547370" y="43705"/>
                    <a:pt x="601980" y="37355"/>
                    <a:pt x="652780" y="33545"/>
                  </a:cubicBezTo>
                  <a:cubicBezTo>
                    <a:pt x="701040" y="29735"/>
                    <a:pt x="746760" y="23385"/>
                    <a:pt x="793750" y="23385"/>
                  </a:cubicBezTo>
                  <a:cubicBezTo>
                    <a:pt x="839470" y="23385"/>
                    <a:pt x="885190" y="27195"/>
                    <a:pt x="930910" y="36085"/>
                  </a:cubicBezTo>
                  <a:cubicBezTo>
                    <a:pt x="979170" y="46245"/>
                    <a:pt x="1075690" y="81805"/>
                    <a:pt x="1075690" y="81805"/>
                  </a:cubicBezTo>
                  <a:cubicBezTo>
                    <a:pt x="1075690" y="81805"/>
                    <a:pt x="1088390" y="83075"/>
                    <a:pt x="1093470" y="84345"/>
                  </a:cubicBezTo>
                  <a:cubicBezTo>
                    <a:pt x="1099820" y="84345"/>
                    <a:pt x="1111250" y="85615"/>
                    <a:pt x="1111250" y="85615"/>
                  </a:cubicBezTo>
                  <a:cubicBezTo>
                    <a:pt x="1112520" y="85615"/>
                    <a:pt x="1122680" y="90695"/>
                    <a:pt x="1129030" y="91965"/>
                  </a:cubicBezTo>
                  <a:cubicBezTo>
                    <a:pt x="1134110" y="94505"/>
                    <a:pt x="1145540" y="98315"/>
                    <a:pt x="1145540" y="98315"/>
                  </a:cubicBezTo>
                  <a:cubicBezTo>
                    <a:pt x="1145540" y="98315"/>
                    <a:pt x="1155700" y="105935"/>
                    <a:pt x="1160780" y="108475"/>
                  </a:cubicBezTo>
                  <a:cubicBezTo>
                    <a:pt x="1165860" y="112285"/>
                    <a:pt x="1174750" y="118635"/>
                    <a:pt x="1174750" y="118635"/>
                  </a:cubicBezTo>
                  <a:cubicBezTo>
                    <a:pt x="1176020" y="119905"/>
                    <a:pt x="1183640" y="128795"/>
                    <a:pt x="1187450" y="132605"/>
                  </a:cubicBezTo>
                  <a:cubicBezTo>
                    <a:pt x="1191260" y="137685"/>
                    <a:pt x="1198880" y="146575"/>
                    <a:pt x="1198880" y="146575"/>
                  </a:cubicBezTo>
                  <a:cubicBezTo>
                    <a:pt x="1198880" y="146575"/>
                    <a:pt x="1200150" y="147845"/>
                    <a:pt x="1200150" y="149115"/>
                  </a:cubicBezTo>
                  <a:cubicBezTo>
                    <a:pt x="1202690" y="150385"/>
                    <a:pt x="1206500" y="147845"/>
                    <a:pt x="1214120" y="147845"/>
                  </a:cubicBezTo>
                  <a:cubicBezTo>
                    <a:pt x="1243330" y="142765"/>
                    <a:pt x="1372870" y="123715"/>
                    <a:pt x="1451610" y="111015"/>
                  </a:cubicBezTo>
                  <a:cubicBezTo>
                    <a:pt x="1529080" y="97045"/>
                    <a:pt x="1612900" y="80535"/>
                    <a:pt x="1682750" y="66565"/>
                  </a:cubicBezTo>
                  <a:cubicBezTo>
                    <a:pt x="1739900" y="55135"/>
                    <a:pt x="1786890" y="42435"/>
                    <a:pt x="1841500" y="33545"/>
                  </a:cubicBezTo>
                  <a:cubicBezTo>
                    <a:pt x="1899920" y="24655"/>
                    <a:pt x="1967230" y="17035"/>
                    <a:pt x="2025650" y="11955"/>
                  </a:cubicBezTo>
                  <a:cubicBezTo>
                    <a:pt x="2078990" y="8145"/>
                    <a:pt x="2124710" y="4335"/>
                    <a:pt x="2180590" y="4335"/>
                  </a:cubicBezTo>
                  <a:cubicBezTo>
                    <a:pt x="2246630" y="4335"/>
                    <a:pt x="2331720" y="-10905"/>
                    <a:pt x="2392680" y="15765"/>
                  </a:cubicBezTo>
                  <a:cubicBezTo>
                    <a:pt x="2452370" y="42435"/>
                    <a:pt x="2536190" y="116095"/>
                    <a:pt x="2542540" y="165625"/>
                  </a:cubicBezTo>
                  <a:cubicBezTo>
                    <a:pt x="2547620" y="206265"/>
                    <a:pt x="2500630" y="254525"/>
                    <a:pt x="2470150" y="287545"/>
                  </a:cubicBezTo>
                  <a:cubicBezTo>
                    <a:pt x="2438400" y="319295"/>
                    <a:pt x="2382520" y="347235"/>
                    <a:pt x="2355850" y="362475"/>
                  </a:cubicBezTo>
                  <a:cubicBezTo>
                    <a:pt x="2343150" y="370095"/>
                    <a:pt x="2334260" y="373905"/>
                    <a:pt x="2325370" y="378985"/>
                  </a:cubicBezTo>
                  <a:cubicBezTo>
                    <a:pt x="2319020" y="382795"/>
                    <a:pt x="2313940" y="387875"/>
                    <a:pt x="2308860" y="390415"/>
                  </a:cubicBezTo>
                  <a:cubicBezTo>
                    <a:pt x="2306320" y="391685"/>
                    <a:pt x="2303780" y="391685"/>
                    <a:pt x="2301240" y="391685"/>
                  </a:cubicBezTo>
                  <a:cubicBezTo>
                    <a:pt x="2299970" y="392955"/>
                    <a:pt x="2298700" y="394225"/>
                    <a:pt x="2296160" y="395495"/>
                  </a:cubicBezTo>
                  <a:cubicBezTo>
                    <a:pt x="2292350" y="396765"/>
                    <a:pt x="2287270" y="395495"/>
                    <a:pt x="2283460" y="396765"/>
                  </a:cubicBezTo>
                  <a:cubicBezTo>
                    <a:pt x="2278380" y="398035"/>
                    <a:pt x="2273300" y="400575"/>
                    <a:pt x="2269490" y="400575"/>
                  </a:cubicBezTo>
                  <a:cubicBezTo>
                    <a:pt x="2266950" y="400575"/>
                    <a:pt x="2265680" y="399305"/>
                    <a:pt x="2263140" y="399305"/>
                  </a:cubicBezTo>
                  <a:cubicBezTo>
                    <a:pt x="2260600" y="399305"/>
                    <a:pt x="2259330" y="400575"/>
                    <a:pt x="2256790" y="400575"/>
                  </a:cubicBezTo>
                  <a:cubicBezTo>
                    <a:pt x="2252980" y="400575"/>
                    <a:pt x="2247900" y="399305"/>
                    <a:pt x="2242820" y="398035"/>
                  </a:cubicBezTo>
                  <a:cubicBezTo>
                    <a:pt x="2239010" y="398035"/>
                    <a:pt x="2233930" y="398035"/>
                    <a:pt x="2230120" y="398035"/>
                  </a:cubicBezTo>
                  <a:cubicBezTo>
                    <a:pt x="2227580" y="396765"/>
                    <a:pt x="2226310" y="395495"/>
                    <a:pt x="2223770" y="394225"/>
                  </a:cubicBezTo>
                  <a:cubicBezTo>
                    <a:pt x="2221230" y="394225"/>
                    <a:pt x="2219960" y="394225"/>
                    <a:pt x="2217420" y="394225"/>
                  </a:cubicBezTo>
                  <a:cubicBezTo>
                    <a:pt x="2213610" y="392955"/>
                    <a:pt x="2209800" y="389145"/>
                    <a:pt x="2205990" y="386605"/>
                  </a:cubicBezTo>
                  <a:cubicBezTo>
                    <a:pt x="2200910" y="385335"/>
                    <a:pt x="2195830" y="384065"/>
                    <a:pt x="2193290" y="381525"/>
                  </a:cubicBezTo>
                  <a:cubicBezTo>
                    <a:pt x="2190750" y="380255"/>
                    <a:pt x="2189480" y="378985"/>
                    <a:pt x="2188210" y="377715"/>
                  </a:cubicBezTo>
                  <a:cubicBezTo>
                    <a:pt x="2185670" y="376445"/>
                    <a:pt x="2184400" y="376445"/>
                    <a:pt x="2181860" y="373905"/>
                  </a:cubicBezTo>
                  <a:cubicBezTo>
                    <a:pt x="2179320" y="371365"/>
                    <a:pt x="2176780" y="367555"/>
                    <a:pt x="2172970" y="363745"/>
                  </a:cubicBezTo>
                  <a:cubicBezTo>
                    <a:pt x="2170430" y="361205"/>
                    <a:pt x="2165350" y="358665"/>
                    <a:pt x="2162810" y="354855"/>
                  </a:cubicBezTo>
                  <a:cubicBezTo>
                    <a:pt x="2161540" y="353585"/>
                    <a:pt x="2161540" y="351045"/>
                    <a:pt x="2159000" y="349775"/>
                  </a:cubicBezTo>
                  <a:cubicBezTo>
                    <a:pt x="2157730" y="347235"/>
                    <a:pt x="2156460" y="347235"/>
                    <a:pt x="2155190" y="344695"/>
                  </a:cubicBezTo>
                  <a:cubicBezTo>
                    <a:pt x="2152650" y="342155"/>
                    <a:pt x="2151380" y="335805"/>
                    <a:pt x="2150110" y="331995"/>
                  </a:cubicBezTo>
                  <a:cubicBezTo>
                    <a:pt x="2147570" y="328185"/>
                    <a:pt x="2143760" y="324375"/>
                    <a:pt x="2142490" y="320565"/>
                  </a:cubicBezTo>
                  <a:cubicBezTo>
                    <a:pt x="2142490" y="318025"/>
                    <a:pt x="2142490" y="316755"/>
                    <a:pt x="2141220" y="314215"/>
                  </a:cubicBezTo>
                  <a:cubicBezTo>
                    <a:pt x="2141220" y="311675"/>
                    <a:pt x="2139950" y="310405"/>
                    <a:pt x="2138680" y="307865"/>
                  </a:cubicBezTo>
                  <a:cubicBezTo>
                    <a:pt x="2137410" y="304055"/>
                    <a:pt x="2138680" y="298975"/>
                    <a:pt x="2137410" y="295165"/>
                  </a:cubicBezTo>
                  <a:cubicBezTo>
                    <a:pt x="2137410" y="290085"/>
                    <a:pt x="2134870" y="285005"/>
                    <a:pt x="2134870" y="281195"/>
                  </a:cubicBezTo>
                  <a:cubicBezTo>
                    <a:pt x="2134870" y="278655"/>
                    <a:pt x="2136140" y="277385"/>
                    <a:pt x="2136140" y="274845"/>
                  </a:cubicBezTo>
                  <a:cubicBezTo>
                    <a:pt x="2136140" y="272305"/>
                    <a:pt x="2134870" y="271035"/>
                    <a:pt x="2134870" y="268495"/>
                  </a:cubicBezTo>
                  <a:cubicBezTo>
                    <a:pt x="2136140" y="264685"/>
                    <a:pt x="2137410" y="259605"/>
                    <a:pt x="2138680" y="254525"/>
                  </a:cubicBezTo>
                  <a:cubicBezTo>
                    <a:pt x="2138680" y="250715"/>
                    <a:pt x="2138680" y="245635"/>
                    <a:pt x="2139950" y="241825"/>
                  </a:cubicBezTo>
                  <a:cubicBezTo>
                    <a:pt x="2141220" y="239285"/>
                    <a:pt x="2142490" y="238015"/>
                    <a:pt x="2142490" y="235475"/>
                  </a:cubicBezTo>
                  <a:cubicBezTo>
                    <a:pt x="2143760" y="232935"/>
                    <a:pt x="2143760" y="230395"/>
                    <a:pt x="2145030" y="229125"/>
                  </a:cubicBezTo>
                  <a:cubicBezTo>
                    <a:pt x="2145030" y="227855"/>
                    <a:pt x="2147570" y="226585"/>
                    <a:pt x="2146300" y="225315"/>
                  </a:cubicBezTo>
                  <a:cubicBezTo>
                    <a:pt x="2143760" y="221505"/>
                    <a:pt x="2085340" y="225315"/>
                    <a:pt x="2048510" y="226585"/>
                  </a:cubicBezTo>
                  <a:cubicBezTo>
                    <a:pt x="2000250" y="229125"/>
                    <a:pt x="1935480" y="235475"/>
                    <a:pt x="1880870" y="243095"/>
                  </a:cubicBezTo>
                  <a:cubicBezTo>
                    <a:pt x="1827530" y="250715"/>
                    <a:pt x="1778000" y="259605"/>
                    <a:pt x="1723390" y="269765"/>
                  </a:cubicBezTo>
                  <a:cubicBezTo>
                    <a:pt x="1664970" y="281195"/>
                    <a:pt x="1544320" y="300245"/>
                    <a:pt x="1541780" y="307865"/>
                  </a:cubicBezTo>
                  <a:cubicBezTo>
                    <a:pt x="1540510" y="309135"/>
                    <a:pt x="1543050" y="310405"/>
                    <a:pt x="1544320" y="311675"/>
                  </a:cubicBezTo>
                  <a:cubicBezTo>
                    <a:pt x="1546860" y="314215"/>
                    <a:pt x="1555750" y="324375"/>
                    <a:pt x="1555750" y="324375"/>
                  </a:cubicBezTo>
                  <a:cubicBezTo>
                    <a:pt x="1555750" y="324375"/>
                    <a:pt x="1560830" y="334535"/>
                    <a:pt x="1563370" y="339615"/>
                  </a:cubicBezTo>
                  <a:cubicBezTo>
                    <a:pt x="1565910" y="344695"/>
                    <a:pt x="1572260" y="353585"/>
                    <a:pt x="1572260" y="354855"/>
                  </a:cubicBezTo>
                  <a:cubicBezTo>
                    <a:pt x="1572260" y="354855"/>
                    <a:pt x="1574800" y="365015"/>
                    <a:pt x="1576070" y="371365"/>
                  </a:cubicBezTo>
                  <a:cubicBezTo>
                    <a:pt x="1577340" y="376445"/>
                    <a:pt x="1579880" y="387875"/>
                    <a:pt x="1579880" y="387875"/>
                  </a:cubicBezTo>
                  <a:cubicBezTo>
                    <a:pt x="1579880" y="387875"/>
                    <a:pt x="1579880" y="399305"/>
                    <a:pt x="1579880" y="404385"/>
                  </a:cubicBezTo>
                  <a:cubicBezTo>
                    <a:pt x="1579880" y="410735"/>
                    <a:pt x="1579880" y="420895"/>
                    <a:pt x="1579880" y="422165"/>
                  </a:cubicBezTo>
                  <a:cubicBezTo>
                    <a:pt x="1579880" y="422165"/>
                    <a:pt x="1577340" y="432325"/>
                    <a:pt x="1576070" y="438675"/>
                  </a:cubicBezTo>
                  <a:cubicBezTo>
                    <a:pt x="1574800" y="443755"/>
                    <a:pt x="1572260" y="455185"/>
                    <a:pt x="1572260" y="455185"/>
                  </a:cubicBezTo>
                  <a:cubicBezTo>
                    <a:pt x="1572260" y="455185"/>
                    <a:pt x="1567180" y="465345"/>
                    <a:pt x="1564640" y="470425"/>
                  </a:cubicBezTo>
                  <a:cubicBezTo>
                    <a:pt x="1562100" y="475505"/>
                    <a:pt x="1557020" y="485665"/>
                    <a:pt x="1557020" y="485665"/>
                  </a:cubicBezTo>
                  <a:cubicBezTo>
                    <a:pt x="1557020" y="485665"/>
                    <a:pt x="1557020" y="485665"/>
                    <a:pt x="1555750" y="485665"/>
                  </a:cubicBezTo>
                  <a:cubicBezTo>
                    <a:pt x="1555750" y="485665"/>
                    <a:pt x="1549400" y="493285"/>
                    <a:pt x="1545590" y="498365"/>
                  </a:cubicBezTo>
                  <a:cubicBezTo>
                    <a:pt x="1541780" y="502175"/>
                    <a:pt x="1534160" y="511065"/>
                    <a:pt x="1534160" y="511065"/>
                  </a:cubicBezTo>
                  <a:cubicBezTo>
                    <a:pt x="1534160" y="511065"/>
                    <a:pt x="1524000" y="517415"/>
                    <a:pt x="1520190" y="521225"/>
                  </a:cubicBezTo>
                  <a:cubicBezTo>
                    <a:pt x="1515110" y="523765"/>
                    <a:pt x="1506220" y="530115"/>
                    <a:pt x="1506220" y="530115"/>
                  </a:cubicBezTo>
                  <a:cubicBezTo>
                    <a:pt x="1504950" y="530115"/>
                    <a:pt x="1494790" y="533925"/>
                    <a:pt x="1489710" y="536465"/>
                  </a:cubicBezTo>
                  <a:cubicBezTo>
                    <a:pt x="1484630" y="539005"/>
                    <a:pt x="1474470" y="542815"/>
                    <a:pt x="1474470" y="542815"/>
                  </a:cubicBezTo>
                  <a:cubicBezTo>
                    <a:pt x="1473200" y="542815"/>
                    <a:pt x="1463040" y="544085"/>
                    <a:pt x="1456690" y="545355"/>
                  </a:cubicBezTo>
                  <a:cubicBezTo>
                    <a:pt x="1451610" y="545355"/>
                    <a:pt x="1446530" y="546625"/>
                    <a:pt x="1440180" y="546625"/>
                  </a:cubicBezTo>
                  <a:cubicBezTo>
                    <a:pt x="1428750" y="547895"/>
                    <a:pt x="1413510" y="549165"/>
                    <a:pt x="1394460" y="549165"/>
                  </a:cubicBezTo>
                  <a:cubicBezTo>
                    <a:pt x="1360170" y="551705"/>
                    <a:pt x="1301750" y="551705"/>
                    <a:pt x="1254760" y="556785"/>
                  </a:cubicBezTo>
                  <a:cubicBezTo>
                    <a:pt x="1209040" y="561865"/>
                    <a:pt x="1126490" y="559325"/>
                    <a:pt x="1116330" y="579645"/>
                  </a:cubicBezTo>
                  <a:cubicBezTo>
                    <a:pt x="1108710" y="594885"/>
                    <a:pt x="1137920" y="621555"/>
                    <a:pt x="1151890" y="644415"/>
                  </a:cubicBezTo>
                  <a:cubicBezTo>
                    <a:pt x="1169670" y="674895"/>
                    <a:pt x="1202690" y="723155"/>
                    <a:pt x="1214120" y="747285"/>
                  </a:cubicBezTo>
                  <a:cubicBezTo>
                    <a:pt x="1221740" y="758715"/>
                    <a:pt x="1224280" y="765065"/>
                    <a:pt x="1228090" y="775225"/>
                  </a:cubicBezTo>
                  <a:cubicBezTo>
                    <a:pt x="1230630" y="785385"/>
                    <a:pt x="1233170" y="795545"/>
                    <a:pt x="1233170" y="806975"/>
                  </a:cubicBezTo>
                  <a:cubicBezTo>
                    <a:pt x="1234440" y="817135"/>
                    <a:pt x="1233170" y="827295"/>
                    <a:pt x="1231900" y="837455"/>
                  </a:cubicBezTo>
                  <a:cubicBezTo>
                    <a:pt x="1229360" y="847615"/>
                    <a:pt x="1226820" y="857775"/>
                    <a:pt x="1223010" y="867935"/>
                  </a:cubicBezTo>
                  <a:cubicBezTo>
                    <a:pt x="1217930" y="876825"/>
                    <a:pt x="1212850" y="885715"/>
                    <a:pt x="1206500" y="894605"/>
                  </a:cubicBezTo>
                  <a:cubicBezTo>
                    <a:pt x="1200150" y="902225"/>
                    <a:pt x="1192530" y="909845"/>
                    <a:pt x="1183640" y="916195"/>
                  </a:cubicBezTo>
                  <a:cubicBezTo>
                    <a:pt x="1176020" y="922545"/>
                    <a:pt x="1167130" y="928895"/>
                    <a:pt x="1156970" y="932705"/>
                  </a:cubicBezTo>
                  <a:cubicBezTo>
                    <a:pt x="1148080" y="937785"/>
                    <a:pt x="1137920" y="940325"/>
                    <a:pt x="1127760" y="942865"/>
                  </a:cubicBezTo>
                  <a:cubicBezTo>
                    <a:pt x="1117600" y="944135"/>
                    <a:pt x="1106170" y="945405"/>
                    <a:pt x="1096010" y="944135"/>
                  </a:cubicBezTo>
                  <a:cubicBezTo>
                    <a:pt x="1085850" y="944135"/>
                    <a:pt x="1075690" y="941595"/>
                    <a:pt x="1065530" y="939055"/>
                  </a:cubicBezTo>
                  <a:cubicBezTo>
                    <a:pt x="1055370" y="935245"/>
                    <a:pt x="1045210" y="931435"/>
                    <a:pt x="1036320" y="926355"/>
                  </a:cubicBezTo>
                  <a:cubicBezTo>
                    <a:pt x="1027430" y="921275"/>
                    <a:pt x="1019810" y="913655"/>
                    <a:pt x="1012190" y="907305"/>
                  </a:cubicBezTo>
                  <a:cubicBezTo>
                    <a:pt x="1004570" y="899685"/>
                    <a:pt x="1000760" y="893335"/>
                    <a:pt x="993140" y="881905"/>
                  </a:cubicBezTo>
                  <a:cubicBezTo>
                    <a:pt x="977900" y="860315"/>
                    <a:pt x="957580" y="812055"/>
                    <a:pt x="930910" y="780305"/>
                  </a:cubicBezTo>
                  <a:cubicBezTo>
                    <a:pt x="901700" y="746015"/>
                    <a:pt x="866140" y="701565"/>
                    <a:pt x="824230" y="686325"/>
                  </a:cubicBezTo>
                  <a:cubicBezTo>
                    <a:pt x="783590" y="671085"/>
                    <a:pt x="720090" y="690135"/>
                    <a:pt x="681990" y="688865"/>
                  </a:cubicBezTo>
                  <a:cubicBezTo>
                    <a:pt x="657860" y="688865"/>
                    <a:pt x="635000" y="687595"/>
                    <a:pt x="619760" y="687595"/>
                  </a:cubicBezTo>
                  <a:cubicBezTo>
                    <a:pt x="613410" y="686325"/>
                    <a:pt x="609600" y="685055"/>
                    <a:pt x="603250" y="685055"/>
                  </a:cubicBezTo>
                  <a:cubicBezTo>
                    <a:pt x="598170" y="683785"/>
                    <a:pt x="586740" y="682515"/>
                    <a:pt x="586740" y="682515"/>
                  </a:cubicBezTo>
                  <a:cubicBezTo>
                    <a:pt x="586740" y="682515"/>
                    <a:pt x="576580" y="678705"/>
                    <a:pt x="571500" y="677435"/>
                  </a:cubicBezTo>
                  <a:cubicBezTo>
                    <a:pt x="566420" y="674895"/>
                    <a:pt x="556260" y="671085"/>
                    <a:pt x="554990" y="671085"/>
                  </a:cubicBezTo>
                  <a:cubicBezTo>
                    <a:pt x="554990" y="671085"/>
                    <a:pt x="546100" y="664735"/>
                    <a:pt x="542290" y="662195"/>
                  </a:cubicBezTo>
                  <a:cubicBezTo>
                    <a:pt x="537210" y="658385"/>
                    <a:pt x="528320" y="652035"/>
                    <a:pt x="528320" y="652035"/>
                  </a:cubicBezTo>
                  <a:cubicBezTo>
                    <a:pt x="528320" y="652035"/>
                    <a:pt x="520700" y="643145"/>
                    <a:pt x="516890" y="639335"/>
                  </a:cubicBezTo>
                  <a:cubicBezTo>
                    <a:pt x="513080" y="635525"/>
                    <a:pt x="505460" y="626635"/>
                    <a:pt x="505460" y="626635"/>
                  </a:cubicBezTo>
                  <a:cubicBezTo>
                    <a:pt x="505460" y="626635"/>
                    <a:pt x="500380" y="616475"/>
                    <a:pt x="497840" y="612665"/>
                  </a:cubicBezTo>
                  <a:cubicBezTo>
                    <a:pt x="495300" y="607585"/>
                    <a:pt x="490220" y="597425"/>
                    <a:pt x="490220" y="597425"/>
                  </a:cubicBezTo>
                  <a:cubicBezTo>
                    <a:pt x="490220" y="597425"/>
                    <a:pt x="490220" y="588535"/>
                    <a:pt x="487680" y="587265"/>
                  </a:cubicBezTo>
                  <a:cubicBezTo>
                    <a:pt x="476250" y="582185"/>
                    <a:pt x="406400" y="627905"/>
                    <a:pt x="364490" y="654575"/>
                  </a:cubicBezTo>
                  <a:cubicBezTo>
                    <a:pt x="316230" y="685055"/>
                    <a:pt x="270510" y="752365"/>
                    <a:pt x="218440" y="759985"/>
                  </a:cubicBezTo>
                  <a:cubicBezTo>
                    <a:pt x="167640" y="767605"/>
                    <a:pt x="93980" y="735855"/>
                    <a:pt x="57150" y="701565"/>
                  </a:cubicBezTo>
                  <a:cubicBezTo>
                    <a:pt x="24130" y="669815"/>
                    <a:pt x="0" y="566945"/>
                    <a:pt x="0" y="56694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788968" y="7168515"/>
            <a:ext cx="2784158" cy="834390"/>
            <a:chOff x="0" y="0"/>
            <a:chExt cx="3712210" cy="1112520"/>
          </a:xfrm>
        </p:grpSpPr>
        <p:sp>
          <p:nvSpPr>
            <p:cNvPr id="26" name="Freeform 26"/>
            <p:cNvSpPr/>
            <p:nvPr/>
          </p:nvSpPr>
          <p:spPr>
            <a:xfrm>
              <a:off x="50693" y="49855"/>
              <a:ext cx="3610717" cy="1013001"/>
            </a:xfrm>
            <a:custGeom>
              <a:avLst/>
              <a:gdLst/>
              <a:ahLst/>
              <a:cxnLst/>
              <a:rect l="l" t="t" r="r" b="b"/>
              <a:pathLst>
                <a:path w="3610717" h="1013001">
                  <a:moveTo>
                    <a:pt x="2433427" y="641025"/>
                  </a:moveTo>
                  <a:cubicBezTo>
                    <a:pt x="1497437" y="604195"/>
                    <a:pt x="941177" y="503865"/>
                    <a:pt x="845927" y="533075"/>
                  </a:cubicBezTo>
                  <a:cubicBezTo>
                    <a:pt x="825607" y="539425"/>
                    <a:pt x="828147" y="553395"/>
                    <a:pt x="814177" y="558475"/>
                  </a:cubicBezTo>
                  <a:cubicBezTo>
                    <a:pt x="798937" y="564825"/>
                    <a:pt x="774807" y="566095"/>
                    <a:pt x="755757" y="561015"/>
                  </a:cubicBezTo>
                  <a:cubicBezTo>
                    <a:pt x="731627" y="554665"/>
                    <a:pt x="698607" y="536885"/>
                    <a:pt x="682097" y="515295"/>
                  </a:cubicBezTo>
                  <a:cubicBezTo>
                    <a:pt x="665587" y="492435"/>
                    <a:pt x="655427" y="458145"/>
                    <a:pt x="657967" y="431475"/>
                  </a:cubicBezTo>
                  <a:cubicBezTo>
                    <a:pt x="659237" y="403535"/>
                    <a:pt x="678287" y="370515"/>
                    <a:pt x="694797" y="351465"/>
                  </a:cubicBezTo>
                  <a:cubicBezTo>
                    <a:pt x="708767" y="337495"/>
                    <a:pt x="718927" y="329875"/>
                    <a:pt x="745597" y="322255"/>
                  </a:cubicBezTo>
                  <a:cubicBezTo>
                    <a:pt x="817987" y="303205"/>
                    <a:pt x="1023727" y="320985"/>
                    <a:pt x="1171047" y="326065"/>
                  </a:cubicBezTo>
                  <a:cubicBezTo>
                    <a:pt x="1327257" y="332415"/>
                    <a:pt x="1493627" y="354005"/>
                    <a:pt x="1658727" y="359085"/>
                  </a:cubicBezTo>
                  <a:cubicBezTo>
                    <a:pt x="1827637" y="365435"/>
                    <a:pt x="2047347" y="346385"/>
                    <a:pt x="2173077" y="360355"/>
                  </a:cubicBezTo>
                  <a:cubicBezTo>
                    <a:pt x="2246737" y="367975"/>
                    <a:pt x="2284837" y="389565"/>
                    <a:pt x="2345797" y="395915"/>
                  </a:cubicBezTo>
                  <a:cubicBezTo>
                    <a:pt x="2409297" y="403535"/>
                    <a:pt x="2500737" y="389565"/>
                    <a:pt x="2545187" y="398455"/>
                  </a:cubicBezTo>
                  <a:cubicBezTo>
                    <a:pt x="2568047" y="403535"/>
                    <a:pt x="2582017" y="407345"/>
                    <a:pt x="2595987" y="420045"/>
                  </a:cubicBezTo>
                  <a:cubicBezTo>
                    <a:pt x="2613767" y="435285"/>
                    <a:pt x="2634087" y="465765"/>
                    <a:pt x="2640437" y="488625"/>
                  </a:cubicBezTo>
                  <a:cubicBezTo>
                    <a:pt x="2645517" y="507675"/>
                    <a:pt x="2644247" y="526725"/>
                    <a:pt x="2639167" y="544505"/>
                  </a:cubicBezTo>
                  <a:cubicBezTo>
                    <a:pt x="2634087" y="561015"/>
                    <a:pt x="2625197" y="578795"/>
                    <a:pt x="2611227" y="592765"/>
                  </a:cubicBezTo>
                  <a:cubicBezTo>
                    <a:pt x="2594717" y="608005"/>
                    <a:pt x="2573127" y="618165"/>
                    <a:pt x="2537567" y="628325"/>
                  </a:cubicBezTo>
                  <a:cubicBezTo>
                    <a:pt x="2453747" y="651185"/>
                    <a:pt x="2289917" y="642295"/>
                    <a:pt x="2104497" y="666425"/>
                  </a:cubicBezTo>
                  <a:cubicBezTo>
                    <a:pt x="1770487" y="708335"/>
                    <a:pt x="997057" y="859465"/>
                    <a:pt x="707497" y="900105"/>
                  </a:cubicBezTo>
                  <a:cubicBezTo>
                    <a:pt x="577957" y="917885"/>
                    <a:pt x="518267" y="914075"/>
                    <a:pt x="424287" y="931855"/>
                  </a:cubicBezTo>
                  <a:cubicBezTo>
                    <a:pt x="327767" y="950905"/>
                    <a:pt x="196957" y="1004245"/>
                    <a:pt x="137267" y="1010595"/>
                  </a:cubicBezTo>
                  <a:cubicBezTo>
                    <a:pt x="109327" y="1013135"/>
                    <a:pt x="95357" y="1011865"/>
                    <a:pt x="77577" y="1006785"/>
                  </a:cubicBezTo>
                  <a:cubicBezTo>
                    <a:pt x="59797" y="1001705"/>
                    <a:pt x="44557" y="991545"/>
                    <a:pt x="31857" y="980115"/>
                  </a:cubicBezTo>
                  <a:cubicBezTo>
                    <a:pt x="20427" y="968685"/>
                    <a:pt x="10267" y="952175"/>
                    <a:pt x="5187" y="935665"/>
                  </a:cubicBezTo>
                  <a:cubicBezTo>
                    <a:pt x="107" y="919155"/>
                    <a:pt x="-1163" y="900105"/>
                    <a:pt x="1377" y="883595"/>
                  </a:cubicBezTo>
                  <a:cubicBezTo>
                    <a:pt x="5187" y="867085"/>
                    <a:pt x="7727" y="855655"/>
                    <a:pt x="22967" y="836605"/>
                  </a:cubicBezTo>
                  <a:cubicBezTo>
                    <a:pt x="63607" y="784535"/>
                    <a:pt x="210927" y="667695"/>
                    <a:pt x="318877" y="605465"/>
                  </a:cubicBezTo>
                  <a:cubicBezTo>
                    <a:pt x="428097" y="541965"/>
                    <a:pt x="562717" y="494975"/>
                    <a:pt x="674477" y="459415"/>
                  </a:cubicBezTo>
                  <a:cubicBezTo>
                    <a:pt x="769727" y="428935"/>
                    <a:pt x="886567" y="400995"/>
                    <a:pt x="943717" y="397185"/>
                  </a:cubicBezTo>
                  <a:cubicBezTo>
                    <a:pt x="969117" y="394645"/>
                    <a:pt x="981817" y="395915"/>
                    <a:pt x="999597" y="402265"/>
                  </a:cubicBezTo>
                  <a:cubicBezTo>
                    <a:pt x="1017377" y="408615"/>
                    <a:pt x="1033887" y="420045"/>
                    <a:pt x="1046587" y="432745"/>
                  </a:cubicBezTo>
                  <a:cubicBezTo>
                    <a:pt x="1059287" y="446715"/>
                    <a:pt x="1069447" y="464495"/>
                    <a:pt x="1074527" y="482275"/>
                  </a:cubicBezTo>
                  <a:cubicBezTo>
                    <a:pt x="1079607" y="500055"/>
                    <a:pt x="1080877" y="520375"/>
                    <a:pt x="1075797" y="539425"/>
                  </a:cubicBezTo>
                  <a:cubicBezTo>
                    <a:pt x="1069447" y="562285"/>
                    <a:pt x="1049127" y="594035"/>
                    <a:pt x="1030077" y="609275"/>
                  </a:cubicBezTo>
                  <a:cubicBezTo>
                    <a:pt x="1014837" y="621975"/>
                    <a:pt x="1004677" y="628325"/>
                    <a:pt x="978007" y="630865"/>
                  </a:cubicBezTo>
                  <a:cubicBezTo>
                    <a:pt x="892917" y="639755"/>
                    <a:pt x="561447" y="517835"/>
                    <a:pt x="439527" y="526725"/>
                  </a:cubicBezTo>
                  <a:cubicBezTo>
                    <a:pt x="374757" y="531805"/>
                    <a:pt x="332847" y="571175"/>
                    <a:pt x="294747" y="577525"/>
                  </a:cubicBezTo>
                  <a:cubicBezTo>
                    <a:pt x="270617" y="580065"/>
                    <a:pt x="254107" y="581335"/>
                    <a:pt x="233787" y="574985"/>
                  </a:cubicBezTo>
                  <a:cubicBezTo>
                    <a:pt x="209657" y="566095"/>
                    <a:pt x="177907" y="541965"/>
                    <a:pt x="162667" y="520375"/>
                  </a:cubicBezTo>
                  <a:cubicBezTo>
                    <a:pt x="151237" y="503865"/>
                    <a:pt x="144887" y="484815"/>
                    <a:pt x="143617" y="463225"/>
                  </a:cubicBezTo>
                  <a:cubicBezTo>
                    <a:pt x="143617" y="437825"/>
                    <a:pt x="155047" y="399725"/>
                    <a:pt x="169017" y="378135"/>
                  </a:cubicBezTo>
                  <a:cubicBezTo>
                    <a:pt x="180447" y="360355"/>
                    <a:pt x="190607" y="347655"/>
                    <a:pt x="216007" y="340035"/>
                  </a:cubicBezTo>
                  <a:cubicBezTo>
                    <a:pt x="278237" y="322255"/>
                    <a:pt x="464927" y="364165"/>
                    <a:pt x="575417" y="383215"/>
                  </a:cubicBezTo>
                  <a:cubicBezTo>
                    <a:pt x="674477" y="402265"/>
                    <a:pt x="791317" y="422585"/>
                    <a:pt x="852277" y="450525"/>
                  </a:cubicBezTo>
                  <a:cubicBezTo>
                    <a:pt x="886567" y="467035"/>
                    <a:pt x="909427" y="483545"/>
                    <a:pt x="923397" y="505135"/>
                  </a:cubicBezTo>
                  <a:cubicBezTo>
                    <a:pt x="936097" y="521645"/>
                    <a:pt x="942447" y="540695"/>
                    <a:pt x="943717" y="562285"/>
                  </a:cubicBezTo>
                  <a:cubicBezTo>
                    <a:pt x="943717" y="587685"/>
                    <a:pt x="934827" y="625785"/>
                    <a:pt x="918317" y="648645"/>
                  </a:cubicBezTo>
                  <a:cubicBezTo>
                    <a:pt x="901807" y="670235"/>
                    <a:pt x="876407" y="686745"/>
                    <a:pt x="842117" y="696905"/>
                  </a:cubicBezTo>
                  <a:cubicBezTo>
                    <a:pt x="791317" y="712145"/>
                    <a:pt x="712577" y="708335"/>
                    <a:pt x="632567" y="700715"/>
                  </a:cubicBezTo>
                  <a:cubicBezTo>
                    <a:pt x="523347" y="691825"/>
                    <a:pt x="339197" y="661345"/>
                    <a:pt x="251567" y="624515"/>
                  </a:cubicBezTo>
                  <a:cubicBezTo>
                    <a:pt x="199497" y="602925"/>
                    <a:pt x="158857" y="586415"/>
                    <a:pt x="135997" y="548315"/>
                  </a:cubicBezTo>
                  <a:cubicBezTo>
                    <a:pt x="111867" y="505135"/>
                    <a:pt x="105517" y="417505"/>
                    <a:pt x="128377" y="366705"/>
                  </a:cubicBezTo>
                  <a:cubicBezTo>
                    <a:pt x="149967" y="314635"/>
                    <a:pt x="219817" y="277805"/>
                    <a:pt x="271887" y="244785"/>
                  </a:cubicBezTo>
                  <a:cubicBezTo>
                    <a:pt x="322687" y="213035"/>
                    <a:pt x="382377" y="186365"/>
                    <a:pt x="436987" y="169855"/>
                  </a:cubicBezTo>
                  <a:cubicBezTo>
                    <a:pt x="486517" y="154615"/>
                    <a:pt x="514457" y="149535"/>
                    <a:pt x="588117" y="144455"/>
                  </a:cubicBezTo>
                  <a:cubicBezTo>
                    <a:pt x="774807" y="127945"/>
                    <a:pt x="1361547" y="134295"/>
                    <a:pt x="1602847" y="141915"/>
                  </a:cubicBezTo>
                  <a:cubicBezTo>
                    <a:pt x="1734927" y="146995"/>
                    <a:pt x="1807317" y="173665"/>
                    <a:pt x="1910187" y="163505"/>
                  </a:cubicBezTo>
                  <a:cubicBezTo>
                    <a:pt x="2019407" y="152075"/>
                    <a:pt x="2148947" y="89845"/>
                    <a:pt x="2239117" y="72065"/>
                  </a:cubicBezTo>
                  <a:cubicBezTo>
                    <a:pt x="2300077" y="59365"/>
                    <a:pt x="2324207" y="53015"/>
                    <a:pt x="2396597" y="50475"/>
                  </a:cubicBezTo>
                  <a:cubicBezTo>
                    <a:pt x="2551537" y="44125"/>
                    <a:pt x="2938887" y="101275"/>
                    <a:pt x="3137007" y="88575"/>
                  </a:cubicBezTo>
                  <a:cubicBezTo>
                    <a:pt x="3274167" y="79685"/>
                    <a:pt x="3402437" y="12375"/>
                    <a:pt x="3478637" y="23805"/>
                  </a:cubicBezTo>
                  <a:cubicBezTo>
                    <a:pt x="3521817" y="30155"/>
                    <a:pt x="3551027" y="47935"/>
                    <a:pt x="3572617" y="72065"/>
                  </a:cubicBezTo>
                  <a:cubicBezTo>
                    <a:pt x="3595477" y="97465"/>
                    <a:pt x="3610717" y="138105"/>
                    <a:pt x="3610717" y="171125"/>
                  </a:cubicBezTo>
                  <a:cubicBezTo>
                    <a:pt x="3610717" y="204145"/>
                    <a:pt x="3595477" y="244785"/>
                    <a:pt x="3573887" y="270185"/>
                  </a:cubicBezTo>
                  <a:cubicBezTo>
                    <a:pt x="3552297" y="294315"/>
                    <a:pt x="3528167" y="308285"/>
                    <a:pt x="3481177" y="319715"/>
                  </a:cubicBezTo>
                  <a:cubicBezTo>
                    <a:pt x="3357987" y="348925"/>
                    <a:pt x="2929997" y="295585"/>
                    <a:pt x="2780137" y="303205"/>
                  </a:cubicBezTo>
                  <a:cubicBezTo>
                    <a:pt x="2709017" y="307015"/>
                    <a:pt x="2682347" y="322255"/>
                    <a:pt x="2623927" y="323525"/>
                  </a:cubicBezTo>
                  <a:cubicBezTo>
                    <a:pt x="2548997" y="324795"/>
                    <a:pt x="2430887" y="324795"/>
                    <a:pt x="2369927" y="303205"/>
                  </a:cubicBezTo>
                  <a:cubicBezTo>
                    <a:pt x="2330557" y="289235"/>
                    <a:pt x="2301347" y="266375"/>
                    <a:pt x="2282297" y="242245"/>
                  </a:cubicBezTo>
                  <a:cubicBezTo>
                    <a:pt x="2265787" y="221925"/>
                    <a:pt x="2259437" y="197795"/>
                    <a:pt x="2256897" y="173665"/>
                  </a:cubicBezTo>
                  <a:cubicBezTo>
                    <a:pt x="2253087" y="150805"/>
                    <a:pt x="2256897" y="124135"/>
                    <a:pt x="2264517" y="102545"/>
                  </a:cubicBezTo>
                  <a:cubicBezTo>
                    <a:pt x="2273407" y="79685"/>
                    <a:pt x="2288647" y="58095"/>
                    <a:pt x="2306427" y="42855"/>
                  </a:cubicBezTo>
                  <a:cubicBezTo>
                    <a:pt x="2324207" y="26345"/>
                    <a:pt x="2339447" y="16185"/>
                    <a:pt x="2371197" y="8565"/>
                  </a:cubicBezTo>
                  <a:cubicBezTo>
                    <a:pt x="2442317" y="-7945"/>
                    <a:pt x="2604877" y="19995"/>
                    <a:pt x="2740767" y="19995"/>
                  </a:cubicBezTo>
                  <a:cubicBezTo>
                    <a:pt x="2910947" y="19995"/>
                    <a:pt x="3224637" y="-4135"/>
                    <a:pt x="3309727" y="945"/>
                  </a:cubicBezTo>
                  <a:cubicBezTo>
                    <a:pt x="3335127" y="3485"/>
                    <a:pt x="3341477" y="2215"/>
                    <a:pt x="3357987" y="9835"/>
                  </a:cubicBezTo>
                  <a:cubicBezTo>
                    <a:pt x="3382117" y="19995"/>
                    <a:pt x="3417677" y="42855"/>
                    <a:pt x="3434187" y="68255"/>
                  </a:cubicBezTo>
                  <a:cubicBezTo>
                    <a:pt x="3451967" y="92385"/>
                    <a:pt x="3462127" y="130485"/>
                    <a:pt x="3460857" y="160965"/>
                  </a:cubicBezTo>
                  <a:cubicBezTo>
                    <a:pt x="3459587" y="191445"/>
                    <a:pt x="3444347" y="227005"/>
                    <a:pt x="3425297" y="249865"/>
                  </a:cubicBezTo>
                  <a:cubicBezTo>
                    <a:pt x="3404977" y="273995"/>
                    <a:pt x="3366877" y="291775"/>
                    <a:pt x="3342747" y="299395"/>
                  </a:cubicBezTo>
                  <a:cubicBezTo>
                    <a:pt x="3324967" y="305745"/>
                    <a:pt x="3312267" y="305745"/>
                    <a:pt x="3293217" y="303205"/>
                  </a:cubicBezTo>
                  <a:cubicBezTo>
                    <a:pt x="3267817" y="298125"/>
                    <a:pt x="3228447" y="282885"/>
                    <a:pt x="3205587" y="262565"/>
                  </a:cubicBezTo>
                  <a:cubicBezTo>
                    <a:pt x="3183997" y="240975"/>
                    <a:pt x="3166217" y="206685"/>
                    <a:pt x="3161137" y="177475"/>
                  </a:cubicBezTo>
                  <a:cubicBezTo>
                    <a:pt x="3156057" y="146995"/>
                    <a:pt x="3166217" y="105085"/>
                    <a:pt x="3176377" y="82225"/>
                  </a:cubicBezTo>
                  <a:cubicBezTo>
                    <a:pt x="3183997" y="64445"/>
                    <a:pt x="3191617" y="54285"/>
                    <a:pt x="3205587" y="42855"/>
                  </a:cubicBezTo>
                  <a:cubicBezTo>
                    <a:pt x="3225907" y="26345"/>
                    <a:pt x="3267817" y="7295"/>
                    <a:pt x="3293217" y="2215"/>
                  </a:cubicBezTo>
                  <a:cubicBezTo>
                    <a:pt x="3310997" y="-1595"/>
                    <a:pt x="3324967" y="-325"/>
                    <a:pt x="3342747" y="4755"/>
                  </a:cubicBezTo>
                  <a:cubicBezTo>
                    <a:pt x="3366877" y="12375"/>
                    <a:pt x="3404977" y="31425"/>
                    <a:pt x="3425297" y="54285"/>
                  </a:cubicBezTo>
                  <a:cubicBezTo>
                    <a:pt x="3444347" y="78415"/>
                    <a:pt x="3459587" y="113975"/>
                    <a:pt x="3460857" y="144455"/>
                  </a:cubicBezTo>
                  <a:cubicBezTo>
                    <a:pt x="3462127" y="174935"/>
                    <a:pt x="3448157" y="214305"/>
                    <a:pt x="3435457" y="237165"/>
                  </a:cubicBezTo>
                  <a:cubicBezTo>
                    <a:pt x="3425297" y="253675"/>
                    <a:pt x="3416407" y="262565"/>
                    <a:pt x="3401167" y="272725"/>
                  </a:cubicBezTo>
                  <a:cubicBezTo>
                    <a:pt x="3379577" y="286695"/>
                    <a:pt x="3352907" y="295585"/>
                    <a:pt x="3309727" y="303205"/>
                  </a:cubicBezTo>
                  <a:cubicBezTo>
                    <a:pt x="3215747" y="320985"/>
                    <a:pt x="2999847" y="318445"/>
                    <a:pt x="2843637" y="318445"/>
                  </a:cubicBezTo>
                  <a:cubicBezTo>
                    <a:pt x="2687427" y="318445"/>
                    <a:pt x="2462637" y="333685"/>
                    <a:pt x="2369927" y="303205"/>
                  </a:cubicBezTo>
                  <a:cubicBezTo>
                    <a:pt x="2325477" y="287965"/>
                    <a:pt x="2301347" y="268915"/>
                    <a:pt x="2282297" y="242245"/>
                  </a:cubicBezTo>
                  <a:cubicBezTo>
                    <a:pt x="2263247" y="214305"/>
                    <a:pt x="2251817" y="171125"/>
                    <a:pt x="2256897" y="136835"/>
                  </a:cubicBezTo>
                  <a:cubicBezTo>
                    <a:pt x="2260707" y="103815"/>
                    <a:pt x="2281027" y="64445"/>
                    <a:pt x="2306427" y="42855"/>
                  </a:cubicBezTo>
                  <a:cubicBezTo>
                    <a:pt x="2331827" y="19995"/>
                    <a:pt x="2366117" y="11105"/>
                    <a:pt x="2406757" y="4755"/>
                  </a:cubicBezTo>
                  <a:cubicBezTo>
                    <a:pt x="2465177" y="-4135"/>
                    <a:pt x="2547727" y="16185"/>
                    <a:pt x="2625197" y="16185"/>
                  </a:cubicBezTo>
                  <a:cubicBezTo>
                    <a:pt x="2712827" y="17455"/>
                    <a:pt x="2795377" y="2215"/>
                    <a:pt x="2907137" y="2215"/>
                  </a:cubicBezTo>
                  <a:cubicBezTo>
                    <a:pt x="3070967" y="2215"/>
                    <a:pt x="3420217" y="945"/>
                    <a:pt x="3514197" y="32695"/>
                  </a:cubicBezTo>
                  <a:cubicBezTo>
                    <a:pt x="3545947" y="42855"/>
                    <a:pt x="3557377" y="55555"/>
                    <a:pt x="3572617" y="72065"/>
                  </a:cubicBezTo>
                  <a:cubicBezTo>
                    <a:pt x="3587857" y="89845"/>
                    <a:pt x="3600557" y="112705"/>
                    <a:pt x="3606907" y="135565"/>
                  </a:cubicBezTo>
                  <a:cubicBezTo>
                    <a:pt x="3611987" y="157155"/>
                    <a:pt x="3611987" y="183825"/>
                    <a:pt x="3606907" y="206685"/>
                  </a:cubicBezTo>
                  <a:cubicBezTo>
                    <a:pt x="3601827" y="229545"/>
                    <a:pt x="3589127" y="252405"/>
                    <a:pt x="3573887" y="270185"/>
                  </a:cubicBezTo>
                  <a:cubicBezTo>
                    <a:pt x="3558647" y="286695"/>
                    <a:pt x="3543407" y="298125"/>
                    <a:pt x="3515467" y="310825"/>
                  </a:cubicBezTo>
                  <a:cubicBezTo>
                    <a:pt x="3458317" y="336225"/>
                    <a:pt x="3316077" y="366705"/>
                    <a:pt x="3234797" y="376865"/>
                  </a:cubicBezTo>
                  <a:cubicBezTo>
                    <a:pt x="3172567" y="385755"/>
                    <a:pt x="3143357" y="383215"/>
                    <a:pt x="3069697" y="381945"/>
                  </a:cubicBezTo>
                  <a:cubicBezTo>
                    <a:pt x="2923647" y="378135"/>
                    <a:pt x="2607417" y="317175"/>
                    <a:pt x="2410567" y="333685"/>
                  </a:cubicBezTo>
                  <a:cubicBezTo>
                    <a:pt x="2249277" y="346385"/>
                    <a:pt x="2082907" y="423855"/>
                    <a:pt x="1974957" y="437825"/>
                  </a:cubicBezTo>
                  <a:cubicBezTo>
                    <a:pt x="1912727" y="445445"/>
                    <a:pt x="1874627" y="442905"/>
                    <a:pt x="1825097" y="440365"/>
                  </a:cubicBezTo>
                  <a:cubicBezTo>
                    <a:pt x="1775567" y="437825"/>
                    <a:pt x="1746357" y="428935"/>
                    <a:pt x="1677777" y="423855"/>
                  </a:cubicBezTo>
                  <a:cubicBezTo>
                    <a:pt x="1513947" y="412425"/>
                    <a:pt x="1046587" y="407345"/>
                    <a:pt x="853547" y="407345"/>
                  </a:cubicBezTo>
                  <a:cubicBezTo>
                    <a:pt x="748137" y="407345"/>
                    <a:pt x="680827" y="404805"/>
                    <a:pt x="610977" y="409885"/>
                  </a:cubicBezTo>
                  <a:cubicBezTo>
                    <a:pt x="556367" y="413695"/>
                    <a:pt x="515727" y="434015"/>
                    <a:pt x="468737" y="430205"/>
                  </a:cubicBezTo>
                  <a:cubicBezTo>
                    <a:pt x="419207" y="425125"/>
                    <a:pt x="318877" y="384485"/>
                    <a:pt x="318877" y="381945"/>
                  </a:cubicBezTo>
                  <a:cubicBezTo>
                    <a:pt x="320147" y="376865"/>
                    <a:pt x="542397" y="439095"/>
                    <a:pt x="638917" y="449255"/>
                  </a:cubicBezTo>
                  <a:cubicBezTo>
                    <a:pt x="716387" y="458145"/>
                    <a:pt x="814177" y="442905"/>
                    <a:pt x="852277" y="450525"/>
                  </a:cubicBezTo>
                  <a:cubicBezTo>
                    <a:pt x="866247" y="453065"/>
                    <a:pt x="870057" y="455605"/>
                    <a:pt x="880217" y="463225"/>
                  </a:cubicBezTo>
                  <a:cubicBezTo>
                    <a:pt x="894187" y="472115"/>
                    <a:pt x="913237" y="486085"/>
                    <a:pt x="923397" y="505135"/>
                  </a:cubicBezTo>
                  <a:cubicBezTo>
                    <a:pt x="936097" y="526725"/>
                    <a:pt x="946257" y="564825"/>
                    <a:pt x="942447" y="592765"/>
                  </a:cubicBezTo>
                  <a:cubicBezTo>
                    <a:pt x="937367" y="620705"/>
                    <a:pt x="915777" y="652455"/>
                    <a:pt x="897997" y="670235"/>
                  </a:cubicBezTo>
                  <a:cubicBezTo>
                    <a:pt x="881487" y="685475"/>
                    <a:pt x="862437" y="693095"/>
                    <a:pt x="842117" y="696905"/>
                  </a:cubicBezTo>
                  <a:cubicBezTo>
                    <a:pt x="823067" y="700715"/>
                    <a:pt x="811637" y="698175"/>
                    <a:pt x="782427" y="694365"/>
                  </a:cubicBezTo>
                  <a:cubicBezTo>
                    <a:pt x="699877" y="681665"/>
                    <a:pt x="403967" y="569905"/>
                    <a:pt x="322687" y="567365"/>
                  </a:cubicBezTo>
                  <a:cubicBezTo>
                    <a:pt x="294747" y="566095"/>
                    <a:pt x="283317" y="580065"/>
                    <a:pt x="264267" y="578795"/>
                  </a:cubicBezTo>
                  <a:cubicBezTo>
                    <a:pt x="245217" y="578795"/>
                    <a:pt x="223627" y="572445"/>
                    <a:pt x="205847" y="562285"/>
                  </a:cubicBezTo>
                  <a:cubicBezTo>
                    <a:pt x="189337" y="552125"/>
                    <a:pt x="172827" y="536885"/>
                    <a:pt x="162667" y="520375"/>
                  </a:cubicBezTo>
                  <a:cubicBezTo>
                    <a:pt x="152507" y="503865"/>
                    <a:pt x="146157" y="483545"/>
                    <a:pt x="143617" y="463225"/>
                  </a:cubicBezTo>
                  <a:cubicBezTo>
                    <a:pt x="142347" y="444175"/>
                    <a:pt x="146157" y="422585"/>
                    <a:pt x="153777" y="404805"/>
                  </a:cubicBezTo>
                  <a:cubicBezTo>
                    <a:pt x="161397" y="387025"/>
                    <a:pt x="172827" y="370515"/>
                    <a:pt x="190607" y="356545"/>
                  </a:cubicBezTo>
                  <a:cubicBezTo>
                    <a:pt x="216007" y="336225"/>
                    <a:pt x="257917" y="315905"/>
                    <a:pt x="301097" y="304475"/>
                  </a:cubicBezTo>
                  <a:cubicBezTo>
                    <a:pt x="355707" y="291775"/>
                    <a:pt x="412857" y="285425"/>
                    <a:pt x="490327" y="290505"/>
                  </a:cubicBezTo>
                  <a:cubicBezTo>
                    <a:pt x="619867" y="299395"/>
                    <a:pt x="913237" y="359085"/>
                    <a:pt x="999597" y="402265"/>
                  </a:cubicBezTo>
                  <a:cubicBezTo>
                    <a:pt x="1033887" y="420045"/>
                    <a:pt x="1051667" y="434015"/>
                    <a:pt x="1064367" y="456875"/>
                  </a:cubicBezTo>
                  <a:cubicBezTo>
                    <a:pt x="1077067" y="479735"/>
                    <a:pt x="1079607" y="515295"/>
                    <a:pt x="1075797" y="539425"/>
                  </a:cubicBezTo>
                  <a:cubicBezTo>
                    <a:pt x="1073257" y="558475"/>
                    <a:pt x="1063097" y="576255"/>
                    <a:pt x="1050397" y="590225"/>
                  </a:cubicBezTo>
                  <a:cubicBezTo>
                    <a:pt x="1038967" y="604195"/>
                    <a:pt x="1028807" y="613085"/>
                    <a:pt x="1004677" y="623245"/>
                  </a:cubicBezTo>
                  <a:cubicBezTo>
                    <a:pt x="955147" y="644835"/>
                    <a:pt x="834497" y="646105"/>
                    <a:pt x="746867" y="671505"/>
                  </a:cubicBezTo>
                  <a:cubicBezTo>
                    <a:pt x="649077" y="698175"/>
                    <a:pt x="543667" y="733735"/>
                    <a:pt x="444607" y="785805"/>
                  </a:cubicBezTo>
                  <a:cubicBezTo>
                    <a:pt x="336657" y="842955"/>
                    <a:pt x="176637" y="992815"/>
                    <a:pt x="128377" y="1009325"/>
                  </a:cubicBezTo>
                  <a:cubicBezTo>
                    <a:pt x="116947" y="1014405"/>
                    <a:pt x="113137" y="1013135"/>
                    <a:pt x="102977" y="1011865"/>
                  </a:cubicBezTo>
                  <a:cubicBezTo>
                    <a:pt x="85197" y="1008055"/>
                    <a:pt x="49637" y="996625"/>
                    <a:pt x="31857" y="980115"/>
                  </a:cubicBezTo>
                  <a:cubicBezTo>
                    <a:pt x="15347" y="963605"/>
                    <a:pt x="2647" y="934395"/>
                    <a:pt x="107" y="910265"/>
                  </a:cubicBezTo>
                  <a:cubicBezTo>
                    <a:pt x="-1163" y="886135"/>
                    <a:pt x="8997" y="855655"/>
                    <a:pt x="22967" y="836605"/>
                  </a:cubicBezTo>
                  <a:cubicBezTo>
                    <a:pt x="38207" y="817555"/>
                    <a:pt x="49637" y="811205"/>
                    <a:pt x="89007" y="795965"/>
                  </a:cubicBezTo>
                  <a:cubicBezTo>
                    <a:pt x="290937" y="719765"/>
                    <a:pt x="1651107" y="503865"/>
                    <a:pt x="2082907" y="444175"/>
                  </a:cubicBezTo>
                  <a:cubicBezTo>
                    <a:pt x="2289917" y="414965"/>
                    <a:pt x="2468987" y="387025"/>
                    <a:pt x="2545187" y="398455"/>
                  </a:cubicBezTo>
                  <a:cubicBezTo>
                    <a:pt x="2571857" y="402265"/>
                    <a:pt x="2582017" y="408615"/>
                    <a:pt x="2595987" y="420045"/>
                  </a:cubicBezTo>
                  <a:cubicBezTo>
                    <a:pt x="2611227" y="430205"/>
                    <a:pt x="2623927" y="446715"/>
                    <a:pt x="2631547" y="461955"/>
                  </a:cubicBezTo>
                  <a:cubicBezTo>
                    <a:pt x="2639167" y="478465"/>
                    <a:pt x="2644247" y="497515"/>
                    <a:pt x="2642977" y="516565"/>
                  </a:cubicBezTo>
                  <a:cubicBezTo>
                    <a:pt x="2640437" y="539425"/>
                    <a:pt x="2626467" y="573715"/>
                    <a:pt x="2611227" y="592765"/>
                  </a:cubicBezTo>
                  <a:cubicBezTo>
                    <a:pt x="2598527" y="606735"/>
                    <a:pt x="2580747" y="615625"/>
                    <a:pt x="2565507" y="621975"/>
                  </a:cubicBezTo>
                  <a:cubicBezTo>
                    <a:pt x="2550267" y="627055"/>
                    <a:pt x="2538837" y="627055"/>
                    <a:pt x="2519787" y="628325"/>
                  </a:cubicBezTo>
                  <a:cubicBezTo>
                    <a:pt x="2488037" y="630865"/>
                    <a:pt x="2439777" y="633405"/>
                    <a:pt x="2392787" y="627055"/>
                  </a:cubicBezTo>
                  <a:cubicBezTo>
                    <a:pt x="2329287" y="618165"/>
                    <a:pt x="2265787" y="582605"/>
                    <a:pt x="2178157" y="571175"/>
                  </a:cubicBezTo>
                  <a:cubicBezTo>
                    <a:pt x="2040997" y="555935"/>
                    <a:pt x="1817477" y="582605"/>
                    <a:pt x="1646027" y="580065"/>
                  </a:cubicBezTo>
                  <a:cubicBezTo>
                    <a:pt x="1484737" y="578795"/>
                    <a:pt x="1329797" y="563555"/>
                    <a:pt x="1177397" y="559745"/>
                  </a:cubicBezTo>
                  <a:cubicBezTo>
                    <a:pt x="1032617" y="557205"/>
                    <a:pt x="837037" y="585145"/>
                    <a:pt x="755757" y="561015"/>
                  </a:cubicBezTo>
                  <a:cubicBezTo>
                    <a:pt x="718927" y="550855"/>
                    <a:pt x="698607" y="534345"/>
                    <a:pt x="682097" y="515295"/>
                  </a:cubicBezTo>
                  <a:cubicBezTo>
                    <a:pt x="668127" y="498785"/>
                    <a:pt x="661777" y="479735"/>
                    <a:pt x="659237" y="460685"/>
                  </a:cubicBezTo>
                  <a:cubicBezTo>
                    <a:pt x="655427" y="441635"/>
                    <a:pt x="655427" y="421315"/>
                    <a:pt x="663047" y="402265"/>
                  </a:cubicBezTo>
                  <a:cubicBezTo>
                    <a:pt x="673207" y="378135"/>
                    <a:pt x="692257" y="351465"/>
                    <a:pt x="718927" y="333685"/>
                  </a:cubicBezTo>
                  <a:cubicBezTo>
                    <a:pt x="754487" y="310825"/>
                    <a:pt x="800207" y="300665"/>
                    <a:pt x="873867" y="294315"/>
                  </a:cubicBezTo>
                  <a:cubicBezTo>
                    <a:pt x="1050397" y="282885"/>
                    <a:pt x="1505057" y="376865"/>
                    <a:pt x="1786997" y="393375"/>
                  </a:cubicBezTo>
                  <a:cubicBezTo>
                    <a:pt x="2028297" y="408615"/>
                    <a:pt x="2354687" y="367975"/>
                    <a:pt x="2461367" y="402265"/>
                  </a:cubicBezTo>
                  <a:cubicBezTo>
                    <a:pt x="2500737" y="414965"/>
                    <a:pt x="2517247" y="428935"/>
                    <a:pt x="2532487" y="451795"/>
                  </a:cubicBezTo>
                  <a:cubicBezTo>
                    <a:pt x="2547727" y="473385"/>
                    <a:pt x="2556617" y="507675"/>
                    <a:pt x="2552807" y="534345"/>
                  </a:cubicBezTo>
                  <a:cubicBezTo>
                    <a:pt x="2550267" y="561015"/>
                    <a:pt x="2533757" y="592765"/>
                    <a:pt x="2513437" y="610545"/>
                  </a:cubicBezTo>
                  <a:cubicBezTo>
                    <a:pt x="2493117" y="628325"/>
                    <a:pt x="2433427" y="641025"/>
                    <a:pt x="2433427" y="64102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011978" y="7116128"/>
            <a:ext cx="3164205" cy="780098"/>
            <a:chOff x="0" y="0"/>
            <a:chExt cx="4218940" cy="1040130"/>
          </a:xfrm>
        </p:grpSpPr>
        <p:sp>
          <p:nvSpPr>
            <p:cNvPr id="28" name="Freeform 28"/>
            <p:cNvSpPr/>
            <p:nvPr/>
          </p:nvSpPr>
          <p:spPr>
            <a:xfrm>
              <a:off x="47625" y="42787"/>
              <a:ext cx="4121338" cy="948469"/>
            </a:xfrm>
            <a:custGeom>
              <a:avLst/>
              <a:gdLst/>
              <a:ahLst/>
              <a:cxnLst/>
              <a:rect l="l" t="t" r="r" b="b"/>
              <a:pathLst>
                <a:path w="4121338" h="948469">
                  <a:moveTo>
                    <a:pt x="1561465" y="504583"/>
                  </a:moveTo>
                  <a:cubicBezTo>
                    <a:pt x="880745" y="470293"/>
                    <a:pt x="789305" y="452513"/>
                    <a:pt x="672465" y="444893"/>
                  </a:cubicBezTo>
                  <a:cubicBezTo>
                    <a:pt x="546735" y="436003"/>
                    <a:pt x="349885" y="463943"/>
                    <a:pt x="274955" y="434733"/>
                  </a:cubicBezTo>
                  <a:cubicBezTo>
                    <a:pt x="239395" y="420763"/>
                    <a:pt x="220345" y="399173"/>
                    <a:pt x="207645" y="375043"/>
                  </a:cubicBezTo>
                  <a:cubicBezTo>
                    <a:pt x="194945" y="349643"/>
                    <a:pt x="191135" y="312813"/>
                    <a:pt x="197485" y="286143"/>
                  </a:cubicBezTo>
                  <a:cubicBezTo>
                    <a:pt x="203835" y="258203"/>
                    <a:pt x="225425" y="227723"/>
                    <a:pt x="248285" y="211213"/>
                  </a:cubicBezTo>
                  <a:cubicBezTo>
                    <a:pt x="271145" y="195973"/>
                    <a:pt x="290195" y="193433"/>
                    <a:pt x="335915" y="190893"/>
                  </a:cubicBezTo>
                  <a:cubicBezTo>
                    <a:pt x="501015" y="178193"/>
                    <a:pt x="1128395" y="253123"/>
                    <a:pt x="1478915" y="295033"/>
                  </a:cubicBezTo>
                  <a:cubicBezTo>
                    <a:pt x="1779905" y="329323"/>
                    <a:pt x="2087245" y="375043"/>
                    <a:pt x="2315845" y="414413"/>
                  </a:cubicBezTo>
                  <a:cubicBezTo>
                    <a:pt x="2477135" y="441083"/>
                    <a:pt x="2610485" y="474103"/>
                    <a:pt x="2724785" y="493153"/>
                  </a:cubicBezTo>
                  <a:cubicBezTo>
                    <a:pt x="2806065" y="505853"/>
                    <a:pt x="2868295" y="514743"/>
                    <a:pt x="2936875" y="519823"/>
                  </a:cubicBezTo>
                  <a:cubicBezTo>
                    <a:pt x="2999105" y="524903"/>
                    <a:pt x="3075305" y="512203"/>
                    <a:pt x="3114675" y="523633"/>
                  </a:cubicBezTo>
                  <a:cubicBezTo>
                    <a:pt x="3137535" y="528713"/>
                    <a:pt x="3151505" y="536333"/>
                    <a:pt x="3164205" y="550303"/>
                  </a:cubicBezTo>
                  <a:cubicBezTo>
                    <a:pt x="3180715" y="568083"/>
                    <a:pt x="3199765" y="599833"/>
                    <a:pt x="3202305" y="625233"/>
                  </a:cubicBezTo>
                  <a:cubicBezTo>
                    <a:pt x="3204845" y="651903"/>
                    <a:pt x="3194685" y="686193"/>
                    <a:pt x="3179445" y="706513"/>
                  </a:cubicBezTo>
                  <a:cubicBezTo>
                    <a:pt x="3164205" y="728103"/>
                    <a:pt x="3141345" y="745883"/>
                    <a:pt x="3109595" y="752233"/>
                  </a:cubicBezTo>
                  <a:cubicBezTo>
                    <a:pt x="3060065" y="763663"/>
                    <a:pt x="2987675" y="731913"/>
                    <a:pt x="2905125" y="724293"/>
                  </a:cubicBezTo>
                  <a:cubicBezTo>
                    <a:pt x="2783205" y="712863"/>
                    <a:pt x="2638425" y="698893"/>
                    <a:pt x="2446655" y="700163"/>
                  </a:cubicBezTo>
                  <a:cubicBezTo>
                    <a:pt x="2126615" y="703973"/>
                    <a:pt x="1487805" y="766203"/>
                    <a:pt x="1160145" y="795413"/>
                  </a:cubicBezTo>
                  <a:cubicBezTo>
                    <a:pt x="958215" y="814463"/>
                    <a:pt x="837565" y="825893"/>
                    <a:pt x="671195" y="850023"/>
                  </a:cubicBezTo>
                  <a:cubicBezTo>
                    <a:pt x="493395" y="875423"/>
                    <a:pt x="221615" y="947813"/>
                    <a:pt x="122555" y="945273"/>
                  </a:cubicBezTo>
                  <a:cubicBezTo>
                    <a:pt x="86995" y="944003"/>
                    <a:pt x="69215" y="941463"/>
                    <a:pt x="48895" y="928763"/>
                  </a:cubicBezTo>
                  <a:cubicBezTo>
                    <a:pt x="29845" y="916063"/>
                    <a:pt x="12065" y="888123"/>
                    <a:pt x="4445" y="867803"/>
                  </a:cubicBezTo>
                  <a:cubicBezTo>
                    <a:pt x="-1905" y="851293"/>
                    <a:pt x="-635" y="833513"/>
                    <a:pt x="3175" y="817003"/>
                  </a:cubicBezTo>
                  <a:cubicBezTo>
                    <a:pt x="6985" y="800493"/>
                    <a:pt x="14605" y="783983"/>
                    <a:pt x="26035" y="771283"/>
                  </a:cubicBezTo>
                  <a:cubicBezTo>
                    <a:pt x="36195" y="758583"/>
                    <a:pt x="46355" y="749693"/>
                    <a:pt x="66675" y="740803"/>
                  </a:cubicBezTo>
                  <a:cubicBezTo>
                    <a:pt x="108585" y="724293"/>
                    <a:pt x="183515" y="733183"/>
                    <a:pt x="274955" y="717943"/>
                  </a:cubicBezTo>
                  <a:cubicBezTo>
                    <a:pt x="456565" y="684923"/>
                    <a:pt x="840105" y="589673"/>
                    <a:pt x="1078865" y="522363"/>
                  </a:cubicBezTo>
                  <a:cubicBezTo>
                    <a:pt x="1274445" y="467753"/>
                    <a:pt x="1454785" y="408063"/>
                    <a:pt x="1608455" y="352183"/>
                  </a:cubicBezTo>
                  <a:cubicBezTo>
                    <a:pt x="1730375" y="309003"/>
                    <a:pt x="1856105" y="245503"/>
                    <a:pt x="1933575" y="223913"/>
                  </a:cubicBezTo>
                  <a:cubicBezTo>
                    <a:pt x="1974215" y="211213"/>
                    <a:pt x="2000885" y="203593"/>
                    <a:pt x="2030095" y="206133"/>
                  </a:cubicBezTo>
                  <a:cubicBezTo>
                    <a:pt x="2056765" y="209943"/>
                    <a:pt x="2087245" y="221373"/>
                    <a:pt x="2105025" y="239153"/>
                  </a:cubicBezTo>
                  <a:cubicBezTo>
                    <a:pt x="2122805" y="256933"/>
                    <a:pt x="2138045" y="287413"/>
                    <a:pt x="2139315" y="312813"/>
                  </a:cubicBezTo>
                  <a:cubicBezTo>
                    <a:pt x="2140585" y="338213"/>
                    <a:pt x="2131695" y="371233"/>
                    <a:pt x="2116455" y="391553"/>
                  </a:cubicBezTo>
                  <a:cubicBezTo>
                    <a:pt x="2099945" y="411873"/>
                    <a:pt x="2075815" y="423303"/>
                    <a:pt x="2046605" y="434733"/>
                  </a:cubicBezTo>
                  <a:cubicBezTo>
                    <a:pt x="2003425" y="449973"/>
                    <a:pt x="1947545" y="443623"/>
                    <a:pt x="1876425" y="456323"/>
                  </a:cubicBezTo>
                  <a:cubicBezTo>
                    <a:pt x="1751965" y="476643"/>
                    <a:pt x="1555115" y="519823"/>
                    <a:pt x="1367155" y="561733"/>
                  </a:cubicBezTo>
                  <a:cubicBezTo>
                    <a:pt x="1130935" y="615073"/>
                    <a:pt x="785495" y="700163"/>
                    <a:pt x="572135" y="757313"/>
                  </a:cubicBezTo>
                  <a:cubicBezTo>
                    <a:pt x="428625" y="795413"/>
                    <a:pt x="296545" y="856373"/>
                    <a:pt x="212725" y="861453"/>
                  </a:cubicBezTo>
                  <a:cubicBezTo>
                    <a:pt x="168275" y="863993"/>
                    <a:pt x="136525" y="857643"/>
                    <a:pt x="109855" y="846213"/>
                  </a:cubicBezTo>
                  <a:cubicBezTo>
                    <a:pt x="92075" y="838593"/>
                    <a:pt x="78105" y="827163"/>
                    <a:pt x="67945" y="814463"/>
                  </a:cubicBezTo>
                  <a:cubicBezTo>
                    <a:pt x="56515" y="800493"/>
                    <a:pt x="47625" y="785253"/>
                    <a:pt x="45085" y="766203"/>
                  </a:cubicBezTo>
                  <a:cubicBezTo>
                    <a:pt x="41275" y="743343"/>
                    <a:pt x="45085" y="709053"/>
                    <a:pt x="57785" y="688733"/>
                  </a:cubicBezTo>
                  <a:cubicBezTo>
                    <a:pt x="70485" y="667143"/>
                    <a:pt x="98425" y="646823"/>
                    <a:pt x="118745" y="637933"/>
                  </a:cubicBezTo>
                  <a:cubicBezTo>
                    <a:pt x="136525" y="631583"/>
                    <a:pt x="147955" y="640473"/>
                    <a:pt x="172085" y="634123"/>
                  </a:cubicBezTo>
                  <a:cubicBezTo>
                    <a:pt x="233045" y="617613"/>
                    <a:pt x="389255" y="523633"/>
                    <a:pt x="484505" y="489343"/>
                  </a:cubicBezTo>
                  <a:cubicBezTo>
                    <a:pt x="558165" y="461403"/>
                    <a:pt x="620395" y="447433"/>
                    <a:pt x="686435" y="430923"/>
                  </a:cubicBezTo>
                  <a:cubicBezTo>
                    <a:pt x="749935" y="414413"/>
                    <a:pt x="798195" y="401713"/>
                    <a:pt x="874395" y="390283"/>
                  </a:cubicBezTo>
                  <a:cubicBezTo>
                    <a:pt x="989965" y="372503"/>
                    <a:pt x="1190625" y="353453"/>
                    <a:pt x="1313815" y="348373"/>
                  </a:cubicBezTo>
                  <a:cubicBezTo>
                    <a:pt x="1405255" y="345833"/>
                    <a:pt x="1462405" y="348373"/>
                    <a:pt x="1551305" y="353453"/>
                  </a:cubicBezTo>
                  <a:cubicBezTo>
                    <a:pt x="1665605" y="359803"/>
                    <a:pt x="1798955" y="372503"/>
                    <a:pt x="1942465" y="390283"/>
                  </a:cubicBezTo>
                  <a:cubicBezTo>
                    <a:pt x="2120265" y="413143"/>
                    <a:pt x="2392045" y="476643"/>
                    <a:pt x="2534285" y="482993"/>
                  </a:cubicBezTo>
                  <a:cubicBezTo>
                    <a:pt x="2613025" y="485533"/>
                    <a:pt x="2657475" y="479183"/>
                    <a:pt x="2719705" y="469023"/>
                  </a:cubicBezTo>
                  <a:cubicBezTo>
                    <a:pt x="2783205" y="458863"/>
                    <a:pt x="2845435" y="436003"/>
                    <a:pt x="2911475" y="423303"/>
                  </a:cubicBezTo>
                  <a:cubicBezTo>
                    <a:pt x="2983865" y="410603"/>
                    <a:pt x="3046095" y="409333"/>
                    <a:pt x="3134995" y="394093"/>
                  </a:cubicBezTo>
                  <a:cubicBezTo>
                    <a:pt x="3270885" y="372503"/>
                    <a:pt x="3561715" y="287413"/>
                    <a:pt x="3646805" y="296303"/>
                  </a:cubicBezTo>
                  <a:cubicBezTo>
                    <a:pt x="3674745" y="298843"/>
                    <a:pt x="3686175" y="306463"/>
                    <a:pt x="3702685" y="320433"/>
                  </a:cubicBezTo>
                  <a:cubicBezTo>
                    <a:pt x="3723005" y="338213"/>
                    <a:pt x="3745865" y="369963"/>
                    <a:pt x="3750945" y="397903"/>
                  </a:cubicBezTo>
                  <a:cubicBezTo>
                    <a:pt x="3757295" y="425843"/>
                    <a:pt x="3750945" y="463943"/>
                    <a:pt x="3736975" y="488073"/>
                  </a:cubicBezTo>
                  <a:cubicBezTo>
                    <a:pt x="3721735" y="513473"/>
                    <a:pt x="3701415" y="529983"/>
                    <a:pt x="3664585" y="546493"/>
                  </a:cubicBezTo>
                  <a:cubicBezTo>
                    <a:pt x="3594735" y="578243"/>
                    <a:pt x="3446145" y="594753"/>
                    <a:pt x="3317875" y="611263"/>
                  </a:cubicBezTo>
                  <a:cubicBezTo>
                    <a:pt x="3157855" y="631583"/>
                    <a:pt x="2978785" y="639203"/>
                    <a:pt x="2779395" y="648093"/>
                  </a:cubicBezTo>
                  <a:cubicBezTo>
                    <a:pt x="2531745" y="659523"/>
                    <a:pt x="2164715" y="677303"/>
                    <a:pt x="1945005" y="670953"/>
                  </a:cubicBezTo>
                  <a:cubicBezTo>
                    <a:pt x="1801495" y="667143"/>
                    <a:pt x="1682115" y="659523"/>
                    <a:pt x="1590675" y="643013"/>
                  </a:cubicBezTo>
                  <a:cubicBezTo>
                    <a:pt x="1529715" y="631583"/>
                    <a:pt x="1487805" y="618883"/>
                    <a:pt x="1443355" y="598563"/>
                  </a:cubicBezTo>
                  <a:cubicBezTo>
                    <a:pt x="1402715" y="579513"/>
                    <a:pt x="1348105" y="563003"/>
                    <a:pt x="1331595" y="524903"/>
                  </a:cubicBezTo>
                  <a:cubicBezTo>
                    <a:pt x="1310005" y="477913"/>
                    <a:pt x="1329055" y="369963"/>
                    <a:pt x="1360805" y="321703"/>
                  </a:cubicBezTo>
                  <a:cubicBezTo>
                    <a:pt x="1388745" y="277253"/>
                    <a:pt x="1440815" y="262013"/>
                    <a:pt x="1495425" y="234073"/>
                  </a:cubicBezTo>
                  <a:cubicBezTo>
                    <a:pt x="1574165" y="194703"/>
                    <a:pt x="1683385" y="148983"/>
                    <a:pt x="1793875" y="119773"/>
                  </a:cubicBezTo>
                  <a:cubicBezTo>
                    <a:pt x="1923415" y="85483"/>
                    <a:pt x="2080895" y="55003"/>
                    <a:pt x="2228215" y="55003"/>
                  </a:cubicBezTo>
                  <a:cubicBezTo>
                    <a:pt x="2380615" y="55003"/>
                    <a:pt x="2571115" y="112153"/>
                    <a:pt x="2690495" y="123583"/>
                  </a:cubicBezTo>
                  <a:cubicBezTo>
                    <a:pt x="2765425" y="131203"/>
                    <a:pt x="2820035" y="124853"/>
                    <a:pt x="2873375" y="132473"/>
                  </a:cubicBezTo>
                  <a:cubicBezTo>
                    <a:pt x="2914015" y="138823"/>
                    <a:pt x="2953385" y="146443"/>
                    <a:pt x="2982595" y="157873"/>
                  </a:cubicBezTo>
                  <a:cubicBezTo>
                    <a:pt x="3004185" y="168033"/>
                    <a:pt x="3021965" y="176923"/>
                    <a:pt x="3035935" y="192163"/>
                  </a:cubicBezTo>
                  <a:cubicBezTo>
                    <a:pt x="3049905" y="207403"/>
                    <a:pt x="3062605" y="227723"/>
                    <a:pt x="3067685" y="248043"/>
                  </a:cubicBezTo>
                  <a:cubicBezTo>
                    <a:pt x="3074035" y="268363"/>
                    <a:pt x="3075305" y="291223"/>
                    <a:pt x="3070225" y="311543"/>
                  </a:cubicBezTo>
                  <a:cubicBezTo>
                    <a:pt x="3066415" y="331863"/>
                    <a:pt x="3056255" y="353453"/>
                    <a:pt x="3043555" y="369963"/>
                  </a:cubicBezTo>
                  <a:cubicBezTo>
                    <a:pt x="3029585" y="385203"/>
                    <a:pt x="3013075" y="400443"/>
                    <a:pt x="2991485" y="408063"/>
                  </a:cubicBezTo>
                  <a:cubicBezTo>
                    <a:pt x="2966085" y="416953"/>
                    <a:pt x="2936875" y="406793"/>
                    <a:pt x="2897505" y="411873"/>
                  </a:cubicBezTo>
                  <a:cubicBezTo>
                    <a:pt x="2831465" y="420763"/>
                    <a:pt x="2732405" y="458863"/>
                    <a:pt x="2632075" y="475373"/>
                  </a:cubicBezTo>
                  <a:cubicBezTo>
                    <a:pt x="2506345" y="494423"/>
                    <a:pt x="2341245" y="503313"/>
                    <a:pt x="2202815" y="508393"/>
                  </a:cubicBezTo>
                  <a:cubicBezTo>
                    <a:pt x="2072005" y="512203"/>
                    <a:pt x="1899285" y="517283"/>
                    <a:pt x="1823085" y="502043"/>
                  </a:cubicBezTo>
                  <a:cubicBezTo>
                    <a:pt x="1790065" y="495693"/>
                    <a:pt x="1772285" y="490613"/>
                    <a:pt x="1753235" y="474103"/>
                  </a:cubicBezTo>
                  <a:cubicBezTo>
                    <a:pt x="1731645" y="456323"/>
                    <a:pt x="1712595" y="420763"/>
                    <a:pt x="1706245" y="395363"/>
                  </a:cubicBezTo>
                  <a:cubicBezTo>
                    <a:pt x="1701165" y="373773"/>
                    <a:pt x="1704975" y="352183"/>
                    <a:pt x="1711325" y="333133"/>
                  </a:cubicBezTo>
                  <a:cubicBezTo>
                    <a:pt x="1717675" y="314083"/>
                    <a:pt x="1730375" y="293763"/>
                    <a:pt x="1744345" y="279793"/>
                  </a:cubicBezTo>
                  <a:cubicBezTo>
                    <a:pt x="1759585" y="265823"/>
                    <a:pt x="1772285" y="256933"/>
                    <a:pt x="1797685" y="249313"/>
                  </a:cubicBezTo>
                  <a:cubicBezTo>
                    <a:pt x="1847215" y="235343"/>
                    <a:pt x="1933575" y="250583"/>
                    <a:pt x="2027555" y="241693"/>
                  </a:cubicBezTo>
                  <a:cubicBezTo>
                    <a:pt x="2177415" y="226453"/>
                    <a:pt x="2437765" y="162953"/>
                    <a:pt x="2610485" y="143903"/>
                  </a:cubicBezTo>
                  <a:cubicBezTo>
                    <a:pt x="2747645" y="127393"/>
                    <a:pt x="2879725" y="131203"/>
                    <a:pt x="2981325" y="121043"/>
                  </a:cubicBezTo>
                  <a:cubicBezTo>
                    <a:pt x="3051175" y="113423"/>
                    <a:pt x="3101975" y="108343"/>
                    <a:pt x="3159125" y="96913"/>
                  </a:cubicBezTo>
                  <a:cubicBezTo>
                    <a:pt x="3216275" y="85483"/>
                    <a:pt x="3258185" y="65163"/>
                    <a:pt x="3322955" y="51193"/>
                  </a:cubicBezTo>
                  <a:cubicBezTo>
                    <a:pt x="3414395" y="33413"/>
                    <a:pt x="3565525" y="11823"/>
                    <a:pt x="3662045" y="8013"/>
                  </a:cubicBezTo>
                  <a:cubicBezTo>
                    <a:pt x="3733165" y="4203"/>
                    <a:pt x="3818255" y="-11037"/>
                    <a:pt x="3848735" y="14363"/>
                  </a:cubicBezTo>
                  <a:cubicBezTo>
                    <a:pt x="3870325" y="32143"/>
                    <a:pt x="3851275" y="95643"/>
                    <a:pt x="3866515" y="101993"/>
                  </a:cubicBezTo>
                  <a:cubicBezTo>
                    <a:pt x="3880485" y="107073"/>
                    <a:pt x="3909695" y="56273"/>
                    <a:pt x="3936365" y="47383"/>
                  </a:cubicBezTo>
                  <a:cubicBezTo>
                    <a:pt x="3963035" y="37223"/>
                    <a:pt x="4001135" y="41033"/>
                    <a:pt x="4023995" y="46113"/>
                  </a:cubicBezTo>
                  <a:cubicBezTo>
                    <a:pt x="4040505" y="49923"/>
                    <a:pt x="4051935" y="55003"/>
                    <a:pt x="4064635" y="66433"/>
                  </a:cubicBezTo>
                  <a:cubicBezTo>
                    <a:pt x="4082415" y="81673"/>
                    <a:pt x="4107815" y="112153"/>
                    <a:pt x="4115435" y="138823"/>
                  </a:cubicBezTo>
                  <a:cubicBezTo>
                    <a:pt x="4123055" y="165493"/>
                    <a:pt x="4121785" y="201053"/>
                    <a:pt x="4111625" y="227723"/>
                  </a:cubicBezTo>
                  <a:cubicBezTo>
                    <a:pt x="4101465" y="253123"/>
                    <a:pt x="4073525" y="281063"/>
                    <a:pt x="4054475" y="295033"/>
                  </a:cubicBezTo>
                  <a:cubicBezTo>
                    <a:pt x="4041775" y="305193"/>
                    <a:pt x="4027805" y="309003"/>
                    <a:pt x="4013835" y="312813"/>
                  </a:cubicBezTo>
                  <a:cubicBezTo>
                    <a:pt x="3998595" y="315353"/>
                    <a:pt x="3985895" y="317893"/>
                    <a:pt x="3969385" y="315353"/>
                  </a:cubicBezTo>
                  <a:cubicBezTo>
                    <a:pt x="3945255" y="311543"/>
                    <a:pt x="3908425" y="298843"/>
                    <a:pt x="3888105" y="279793"/>
                  </a:cubicBezTo>
                  <a:cubicBezTo>
                    <a:pt x="3867785" y="260743"/>
                    <a:pt x="3850005" y="228993"/>
                    <a:pt x="3846195" y="202323"/>
                  </a:cubicBezTo>
                  <a:cubicBezTo>
                    <a:pt x="3841115" y="174383"/>
                    <a:pt x="3850005" y="136283"/>
                    <a:pt x="3858895" y="114693"/>
                  </a:cubicBezTo>
                  <a:cubicBezTo>
                    <a:pt x="3865245" y="98183"/>
                    <a:pt x="3872865" y="89293"/>
                    <a:pt x="3885565" y="77863"/>
                  </a:cubicBezTo>
                  <a:cubicBezTo>
                    <a:pt x="3903345" y="62623"/>
                    <a:pt x="3941445" y="44843"/>
                    <a:pt x="3965575" y="39763"/>
                  </a:cubicBezTo>
                  <a:cubicBezTo>
                    <a:pt x="3982085" y="37223"/>
                    <a:pt x="3993515" y="37223"/>
                    <a:pt x="4010025" y="42303"/>
                  </a:cubicBezTo>
                  <a:cubicBezTo>
                    <a:pt x="4032885" y="48653"/>
                    <a:pt x="4068445" y="65163"/>
                    <a:pt x="4086225" y="86753"/>
                  </a:cubicBezTo>
                  <a:cubicBezTo>
                    <a:pt x="4105275" y="108343"/>
                    <a:pt x="4116705" y="145173"/>
                    <a:pt x="4120515" y="168033"/>
                  </a:cubicBezTo>
                  <a:cubicBezTo>
                    <a:pt x="4123055" y="185813"/>
                    <a:pt x="4119245" y="198513"/>
                    <a:pt x="4115435" y="212483"/>
                  </a:cubicBezTo>
                  <a:cubicBezTo>
                    <a:pt x="4111625" y="227723"/>
                    <a:pt x="4111625" y="241693"/>
                    <a:pt x="4097655" y="254393"/>
                  </a:cubicBezTo>
                  <a:cubicBezTo>
                    <a:pt x="4069715" y="278523"/>
                    <a:pt x="3975735" y="303923"/>
                    <a:pt x="3919855" y="306463"/>
                  </a:cubicBezTo>
                  <a:cubicBezTo>
                    <a:pt x="3870325" y="307733"/>
                    <a:pt x="3833495" y="279793"/>
                    <a:pt x="3777615" y="275983"/>
                  </a:cubicBezTo>
                  <a:cubicBezTo>
                    <a:pt x="3697605" y="269633"/>
                    <a:pt x="3588385" y="277253"/>
                    <a:pt x="3481705" y="291223"/>
                  </a:cubicBezTo>
                  <a:cubicBezTo>
                    <a:pt x="3358515" y="307733"/>
                    <a:pt x="3207385" y="359803"/>
                    <a:pt x="3079115" y="375043"/>
                  </a:cubicBezTo>
                  <a:cubicBezTo>
                    <a:pt x="2966085" y="389013"/>
                    <a:pt x="2853055" y="381393"/>
                    <a:pt x="2756535" y="389013"/>
                  </a:cubicBezTo>
                  <a:cubicBezTo>
                    <a:pt x="2677795" y="395363"/>
                    <a:pt x="2628265" y="402983"/>
                    <a:pt x="2540635" y="415683"/>
                  </a:cubicBezTo>
                  <a:cubicBezTo>
                    <a:pt x="2406015" y="434733"/>
                    <a:pt x="2163445" y="491883"/>
                    <a:pt x="2027555" y="503313"/>
                  </a:cubicBezTo>
                  <a:cubicBezTo>
                    <a:pt x="1939925" y="509663"/>
                    <a:pt x="1857375" y="512203"/>
                    <a:pt x="1809115" y="500773"/>
                  </a:cubicBezTo>
                  <a:cubicBezTo>
                    <a:pt x="1783715" y="494423"/>
                    <a:pt x="1768475" y="489343"/>
                    <a:pt x="1753235" y="474103"/>
                  </a:cubicBezTo>
                  <a:cubicBezTo>
                    <a:pt x="1732915" y="456323"/>
                    <a:pt x="1711325" y="423303"/>
                    <a:pt x="1706245" y="395363"/>
                  </a:cubicBezTo>
                  <a:cubicBezTo>
                    <a:pt x="1702435" y="366153"/>
                    <a:pt x="1710055" y="329323"/>
                    <a:pt x="1725295" y="305193"/>
                  </a:cubicBezTo>
                  <a:cubicBezTo>
                    <a:pt x="1740535" y="279793"/>
                    <a:pt x="1760855" y="260743"/>
                    <a:pt x="1797685" y="249313"/>
                  </a:cubicBezTo>
                  <a:cubicBezTo>
                    <a:pt x="1875155" y="223913"/>
                    <a:pt x="2059305" y="260743"/>
                    <a:pt x="2191385" y="256933"/>
                  </a:cubicBezTo>
                  <a:cubicBezTo>
                    <a:pt x="2326005" y="253123"/>
                    <a:pt x="2463165" y="240423"/>
                    <a:pt x="2596515" y="223913"/>
                  </a:cubicBezTo>
                  <a:cubicBezTo>
                    <a:pt x="2727325" y="207403"/>
                    <a:pt x="2912745" y="143903"/>
                    <a:pt x="2982595" y="157873"/>
                  </a:cubicBezTo>
                  <a:cubicBezTo>
                    <a:pt x="3009265" y="164223"/>
                    <a:pt x="3021965" y="175653"/>
                    <a:pt x="3035935" y="192163"/>
                  </a:cubicBezTo>
                  <a:cubicBezTo>
                    <a:pt x="3053715" y="213753"/>
                    <a:pt x="3071495" y="250583"/>
                    <a:pt x="3072765" y="279793"/>
                  </a:cubicBezTo>
                  <a:cubicBezTo>
                    <a:pt x="3074035" y="309003"/>
                    <a:pt x="3061335" y="347103"/>
                    <a:pt x="3043555" y="369963"/>
                  </a:cubicBezTo>
                  <a:cubicBezTo>
                    <a:pt x="3024505" y="392823"/>
                    <a:pt x="2999105" y="409333"/>
                    <a:pt x="2961005" y="416953"/>
                  </a:cubicBezTo>
                  <a:cubicBezTo>
                    <a:pt x="2892425" y="430923"/>
                    <a:pt x="2755265" y="395363"/>
                    <a:pt x="2651125" y="378853"/>
                  </a:cubicBezTo>
                  <a:cubicBezTo>
                    <a:pt x="2545715" y="362343"/>
                    <a:pt x="2425065" y="328053"/>
                    <a:pt x="2332355" y="315353"/>
                  </a:cubicBezTo>
                  <a:cubicBezTo>
                    <a:pt x="2262505" y="306463"/>
                    <a:pt x="2214245" y="298843"/>
                    <a:pt x="2145665" y="302653"/>
                  </a:cubicBezTo>
                  <a:cubicBezTo>
                    <a:pt x="2061845" y="307733"/>
                    <a:pt x="1942465" y="338213"/>
                    <a:pt x="1870075" y="357263"/>
                  </a:cubicBezTo>
                  <a:cubicBezTo>
                    <a:pt x="1820545" y="369963"/>
                    <a:pt x="1793875" y="377583"/>
                    <a:pt x="1749425" y="395363"/>
                  </a:cubicBezTo>
                  <a:cubicBezTo>
                    <a:pt x="1687195" y="420763"/>
                    <a:pt x="1581785" y="514743"/>
                    <a:pt x="1538605" y="496963"/>
                  </a:cubicBezTo>
                  <a:cubicBezTo>
                    <a:pt x="1505585" y="484263"/>
                    <a:pt x="1475105" y="372503"/>
                    <a:pt x="1490345" y="358533"/>
                  </a:cubicBezTo>
                  <a:cubicBezTo>
                    <a:pt x="1504315" y="345833"/>
                    <a:pt x="1574165" y="397903"/>
                    <a:pt x="1617345" y="410603"/>
                  </a:cubicBezTo>
                  <a:cubicBezTo>
                    <a:pt x="1661795" y="424573"/>
                    <a:pt x="1697355" y="430923"/>
                    <a:pt x="1753235" y="437273"/>
                  </a:cubicBezTo>
                  <a:cubicBezTo>
                    <a:pt x="1842135" y="448703"/>
                    <a:pt x="1966595" y="456323"/>
                    <a:pt x="2099945" y="456323"/>
                  </a:cubicBezTo>
                  <a:cubicBezTo>
                    <a:pt x="2285365" y="456323"/>
                    <a:pt x="2554605" y="437273"/>
                    <a:pt x="2761615" y="422033"/>
                  </a:cubicBezTo>
                  <a:cubicBezTo>
                    <a:pt x="2944495" y="409333"/>
                    <a:pt x="3123565" y="397903"/>
                    <a:pt x="3281045" y="373773"/>
                  </a:cubicBezTo>
                  <a:cubicBezTo>
                    <a:pt x="3414395" y="353453"/>
                    <a:pt x="3570605" y="283603"/>
                    <a:pt x="3646805" y="296303"/>
                  </a:cubicBezTo>
                  <a:cubicBezTo>
                    <a:pt x="3683635" y="302653"/>
                    <a:pt x="3707765" y="322973"/>
                    <a:pt x="3725545" y="342023"/>
                  </a:cubicBezTo>
                  <a:cubicBezTo>
                    <a:pt x="3739515" y="358533"/>
                    <a:pt x="3748405" y="377583"/>
                    <a:pt x="3750945" y="397903"/>
                  </a:cubicBezTo>
                  <a:cubicBezTo>
                    <a:pt x="3754755" y="424573"/>
                    <a:pt x="3748405" y="465213"/>
                    <a:pt x="3736975" y="488073"/>
                  </a:cubicBezTo>
                  <a:cubicBezTo>
                    <a:pt x="3726815" y="508393"/>
                    <a:pt x="3719195" y="518553"/>
                    <a:pt x="3693795" y="532523"/>
                  </a:cubicBezTo>
                  <a:cubicBezTo>
                    <a:pt x="3618865" y="574433"/>
                    <a:pt x="3357245" y="608723"/>
                    <a:pt x="3184525" y="639203"/>
                  </a:cubicBezTo>
                  <a:cubicBezTo>
                    <a:pt x="3007995" y="670953"/>
                    <a:pt x="2800985" y="714133"/>
                    <a:pt x="2646045" y="717943"/>
                  </a:cubicBezTo>
                  <a:cubicBezTo>
                    <a:pt x="2529205" y="721753"/>
                    <a:pt x="2464435" y="705243"/>
                    <a:pt x="2337435" y="690003"/>
                  </a:cubicBezTo>
                  <a:cubicBezTo>
                    <a:pt x="2134235" y="664603"/>
                    <a:pt x="1771015" y="580783"/>
                    <a:pt x="1548765" y="565543"/>
                  </a:cubicBezTo>
                  <a:cubicBezTo>
                    <a:pt x="1387475" y="555383"/>
                    <a:pt x="1265555" y="563003"/>
                    <a:pt x="1129665" y="575703"/>
                  </a:cubicBezTo>
                  <a:cubicBezTo>
                    <a:pt x="998855" y="588403"/>
                    <a:pt x="882015" y="608723"/>
                    <a:pt x="747395" y="640473"/>
                  </a:cubicBezTo>
                  <a:cubicBezTo>
                    <a:pt x="593725" y="676033"/>
                    <a:pt x="366395" y="742073"/>
                    <a:pt x="259715" y="786523"/>
                  </a:cubicBezTo>
                  <a:cubicBezTo>
                    <a:pt x="203835" y="810653"/>
                    <a:pt x="168275" y="852563"/>
                    <a:pt x="136525" y="853833"/>
                  </a:cubicBezTo>
                  <a:cubicBezTo>
                    <a:pt x="116205" y="855103"/>
                    <a:pt x="100965" y="843673"/>
                    <a:pt x="86995" y="833513"/>
                  </a:cubicBezTo>
                  <a:cubicBezTo>
                    <a:pt x="73025" y="822083"/>
                    <a:pt x="60325" y="806843"/>
                    <a:pt x="53975" y="791603"/>
                  </a:cubicBezTo>
                  <a:cubicBezTo>
                    <a:pt x="46355" y="776363"/>
                    <a:pt x="42545" y="757313"/>
                    <a:pt x="42545" y="739533"/>
                  </a:cubicBezTo>
                  <a:cubicBezTo>
                    <a:pt x="43815" y="721753"/>
                    <a:pt x="47625" y="703973"/>
                    <a:pt x="57785" y="688733"/>
                  </a:cubicBezTo>
                  <a:cubicBezTo>
                    <a:pt x="70485" y="669683"/>
                    <a:pt x="98425" y="646823"/>
                    <a:pt x="118745" y="637933"/>
                  </a:cubicBezTo>
                  <a:cubicBezTo>
                    <a:pt x="136525" y="631583"/>
                    <a:pt x="165735" y="629043"/>
                    <a:pt x="172085" y="634123"/>
                  </a:cubicBezTo>
                  <a:cubicBezTo>
                    <a:pt x="174625" y="636663"/>
                    <a:pt x="169545" y="644283"/>
                    <a:pt x="173355" y="646823"/>
                  </a:cubicBezTo>
                  <a:cubicBezTo>
                    <a:pt x="184785" y="655713"/>
                    <a:pt x="249555" y="634123"/>
                    <a:pt x="320675" y="617613"/>
                  </a:cubicBezTo>
                  <a:cubicBezTo>
                    <a:pt x="504825" y="574433"/>
                    <a:pt x="1039495" y="416953"/>
                    <a:pt x="1320165" y="347103"/>
                  </a:cubicBezTo>
                  <a:cubicBezTo>
                    <a:pt x="1522095" y="296303"/>
                    <a:pt x="1712595" y="249313"/>
                    <a:pt x="1843405" y="227723"/>
                  </a:cubicBezTo>
                  <a:cubicBezTo>
                    <a:pt x="1920875" y="213753"/>
                    <a:pt x="1983105" y="199783"/>
                    <a:pt x="2030095" y="206133"/>
                  </a:cubicBezTo>
                  <a:cubicBezTo>
                    <a:pt x="2061845" y="211213"/>
                    <a:pt x="2087245" y="223913"/>
                    <a:pt x="2105025" y="239153"/>
                  </a:cubicBezTo>
                  <a:cubicBezTo>
                    <a:pt x="2118995" y="251853"/>
                    <a:pt x="2129155" y="267093"/>
                    <a:pt x="2134235" y="286143"/>
                  </a:cubicBezTo>
                  <a:cubicBezTo>
                    <a:pt x="2139315" y="309003"/>
                    <a:pt x="2140585" y="344563"/>
                    <a:pt x="2130425" y="367423"/>
                  </a:cubicBezTo>
                  <a:cubicBezTo>
                    <a:pt x="2120265" y="390283"/>
                    <a:pt x="2107565" y="404253"/>
                    <a:pt x="2073275" y="425843"/>
                  </a:cubicBezTo>
                  <a:cubicBezTo>
                    <a:pt x="1951355" y="500773"/>
                    <a:pt x="1433195" y="634123"/>
                    <a:pt x="1125855" y="720483"/>
                  </a:cubicBezTo>
                  <a:cubicBezTo>
                    <a:pt x="841375" y="800493"/>
                    <a:pt x="475615" y="903363"/>
                    <a:pt x="294005" y="932573"/>
                  </a:cubicBezTo>
                  <a:cubicBezTo>
                    <a:pt x="206375" y="946543"/>
                    <a:pt x="140335" y="951623"/>
                    <a:pt x="97155" y="946543"/>
                  </a:cubicBezTo>
                  <a:cubicBezTo>
                    <a:pt x="75565" y="942733"/>
                    <a:pt x="62865" y="937653"/>
                    <a:pt x="48895" y="928763"/>
                  </a:cubicBezTo>
                  <a:cubicBezTo>
                    <a:pt x="34925" y="919873"/>
                    <a:pt x="22225" y="908443"/>
                    <a:pt x="14605" y="891933"/>
                  </a:cubicBezTo>
                  <a:cubicBezTo>
                    <a:pt x="4445" y="872883"/>
                    <a:pt x="-635" y="838593"/>
                    <a:pt x="3175" y="817003"/>
                  </a:cubicBezTo>
                  <a:cubicBezTo>
                    <a:pt x="5715" y="799223"/>
                    <a:pt x="13335" y="783983"/>
                    <a:pt x="26035" y="771283"/>
                  </a:cubicBezTo>
                  <a:cubicBezTo>
                    <a:pt x="40005" y="756043"/>
                    <a:pt x="53975" y="747153"/>
                    <a:pt x="92075" y="734453"/>
                  </a:cubicBezTo>
                  <a:cubicBezTo>
                    <a:pt x="230505" y="687463"/>
                    <a:pt x="771525" y="630313"/>
                    <a:pt x="1142365" y="588403"/>
                  </a:cubicBezTo>
                  <a:cubicBezTo>
                    <a:pt x="1555115" y="541413"/>
                    <a:pt x="2124075" y="485533"/>
                    <a:pt x="2455545" y="476643"/>
                  </a:cubicBezTo>
                  <a:cubicBezTo>
                    <a:pt x="2657475" y="470293"/>
                    <a:pt x="2817495" y="474103"/>
                    <a:pt x="2943225" y="489343"/>
                  </a:cubicBezTo>
                  <a:cubicBezTo>
                    <a:pt x="3024505" y="499503"/>
                    <a:pt x="3101975" y="512203"/>
                    <a:pt x="3141345" y="533793"/>
                  </a:cubicBezTo>
                  <a:cubicBezTo>
                    <a:pt x="3162935" y="545223"/>
                    <a:pt x="3173095" y="555383"/>
                    <a:pt x="3183255" y="571893"/>
                  </a:cubicBezTo>
                  <a:cubicBezTo>
                    <a:pt x="3194685" y="593483"/>
                    <a:pt x="3203575" y="630313"/>
                    <a:pt x="3201035" y="654443"/>
                  </a:cubicBezTo>
                  <a:cubicBezTo>
                    <a:pt x="3199765" y="673493"/>
                    <a:pt x="3192145" y="691273"/>
                    <a:pt x="3179445" y="706513"/>
                  </a:cubicBezTo>
                  <a:cubicBezTo>
                    <a:pt x="3164205" y="725563"/>
                    <a:pt x="3138805" y="744613"/>
                    <a:pt x="3109595" y="752233"/>
                  </a:cubicBezTo>
                  <a:cubicBezTo>
                    <a:pt x="3070225" y="763663"/>
                    <a:pt x="3027045" y="757313"/>
                    <a:pt x="2959735" y="750963"/>
                  </a:cubicBezTo>
                  <a:cubicBezTo>
                    <a:pt x="2816225" y="735723"/>
                    <a:pt x="2525395" y="664603"/>
                    <a:pt x="2289175" y="626503"/>
                  </a:cubicBezTo>
                  <a:cubicBezTo>
                    <a:pt x="2027555" y="583323"/>
                    <a:pt x="1762125" y="538873"/>
                    <a:pt x="1459865" y="508393"/>
                  </a:cubicBezTo>
                  <a:cubicBezTo>
                    <a:pt x="1101725" y="471563"/>
                    <a:pt x="423545" y="496963"/>
                    <a:pt x="274955" y="434733"/>
                  </a:cubicBezTo>
                  <a:cubicBezTo>
                    <a:pt x="234315" y="418223"/>
                    <a:pt x="220345" y="399173"/>
                    <a:pt x="207645" y="375043"/>
                  </a:cubicBezTo>
                  <a:cubicBezTo>
                    <a:pt x="194945" y="349643"/>
                    <a:pt x="192405" y="311543"/>
                    <a:pt x="197485" y="286143"/>
                  </a:cubicBezTo>
                  <a:cubicBezTo>
                    <a:pt x="201295" y="264553"/>
                    <a:pt x="210185" y="246773"/>
                    <a:pt x="225425" y="231533"/>
                  </a:cubicBezTo>
                  <a:cubicBezTo>
                    <a:pt x="244475" y="213753"/>
                    <a:pt x="262255" y="199783"/>
                    <a:pt x="305435" y="190893"/>
                  </a:cubicBezTo>
                  <a:cubicBezTo>
                    <a:pt x="452755" y="159143"/>
                    <a:pt x="1109345" y="254393"/>
                    <a:pt x="1337945" y="260743"/>
                  </a:cubicBezTo>
                  <a:cubicBezTo>
                    <a:pt x="1450975" y="264553"/>
                    <a:pt x="1534795" y="241693"/>
                    <a:pt x="1591945" y="259473"/>
                  </a:cubicBezTo>
                  <a:cubicBezTo>
                    <a:pt x="1624965" y="269633"/>
                    <a:pt x="1649095" y="286143"/>
                    <a:pt x="1664335" y="309003"/>
                  </a:cubicBezTo>
                  <a:cubicBezTo>
                    <a:pt x="1679575" y="331863"/>
                    <a:pt x="1688465" y="367423"/>
                    <a:pt x="1685925" y="395363"/>
                  </a:cubicBezTo>
                  <a:cubicBezTo>
                    <a:pt x="1682115" y="422033"/>
                    <a:pt x="1665605" y="455053"/>
                    <a:pt x="1644015" y="472833"/>
                  </a:cubicBezTo>
                  <a:cubicBezTo>
                    <a:pt x="1623695" y="491883"/>
                    <a:pt x="1561465" y="504583"/>
                    <a:pt x="1561465" y="5045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374446" y="8752521"/>
            <a:ext cx="1613642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SCD TYPE 2 &amp; TYPE 6 (StartDate, EndDate, IsCurrent) để theo dõi lịch sử nâng hạng VIPLevel của người chơi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30175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Bảng Chiều (Dimension)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Khóa Thay Thế (SK)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Khóa Nghiệp Vụ (AK)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Cơ Chế SCD Áp Dụng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PlayerAltKey (PlayerID)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2 (HistoricalVIP) + Type 6 (CurrentVIP)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DimPlayerProfile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ProfileKey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VIPLevelBand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4 (Mini-Dimension) &amp; Type 5 (Outrigger)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PublisherAltKey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1 + Bảng bao đóng DimPublisherClosure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TimeKey (YYYYMMDD)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Date (Alternate 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Type 1 (Calendar &amp; Fiscal Alternative Hierarchies)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DIM_PLAYER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33631" y="2407725"/>
            <a:ext cx="6324517" cy="6257325"/>
          </a:xfrm>
          <a:custGeom>
            <a:avLst/>
            <a:gdLst/>
            <a:ahLst/>
            <a:cxnLst/>
            <a:rect l="l" t="t" r="r" b="b"/>
            <a:pathLst>
              <a:path w="6324517" h="6257325">
                <a:moveTo>
                  <a:pt x="0" y="0"/>
                </a:moveTo>
                <a:lnTo>
                  <a:pt x="6324518" y="0"/>
                </a:lnTo>
                <a:lnTo>
                  <a:pt x="6324518" y="6257324"/>
                </a:lnTo>
                <a:lnTo>
                  <a:pt x="0" y="6257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53897" y="2407725"/>
            <a:ext cx="6819367" cy="6231196"/>
          </a:xfrm>
          <a:custGeom>
            <a:avLst/>
            <a:gdLst/>
            <a:ahLst/>
            <a:cxnLst/>
            <a:rect l="l" t="t" r="r" b="b"/>
            <a:pathLst>
              <a:path w="6819367" h="6231196">
                <a:moveTo>
                  <a:pt x="0" y="0"/>
                </a:moveTo>
                <a:lnTo>
                  <a:pt x="6819367" y="0"/>
                </a:lnTo>
                <a:lnTo>
                  <a:pt x="6819367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DIM_GAME &amp; ITEM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6" name="Freeform 16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8" name="Freeform 18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20" name="Freeform 20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22" name="Freeform 22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50780" y="7147560"/>
            <a:ext cx="1983105" cy="782002"/>
            <a:chOff x="0" y="0"/>
            <a:chExt cx="2644140" cy="1042670"/>
          </a:xfrm>
        </p:grpSpPr>
        <p:sp>
          <p:nvSpPr>
            <p:cNvPr id="24" name="Freeform 24"/>
            <p:cNvSpPr/>
            <p:nvPr/>
          </p:nvSpPr>
          <p:spPr>
            <a:xfrm>
              <a:off x="50800" y="46465"/>
              <a:ext cx="2542920" cy="944661"/>
            </a:xfrm>
            <a:custGeom>
              <a:avLst/>
              <a:gdLst/>
              <a:ahLst/>
              <a:cxnLst/>
              <a:rect l="l" t="t" r="r" b="b"/>
              <a:pathLst>
                <a:path w="2542920" h="944661">
                  <a:moveTo>
                    <a:pt x="0" y="566945"/>
                  </a:moveTo>
                  <a:cubicBezTo>
                    <a:pt x="1270" y="391685"/>
                    <a:pt x="0" y="342155"/>
                    <a:pt x="6350" y="306595"/>
                  </a:cubicBezTo>
                  <a:cubicBezTo>
                    <a:pt x="11430" y="281195"/>
                    <a:pt x="26670" y="251985"/>
                    <a:pt x="26670" y="244365"/>
                  </a:cubicBezTo>
                  <a:cubicBezTo>
                    <a:pt x="26670" y="243095"/>
                    <a:pt x="25400" y="243095"/>
                    <a:pt x="25400" y="241825"/>
                  </a:cubicBezTo>
                  <a:cubicBezTo>
                    <a:pt x="25400" y="226585"/>
                    <a:pt x="33020" y="66565"/>
                    <a:pt x="73660" y="29735"/>
                  </a:cubicBezTo>
                  <a:cubicBezTo>
                    <a:pt x="107950" y="-745"/>
                    <a:pt x="194310" y="-2015"/>
                    <a:pt x="231140" y="10685"/>
                  </a:cubicBezTo>
                  <a:cubicBezTo>
                    <a:pt x="255270" y="18305"/>
                    <a:pt x="261620" y="52595"/>
                    <a:pt x="281940" y="58945"/>
                  </a:cubicBezTo>
                  <a:cubicBezTo>
                    <a:pt x="302260" y="66565"/>
                    <a:pt x="326390" y="52595"/>
                    <a:pt x="355600" y="50055"/>
                  </a:cubicBezTo>
                  <a:cubicBezTo>
                    <a:pt x="394970" y="47515"/>
                    <a:pt x="448310" y="48785"/>
                    <a:pt x="497840" y="46245"/>
                  </a:cubicBezTo>
                  <a:cubicBezTo>
                    <a:pt x="547370" y="43705"/>
                    <a:pt x="601980" y="37355"/>
                    <a:pt x="652780" y="33545"/>
                  </a:cubicBezTo>
                  <a:cubicBezTo>
                    <a:pt x="701040" y="29735"/>
                    <a:pt x="746760" y="23385"/>
                    <a:pt x="793750" y="23385"/>
                  </a:cubicBezTo>
                  <a:cubicBezTo>
                    <a:pt x="839470" y="23385"/>
                    <a:pt x="885190" y="27195"/>
                    <a:pt x="930910" y="36085"/>
                  </a:cubicBezTo>
                  <a:cubicBezTo>
                    <a:pt x="979170" y="46245"/>
                    <a:pt x="1075690" y="81805"/>
                    <a:pt x="1075690" y="81805"/>
                  </a:cubicBezTo>
                  <a:cubicBezTo>
                    <a:pt x="1075690" y="81805"/>
                    <a:pt x="1088390" y="83075"/>
                    <a:pt x="1093470" y="84345"/>
                  </a:cubicBezTo>
                  <a:cubicBezTo>
                    <a:pt x="1099820" y="84345"/>
                    <a:pt x="1111250" y="85615"/>
                    <a:pt x="1111250" y="85615"/>
                  </a:cubicBezTo>
                  <a:cubicBezTo>
                    <a:pt x="1112520" y="85615"/>
                    <a:pt x="1122680" y="90695"/>
                    <a:pt x="1129030" y="91965"/>
                  </a:cubicBezTo>
                  <a:cubicBezTo>
                    <a:pt x="1134110" y="94505"/>
                    <a:pt x="1145540" y="98315"/>
                    <a:pt x="1145540" y="98315"/>
                  </a:cubicBezTo>
                  <a:cubicBezTo>
                    <a:pt x="1145540" y="98315"/>
                    <a:pt x="1155700" y="105935"/>
                    <a:pt x="1160780" y="108475"/>
                  </a:cubicBezTo>
                  <a:cubicBezTo>
                    <a:pt x="1165860" y="112285"/>
                    <a:pt x="1174750" y="118635"/>
                    <a:pt x="1174750" y="118635"/>
                  </a:cubicBezTo>
                  <a:cubicBezTo>
                    <a:pt x="1176020" y="119905"/>
                    <a:pt x="1183640" y="128795"/>
                    <a:pt x="1187450" y="132605"/>
                  </a:cubicBezTo>
                  <a:cubicBezTo>
                    <a:pt x="1191260" y="137685"/>
                    <a:pt x="1198880" y="146575"/>
                    <a:pt x="1198880" y="146575"/>
                  </a:cubicBezTo>
                  <a:cubicBezTo>
                    <a:pt x="1198880" y="146575"/>
                    <a:pt x="1200150" y="147845"/>
                    <a:pt x="1200150" y="149115"/>
                  </a:cubicBezTo>
                  <a:cubicBezTo>
                    <a:pt x="1202690" y="150385"/>
                    <a:pt x="1206500" y="147845"/>
                    <a:pt x="1214120" y="147845"/>
                  </a:cubicBezTo>
                  <a:cubicBezTo>
                    <a:pt x="1243330" y="142765"/>
                    <a:pt x="1372870" y="123715"/>
                    <a:pt x="1451610" y="111015"/>
                  </a:cubicBezTo>
                  <a:cubicBezTo>
                    <a:pt x="1529080" y="97045"/>
                    <a:pt x="1612900" y="80535"/>
                    <a:pt x="1682750" y="66565"/>
                  </a:cubicBezTo>
                  <a:cubicBezTo>
                    <a:pt x="1739900" y="55135"/>
                    <a:pt x="1786890" y="42435"/>
                    <a:pt x="1841500" y="33545"/>
                  </a:cubicBezTo>
                  <a:cubicBezTo>
                    <a:pt x="1899920" y="24655"/>
                    <a:pt x="1967230" y="17035"/>
                    <a:pt x="2025650" y="11955"/>
                  </a:cubicBezTo>
                  <a:cubicBezTo>
                    <a:pt x="2078990" y="8145"/>
                    <a:pt x="2124710" y="4335"/>
                    <a:pt x="2180590" y="4335"/>
                  </a:cubicBezTo>
                  <a:cubicBezTo>
                    <a:pt x="2246630" y="4335"/>
                    <a:pt x="2331720" y="-10905"/>
                    <a:pt x="2392680" y="15765"/>
                  </a:cubicBezTo>
                  <a:cubicBezTo>
                    <a:pt x="2452370" y="42435"/>
                    <a:pt x="2536190" y="116095"/>
                    <a:pt x="2542540" y="165625"/>
                  </a:cubicBezTo>
                  <a:cubicBezTo>
                    <a:pt x="2547620" y="206265"/>
                    <a:pt x="2500630" y="254525"/>
                    <a:pt x="2470150" y="287545"/>
                  </a:cubicBezTo>
                  <a:cubicBezTo>
                    <a:pt x="2438400" y="319295"/>
                    <a:pt x="2382520" y="347235"/>
                    <a:pt x="2355850" y="362475"/>
                  </a:cubicBezTo>
                  <a:cubicBezTo>
                    <a:pt x="2343150" y="370095"/>
                    <a:pt x="2334260" y="373905"/>
                    <a:pt x="2325370" y="378985"/>
                  </a:cubicBezTo>
                  <a:cubicBezTo>
                    <a:pt x="2319020" y="382795"/>
                    <a:pt x="2313940" y="387875"/>
                    <a:pt x="2308860" y="390415"/>
                  </a:cubicBezTo>
                  <a:cubicBezTo>
                    <a:pt x="2306320" y="391685"/>
                    <a:pt x="2303780" y="391685"/>
                    <a:pt x="2301240" y="391685"/>
                  </a:cubicBezTo>
                  <a:cubicBezTo>
                    <a:pt x="2299970" y="392955"/>
                    <a:pt x="2298700" y="394225"/>
                    <a:pt x="2296160" y="395495"/>
                  </a:cubicBezTo>
                  <a:cubicBezTo>
                    <a:pt x="2292350" y="396765"/>
                    <a:pt x="2287270" y="395495"/>
                    <a:pt x="2283460" y="396765"/>
                  </a:cubicBezTo>
                  <a:cubicBezTo>
                    <a:pt x="2278380" y="398035"/>
                    <a:pt x="2273300" y="400575"/>
                    <a:pt x="2269490" y="400575"/>
                  </a:cubicBezTo>
                  <a:cubicBezTo>
                    <a:pt x="2266950" y="400575"/>
                    <a:pt x="2265680" y="399305"/>
                    <a:pt x="2263140" y="399305"/>
                  </a:cubicBezTo>
                  <a:cubicBezTo>
                    <a:pt x="2260600" y="399305"/>
                    <a:pt x="2259330" y="400575"/>
                    <a:pt x="2256790" y="400575"/>
                  </a:cubicBezTo>
                  <a:cubicBezTo>
                    <a:pt x="2252980" y="400575"/>
                    <a:pt x="2247900" y="399305"/>
                    <a:pt x="2242820" y="398035"/>
                  </a:cubicBezTo>
                  <a:cubicBezTo>
                    <a:pt x="2239010" y="398035"/>
                    <a:pt x="2233930" y="398035"/>
                    <a:pt x="2230120" y="398035"/>
                  </a:cubicBezTo>
                  <a:cubicBezTo>
                    <a:pt x="2227580" y="396765"/>
                    <a:pt x="2226310" y="395495"/>
                    <a:pt x="2223770" y="394225"/>
                  </a:cubicBezTo>
                  <a:cubicBezTo>
                    <a:pt x="2221230" y="394225"/>
                    <a:pt x="2219960" y="394225"/>
                    <a:pt x="2217420" y="394225"/>
                  </a:cubicBezTo>
                  <a:cubicBezTo>
                    <a:pt x="2213610" y="392955"/>
                    <a:pt x="2209800" y="389145"/>
                    <a:pt x="2205990" y="386605"/>
                  </a:cubicBezTo>
                  <a:cubicBezTo>
                    <a:pt x="2200910" y="385335"/>
                    <a:pt x="2195830" y="384065"/>
                    <a:pt x="2193290" y="381525"/>
                  </a:cubicBezTo>
                  <a:cubicBezTo>
                    <a:pt x="2190750" y="380255"/>
                    <a:pt x="2189480" y="378985"/>
                    <a:pt x="2188210" y="377715"/>
                  </a:cubicBezTo>
                  <a:cubicBezTo>
                    <a:pt x="2185670" y="376445"/>
                    <a:pt x="2184400" y="376445"/>
                    <a:pt x="2181860" y="373905"/>
                  </a:cubicBezTo>
                  <a:cubicBezTo>
                    <a:pt x="2179320" y="371365"/>
                    <a:pt x="2176780" y="367555"/>
                    <a:pt x="2172970" y="363745"/>
                  </a:cubicBezTo>
                  <a:cubicBezTo>
                    <a:pt x="2170430" y="361205"/>
                    <a:pt x="2165350" y="358665"/>
                    <a:pt x="2162810" y="354855"/>
                  </a:cubicBezTo>
                  <a:cubicBezTo>
                    <a:pt x="2161540" y="353585"/>
                    <a:pt x="2161540" y="351045"/>
                    <a:pt x="2159000" y="349775"/>
                  </a:cubicBezTo>
                  <a:cubicBezTo>
                    <a:pt x="2157730" y="347235"/>
                    <a:pt x="2156460" y="347235"/>
                    <a:pt x="2155190" y="344695"/>
                  </a:cubicBezTo>
                  <a:cubicBezTo>
                    <a:pt x="2152650" y="342155"/>
                    <a:pt x="2151380" y="335805"/>
                    <a:pt x="2150110" y="331995"/>
                  </a:cubicBezTo>
                  <a:cubicBezTo>
                    <a:pt x="2147570" y="328185"/>
                    <a:pt x="2143760" y="324375"/>
                    <a:pt x="2142490" y="320565"/>
                  </a:cubicBezTo>
                  <a:cubicBezTo>
                    <a:pt x="2142490" y="318025"/>
                    <a:pt x="2142490" y="316755"/>
                    <a:pt x="2141220" y="314215"/>
                  </a:cubicBezTo>
                  <a:cubicBezTo>
                    <a:pt x="2141220" y="311675"/>
                    <a:pt x="2139950" y="310405"/>
                    <a:pt x="2138680" y="307865"/>
                  </a:cubicBezTo>
                  <a:cubicBezTo>
                    <a:pt x="2137410" y="304055"/>
                    <a:pt x="2138680" y="298975"/>
                    <a:pt x="2137410" y="295165"/>
                  </a:cubicBezTo>
                  <a:cubicBezTo>
                    <a:pt x="2137410" y="290085"/>
                    <a:pt x="2134870" y="285005"/>
                    <a:pt x="2134870" y="281195"/>
                  </a:cubicBezTo>
                  <a:cubicBezTo>
                    <a:pt x="2134870" y="278655"/>
                    <a:pt x="2136140" y="277385"/>
                    <a:pt x="2136140" y="274845"/>
                  </a:cubicBezTo>
                  <a:cubicBezTo>
                    <a:pt x="2136140" y="272305"/>
                    <a:pt x="2134870" y="271035"/>
                    <a:pt x="2134870" y="268495"/>
                  </a:cubicBezTo>
                  <a:cubicBezTo>
                    <a:pt x="2136140" y="264685"/>
                    <a:pt x="2137410" y="259605"/>
                    <a:pt x="2138680" y="254525"/>
                  </a:cubicBezTo>
                  <a:cubicBezTo>
                    <a:pt x="2138680" y="250715"/>
                    <a:pt x="2138680" y="245635"/>
                    <a:pt x="2139950" y="241825"/>
                  </a:cubicBezTo>
                  <a:cubicBezTo>
                    <a:pt x="2141220" y="239285"/>
                    <a:pt x="2142490" y="238015"/>
                    <a:pt x="2142490" y="235475"/>
                  </a:cubicBezTo>
                  <a:cubicBezTo>
                    <a:pt x="2143760" y="232935"/>
                    <a:pt x="2143760" y="230395"/>
                    <a:pt x="2145030" y="229125"/>
                  </a:cubicBezTo>
                  <a:cubicBezTo>
                    <a:pt x="2145030" y="227855"/>
                    <a:pt x="2147570" y="226585"/>
                    <a:pt x="2146300" y="225315"/>
                  </a:cubicBezTo>
                  <a:cubicBezTo>
                    <a:pt x="2143760" y="221505"/>
                    <a:pt x="2085340" y="225315"/>
                    <a:pt x="2048510" y="226585"/>
                  </a:cubicBezTo>
                  <a:cubicBezTo>
                    <a:pt x="2000250" y="229125"/>
                    <a:pt x="1935480" y="235475"/>
                    <a:pt x="1880870" y="243095"/>
                  </a:cubicBezTo>
                  <a:cubicBezTo>
                    <a:pt x="1827530" y="250715"/>
                    <a:pt x="1778000" y="259605"/>
                    <a:pt x="1723390" y="269765"/>
                  </a:cubicBezTo>
                  <a:cubicBezTo>
                    <a:pt x="1664970" y="281195"/>
                    <a:pt x="1544320" y="300245"/>
                    <a:pt x="1541780" y="307865"/>
                  </a:cubicBezTo>
                  <a:cubicBezTo>
                    <a:pt x="1540510" y="309135"/>
                    <a:pt x="1543050" y="310405"/>
                    <a:pt x="1544320" y="311675"/>
                  </a:cubicBezTo>
                  <a:cubicBezTo>
                    <a:pt x="1546860" y="314215"/>
                    <a:pt x="1555750" y="324375"/>
                    <a:pt x="1555750" y="324375"/>
                  </a:cubicBezTo>
                  <a:cubicBezTo>
                    <a:pt x="1555750" y="324375"/>
                    <a:pt x="1560830" y="334535"/>
                    <a:pt x="1563370" y="339615"/>
                  </a:cubicBezTo>
                  <a:cubicBezTo>
                    <a:pt x="1565910" y="344695"/>
                    <a:pt x="1572260" y="353585"/>
                    <a:pt x="1572260" y="354855"/>
                  </a:cubicBezTo>
                  <a:cubicBezTo>
                    <a:pt x="1572260" y="354855"/>
                    <a:pt x="1574800" y="365015"/>
                    <a:pt x="1576070" y="371365"/>
                  </a:cubicBezTo>
                  <a:cubicBezTo>
                    <a:pt x="1577340" y="376445"/>
                    <a:pt x="1579880" y="387875"/>
                    <a:pt x="1579880" y="387875"/>
                  </a:cubicBezTo>
                  <a:cubicBezTo>
                    <a:pt x="1579880" y="387875"/>
                    <a:pt x="1579880" y="399305"/>
                    <a:pt x="1579880" y="404385"/>
                  </a:cubicBezTo>
                  <a:cubicBezTo>
                    <a:pt x="1579880" y="410735"/>
                    <a:pt x="1579880" y="420895"/>
                    <a:pt x="1579880" y="422165"/>
                  </a:cubicBezTo>
                  <a:cubicBezTo>
                    <a:pt x="1579880" y="422165"/>
                    <a:pt x="1577340" y="432325"/>
                    <a:pt x="1576070" y="438675"/>
                  </a:cubicBezTo>
                  <a:cubicBezTo>
                    <a:pt x="1574800" y="443755"/>
                    <a:pt x="1572260" y="455185"/>
                    <a:pt x="1572260" y="455185"/>
                  </a:cubicBezTo>
                  <a:cubicBezTo>
                    <a:pt x="1572260" y="455185"/>
                    <a:pt x="1567180" y="465345"/>
                    <a:pt x="1564640" y="470425"/>
                  </a:cubicBezTo>
                  <a:cubicBezTo>
                    <a:pt x="1562100" y="475505"/>
                    <a:pt x="1557020" y="485665"/>
                    <a:pt x="1557020" y="485665"/>
                  </a:cubicBezTo>
                  <a:cubicBezTo>
                    <a:pt x="1557020" y="485665"/>
                    <a:pt x="1557020" y="485665"/>
                    <a:pt x="1555750" y="485665"/>
                  </a:cubicBezTo>
                  <a:cubicBezTo>
                    <a:pt x="1555750" y="485665"/>
                    <a:pt x="1549400" y="493285"/>
                    <a:pt x="1545590" y="498365"/>
                  </a:cubicBezTo>
                  <a:cubicBezTo>
                    <a:pt x="1541780" y="502175"/>
                    <a:pt x="1534160" y="511065"/>
                    <a:pt x="1534160" y="511065"/>
                  </a:cubicBezTo>
                  <a:cubicBezTo>
                    <a:pt x="1534160" y="511065"/>
                    <a:pt x="1524000" y="517415"/>
                    <a:pt x="1520190" y="521225"/>
                  </a:cubicBezTo>
                  <a:cubicBezTo>
                    <a:pt x="1515110" y="523765"/>
                    <a:pt x="1506220" y="530115"/>
                    <a:pt x="1506220" y="530115"/>
                  </a:cubicBezTo>
                  <a:cubicBezTo>
                    <a:pt x="1504950" y="530115"/>
                    <a:pt x="1494790" y="533925"/>
                    <a:pt x="1489710" y="536465"/>
                  </a:cubicBezTo>
                  <a:cubicBezTo>
                    <a:pt x="1484630" y="539005"/>
                    <a:pt x="1474470" y="542815"/>
                    <a:pt x="1474470" y="542815"/>
                  </a:cubicBezTo>
                  <a:cubicBezTo>
                    <a:pt x="1473200" y="542815"/>
                    <a:pt x="1463040" y="544085"/>
                    <a:pt x="1456690" y="545355"/>
                  </a:cubicBezTo>
                  <a:cubicBezTo>
                    <a:pt x="1451610" y="545355"/>
                    <a:pt x="1446530" y="546625"/>
                    <a:pt x="1440180" y="546625"/>
                  </a:cubicBezTo>
                  <a:cubicBezTo>
                    <a:pt x="1428750" y="547895"/>
                    <a:pt x="1413510" y="549165"/>
                    <a:pt x="1394460" y="549165"/>
                  </a:cubicBezTo>
                  <a:cubicBezTo>
                    <a:pt x="1360170" y="551705"/>
                    <a:pt x="1301750" y="551705"/>
                    <a:pt x="1254760" y="556785"/>
                  </a:cubicBezTo>
                  <a:cubicBezTo>
                    <a:pt x="1209040" y="561865"/>
                    <a:pt x="1126490" y="559325"/>
                    <a:pt x="1116330" y="579645"/>
                  </a:cubicBezTo>
                  <a:cubicBezTo>
                    <a:pt x="1108710" y="594885"/>
                    <a:pt x="1137920" y="621555"/>
                    <a:pt x="1151890" y="644415"/>
                  </a:cubicBezTo>
                  <a:cubicBezTo>
                    <a:pt x="1169670" y="674895"/>
                    <a:pt x="1202690" y="723155"/>
                    <a:pt x="1214120" y="747285"/>
                  </a:cubicBezTo>
                  <a:cubicBezTo>
                    <a:pt x="1221740" y="758715"/>
                    <a:pt x="1224280" y="765065"/>
                    <a:pt x="1228090" y="775225"/>
                  </a:cubicBezTo>
                  <a:cubicBezTo>
                    <a:pt x="1230630" y="785385"/>
                    <a:pt x="1233170" y="795545"/>
                    <a:pt x="1233170" y="806975"/>
                  </a:cubicBezTo>
                  <a:cubicBezTo>
                    <a:pt x="1234440" y="817135"/>
                    <a:pt x="1233170" y="827295"/>
                    <a:pt x="1231900" y="837455"/>
                  </a:cubicBezTo>
                  <a:cubicBezTo>
                    <a:pt x="1229360" y="847615"/>
                    <a:pt x="1226820" y="857775"/>
                    <a:pt x="1223010" y="867935"/>
                  </a:cubicBezTo>
                  <a:cubicBezTo>
                    <a:pt x="1217930" y="876825"/>
                    <a:pt x="1212850" y="885715"/>
                    <a:pt x="1206500" y="894605"/>
                  </a:cubicBezTo>
                  <a:cubicBezTo>
                    <a:pt x="1200150" y="902225"/>
                    <a:pt x="1192530" y="909845"/>
                    <a:pt x="1183640" y="916195"/>
                  </a:cubicBezTo>
                  <a:cubicBezTo>
                    <a:pt x="1176020" y="922545"/>
                    <a:pt x="1167130" y="928895"/>
                    <a:pt x="1156970" y="932705"/>
                  </a:cubicBezTo>
                  <a:cubicBezTo>
                    <a:pt x="1148080" y="937785"/>
                    <a:pt x="1137920" y="940325"/>
                    <a:pt x="1127760" y="942865"/>
                  </a:cubicBezTo>
                  <a:cubicBezTo>
                    <a:pt x="1117600" y="944135"/>
                    <a:pt x="1106170" y="945405"/>
                    <a:pt x="1096010" y="944135"/>
                  </a:cubicBezTo>
                  <a:cubicBezTo>
                    <a:pt x="1085850" y="944135"/>
                    <a:pt x="1075690" y="941595"/>
                    <a:pt x="1065530" y="939055"/>
                  </a:cubicBezTo>
                  <a:cubicBezTo>
                    <a:pt x="1055370" y="935245"/>
                    <a:pt x="1045210" y="931435"/>
                    <a:pt x="1036320" y="926355"/>
                  </a:cubicBezTo>
                  <a:cubicBezTo>
                    <a:pt x="1027430" y="921275"/>
                    <a:pt x="1019810" y="913655"/>
                    <a:pt x="1012190" y="907305"/>
                  </a:cubicBezTo>
                  <a:cubicBezTo>
                    <a:pt x="1004570" y="899685"/>
                    <a:pt x="1000760" y="893335"/>
                    <a:pt x="993140" y="881905"/>
                  </a:cubicBezTo>
                  <a:cubicBezTo>
                    <a:pt x="977900" y="860315"/>
                    <a:pt x="957580" y="812055"/>
                    <a:pt x="930910" y="780305"/>
                  </a:cubicBezTo>
                  <a:cubicBezTo>
                    <a:pt x="901700" y="746015"/>
                    <a:pt x="866140" y="701565"/>
                    <a:pt x="824230" y="686325"/>
                  </a:cubicBezTo>
                  <a:cubicBezTo>
                    <a:pt x="783590" y="671085"/>
                    <a:pt x="720090" y="690135"/>
                    <a:pt x="681990" y="688865"/>
                  </a:cubicBezTo>
                  <a:cubicBezTo>
                    <a:pt x="657860" y="688865"/>
                    <a:pt x="635000" y="687595"/>
                    <a:pt x="619760" y="687595"/>
                  </a:cubicBezTo>
                  <a:cubicBezTo>
                    <a:pt x="613410" y="686325"/>
                    <a:pt x="609600" y="685055"/>
                    <a:pt x="603250" y="685055"/>
                  </a:cubicBezTo>
                  <a:cubicBezTo>
                    <a:pt x="598170" y="683785"/>
                    <a:pt x="586740" y="682515"/>
                    <a:pt x="586740" y="682515"/>
                  </a:cubicBezTo>
                  <a:cubicBezTo>
                    <a:pt x="586740" y="682515"/>
                    <a:pt x="576580" y="678705"/>
                    <a:pt x="571500" y="677435"/>
                  </a:cubicBezTo>
                  <a:cubicBezTo>
                    <a:pt x="566420" y="674895"/>
                    <a:pt x="556260" y="671085"/>
                    <a:pt x="554990" y="671085"/>
                  </a:cubicBezTo>
                  <a:cubicBezTo>
                    <a:pt x="554990" y="671085"/>
                    <a:pt x="546100" y="664735"/>
                    <a:pt x="542290" y="662195"/>
                  </a:cubicBezTo>
                  <a:cubicBezTo>
                    <a:pt x="537210" y="658385"/>
                    <a:pt x="528320" y="652035"/>
                    <a:pt x="528320" y="652035"/>
                  </a:cubicBezTo>
                  <a:cubicBezTo>
                    <a:pt x="528320" y="652035"/>
                    <a:pt x="520700" y="643145"/>
                    <a:pt x="516890" y="639335"/>
                  </a:cubicBezTo>
                  <a:cubicBezTo>
                    <a:pt x="513080" y="635525"/>
                    <a:pt x="505460" y="626635"/>
                    <a:pt x="505460" y="626635"/>
                  </a:cubicBezTo>
                  <a:cubicBezTo>
                    <a:pt x="505460" y="626635"/>
                    <a:pt x="500380" y="616475"/>
                    <a:pt x="497840" y="612665"/>
                  </a:cubicBezTo>
                  <a:cubicBezTo>
                    <a:pt x="495300" y="607585"/>
                    <a:pt x="490220" y="597425"/>
                    <a:pt x="490220" y="597425"/>
                  </a:cubicBezTo>
                  <a:cubicBezTo>
                    <a:pt x="490220" y="597425"/>
                    <a:pt x="490220" y="588535"/>
                    <a:pt x="487680" y="587265"/>
                  </a:cubicBezTo>
                  <a:cubicBezTo>
                    <a:pt x="476250" y="582185"/>
                    <a:pt x="406400" y="627905"/>
                    <a:pt x="364490" y="654575"/>
                  </a:cubicBezTo>
                  <a:cubicBezTo>
                    <a:pt x="316230" y="685055"/>
                    <a:pt x="270510" y="752365"/>
                    <a:pt x="218440" y="759985"/>
                  </a:cubicBezTo>
                  <a:cubicBezTo>
                    <a:pt x="167640" y="767605"/>
                    <a:pt x="93980" y="735855"/>
                    <a:pt x="57150" y="701565"/>
                  </a:cubicBezTo>
                  <a:cubicBezTo>
                    <a:pt x="24130" y="669815"/>
                    <a:pt x="0" y="566945"/>
                    <a:pt x="0" y="56694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788968" y="7168515"/>
            <a:ext cx="2784158" cy="834390"/>
            <a:chOff x="0" y="0"/>
            <a:chExt cx="3712210" cy="1112520"/>
          </a:xfrm>
        </p:grpSpPr>
        <p:sp>
          <p:nvSpPr>
            <p:cNvPr id="26" name="Freeform 26"/>
            <p:cNvSpPr/>
            <p:nvPr/>
          </p:nvSpPr>
          <p:spPr>
            <a:xfrm>
              <a:off x="50693" y="49855"/>
              <a:ext cx="3610717" cy="1013001"/>
            </a:xfrm>
            <a:custGeom>
              <a:avLst/>
              <a:gdLst/>
              <a:ahLst/>
              <a:cxnLst/>
              <a:rect l="l" t="t" r="r" b="b"/>
              <a:pathLst>
                <a:path w="3610717" h="1013001">
                  <a:moveTo>
                    <a:pt x="2433427" y="641025"/>
                  </a:moveTo>
                  <a:cubicBezTo>
                    <a:pt x="1497437" y="604195"/>
                    <a:pt x="941177" y="503865"/>
                    <a:pt x="845927" y="533075"/>
                  </a:cubicBezTo>
                  <a:cubicBezTo>
                    <a:pt x="825607" y="539425"/>
                    <a:pt x="828147" y="553395"/>
                    <a:pt x="814177" y="558475"/>
                  </a:cubicBezTo>
                  <a:cubicBezTo>
                    <a:pt x="798937" y="564825"/>
                    <a:pt x="774807" y="566095"/>
                    <a:pt x="755757" y="561015"/>
                  </a:cubicBezTo>
                  <a:cubicBezTo>
                    <a:pt x="731627" y="554665"/>
                    <a:pt x="698607" y="536885"/>
                    <a:pt x="682097" y="515295"/>
                  </a:cubicBezTo>
                  <a:cubicBezTo>
                    <a:pt x="665587" y="492435"/>
                    <a:pt x="655427" y="458145"/>
                    <a:pt x="657967" y="431475"/>
                  </a:cubicBezTo>
                  <a:cubicBezTo>
                    <a:pt x="659237" y="403535"/>
                    <a:pt x="678287" y="370515"/>
                    <a:pt x="694797" y="351465"/>
                  </a:cubicBezTo>
                  <a:cubicBezTo>
                    <a:pt x="708767" y="337495"/>
                    <a:pt x="718927" y="329875"/>
                    <a:pt x="745597" y="322255"/>
                  </a:cubicBezTo>
                  <a:cubicBezTo>
                    <a:pt x="817987" y="303205"/>
                    <a:pt x="1023727" y="320985"/>
                    <a:pt x="1171047" y="326065"/>
                  </a:cubicBezTo>
                  <a:cubicBezTo>
                    <a:pt x="1327257" y="332415"/>
                    <a:pt x="1493627" y="354005"/>
                    <a:pt x="1658727" y="359085"/>
                  </a:cubicBezTo>
                  <a:cubicBezTo>
                    <a:pt x="1827637" y="365435"/>
                    <a:pt x="2047347" y="346385"/>
                    <a:pt x="2173077" y="360355"/>
                  </a:cubicBezTo>
                  <a:cubicBezTo>
                    <a:pt x="2246737" y="367975"/>
                    <a:pt x="2284837" y="389565"/>
                    <a:pt x="2345797" y="395915"/>
                  </a:cubicBezTo>
                  <a:cubicBezTo>
                    <a:pt x="2409297" y="403535"/>
                    <a:pt x="2500737" y="389565"/>
                    <a:pt x="2545187" y="398455"/>
                  </a:cubicBezTo>
                  <a:cubicBezTo>
                    <a:pt x="2568047" y="403535"/>
                    <a:pt x="2582017" y="407345"/>
                    <a:pt x="2595987" y="420045"/>
                  </a:cubicBezTo>
                  <a:cubicBezTo>
                    <a:pt x="2613767" y="435285"/>
                    <a:pt x="2634087" y="465765"/>
                    <a:pt x="2640437" y="488625"/>
                  </a:cubicBezTo>
                  <a:cubicBezTo>
                    <a:pt x="2645517" y="507675"/>
                    <a:pt x="2644247" y="526725"/>
                    <a:pt x="2639167" y="544505"/>
                  </a:cubicBezTo>
                  <a:cubicBezTo>
                    <a:pt x="2634087" y="561015"/>
                    <a:pt x="2625197" y="578795"/>
                    <a:pt x="2611227" y="592765"/>
                  </a:cubicBezTo>
                  <a:cubicBezTo>
                    <a:pt x="2594717" y="608005"/>
                    <a:pt x="2573127" y="618165"/>
                    <a:pt x="2537567" y="628325"/>
                  </a:cubicBezTo>
                  <a:cubicBezTo>
                    <a:pt x="2453747" y="651185"/>
                    <a:pt x="2289917" y="642295"/>
                    <a:pt x="2104497" y="666425"/>
                  </a:cubicBezTo>
                  <a:cubicBezTo>
                    <a:pt x="1770487" y="708335"/>
                    <a:pt x="997057" y="859465"/>
                    <a:pt x="707497" y="900105"/>
                  </a:cubicBezTo>
                  <a:cubicBezTo>
                    <a:pt x="577957" y="917885"/>
                    <a:pt x="518267" y="914075"/>
                    <a:pt x="424287" y="931855"/>
                  </a:cubicBezTo>
                  <a:cubicBezTo>
                    <a:pt x="327767" y="950905"/>
                    <a:pt x="196957" y="1004245"/>
                    <a:pt x="137267" y="1010595"/>
                  </a:cubicBezTo>
                  <a:cubicBezTo>
                    <a:pt x="109327" y="1013135"/>
                    <a:pt x="95357" y="1011865"/>
                    <a:pt x="77577" y="1006785"/>
                  </a:cubicBezTo>
                  <a:cubicBezTo>
                    <a:pt x="59797" y="1001705"/>
                    <a:pt x="44557" y="991545"/>
                    <a:pt x="31857" y="980115"/>
                  </a:cubicBezTo>
                  <a:cubicBezTo>
                    <a:pt x="20427" y="968685"/>
                    <a:pt x="10267" y="952175"/>
                    <a:pt x="5187" y="935665"/>
                  </a:cubicBezTo>
                  <a:cubicBezTo>
                    <a:pt x="107" y="919155"/>
                    <a:pt x="-1163" y="900105"/>
                    <a:pt x="1377" y="883595"/>
                  </a:cubicBezTo>
                  <a:cubicBezTo>
                    <a:pt x="5187" y="867085"/>
                    <a:pt x="7727" y="855655"/>
                    <a:pt x="22967" y="836605"/>
                  </a:cubicBezTo>
                  <a:cubicBezTo>
                    <a:pt x="63607" y="784535"/>
                    <a:pt x="210927" y="667695"/>
                    <a:pt x="318877" y="605465"/>
                  </a:cubicBezTo>
                  <a:cubicBezTo>
                    <a:pt x="428097" y="541965"/>
                    <a:pt x="562717" y="494975"/>
                    <a:pt x="674477" y="459415"/>
                  </a:cubicBezTo>
                  <a:cubicBezTo>
                    <a:pt x="769727" y="428935"/>
                    <a:pt x="886567" y="400995"/>
                    <a:pt x="943717" y="397185"/>
                  </a:cubicBezTo>
                  <a:cubicBezTo>
                    <a:pt x="969117" y="394645"/>
                    <a:pt x="981817" y="395915"/>
                    <a:pt x="999597" y="402265"/>
                  </a:cubicBezTo>
                  <a:cubicBezTo>
                    <a:pt x="1017377" y="408615"/>
                    <a:pt x="1033887" y="420045"/>
                    <a:pt x="1046587" y="432745"/>
                  </a:cubicBezTo>
                  <a:cubicBezTo>
                    <a:pt x="1059287" y="446715"/>
                    <a:pt x="1069447" y="464495"/>
                    <a:pt x="1074527" y="482275"/>
                  </a:cubicBezTo>
                  <a:cubicBezTo>
                    <a:pt x="1079607" y="500055"/>
                    <a:pt x="1080877" y="520375"/>
                    <a:pt x="1075797" y="539425"/>
                  </a:cubicBezTo>
                  <a:cubicBezTo>
                    <a:pt x="1069447" y="562285"/>
                    <a:pt x="1049127" y="594035"/>
                    <a:pt x="1030077" y="609275"/>
                  </a:cubicBezTo>
                  <a:cubicBezTo>
                    <a:pt x="1014837" y="621975"/>
                    <a:pt x="1004677" y="628325"/>
                    <a:pt x="978007" y="630865"/>
                  </a:cubicBezTo>
                  <a:cubicBezTo>
                    <a:pt x="892917" y="639755"/>
                    <a:pt x="561447" y="517835"/>
                    <a:pt x="439527" y="526725"/>
                  </a:cubicBezTo>
                  <a:cubicBezTo>
                    <a:pt x="374757" y="531805"/>
                    <a:pt x="332847" y="571175"/>
                    <a:pt x="294747" y="577525"/>
                  </a:cubicBezTo>
                  <a:cubicBezTo>
                    <a:pt x="270617" y="580065"/>
                    <a:pt x="254107" y="581335"/>
                    <a:pt x="233787" y="574985"/>
                  </a:cubicBezTo>
                  <a:cubicBezTo>
                    <a:pt x="209657" y="566095"/>
                    <a:pt x="177907" y="541965"/>
                    <a:pt x="162667" y="520375"/>
                  </a:cubicBezTo>
                  <a:cubicBezTo>
                    <a:pt x="151237" y="503865"/>
                    <a:pt x="144887" y="484815"/>
                    <a:pt x="143617" y="463225"/>
                  </a:cubicBezTo>
                  <a:cubicBezTo>
                    <a:pt x="143617" y="437825"/>
                    <a:pt x="155047" y="399725"/>
                    <a:pt x="169017" y="378135"/>
                  </a:cubicBezTo>
                  <a:cubicBezTo>
                    <a:pt x="180447" y="360355"/>
                    <a:pt x="190607" y="347655"/>
                    <a:pt x="216007" y="340035"/>
                  </a:cubicBezTo>
                  <a:cubicBezTo>
                    <a:pt x="278237" y="322255"/>
                    <a:pt x="464927" y="364165"/>
                    <a:pt x="575417" y="383215"/>
                  </a:cubicBezTo>
                  <a:cubicBezTo>
                    <a:pt x="674477" y="402265"/>
                    <a:pt x="791317" y="422585"/>
                    <a:pt x="852277" y="450525"/>
                  </a:cubicBezTo>
                  <a:cubicBezTo>
                    <a:pt x="886567" y="467035"/>
                    <a:pt x="909427" y="483545"/>
                    <a:pt x="923397" y="505135"/>
                  </a:cubicBezTo>
                  <a:cubicBezTo>
                    <a:pt x="936097" y="521645"/>
                    <a:pt x="942447" y="540695"/>
                    <a:pt x="943717" y="562285"/>
                  </a:cubicBezTo>
                  <a:cubicBezTo>
                    <a:pt x="943717" y="587685"/>
                    <a:pt x="934827" y="625785"/>
                    <a:pt x="918317" y="648645"/>
                  </a:cubicBezTo>
                  <a:cubicBezTo>
                    <a:pt x="901807" y="670235"/>
                    <a:pt x="876407" y="686745"/>
                    <a:pt x="842117" y="696905"/>
                  </a:cubicBezTo>
                  <a:cubicBezTo>
                    <a:pt x="791317" y="712145"/>
                    <a:pt x="712577" y="708335"/>
                    <a:pt x="632567" y="700715"/>
                  </a:cubicBezTo>
                  <a:cubicBezTo>
                    <a:pt x="523347" y="691825"/>
                    <a:pt x="339197" y="661345"/>
                    <a:pt x="251567" y="624515"/>
                  </a:cubicBezTo>
                  <a:cubicBezTo>
                    <a:pt x="199497" y="602925"/>
                    <a:pt x="158857" y="586415"/>
                    <a:pt x="135997" y="548315"/>
                  </a:cubicBezTo>
                  <a:cubicBezTo>
                    <a:pt x="111867" y="505135"/>
                    <a:pt x="105517" y="417505"/>
                    <a:pt x="128377" y="366705"/>
                  </a:cubicBezTo>
                  <a:cubicBezTo>
                    <a:pt x="149967" y="314635"/>
                    <a:pt x="219817" y="277805"/>
                    <a:pt x="271887" y="244785"/>
                  </a:cubicBezTo>
                  <a:cubicBezTo>
                    <a:pt x="322687" y="213035"/>
                    <a:pt x="382377" y="186365"/>
                    <a:pt x="436987" y="169855"/>
                  </a:cubicBezTo>
                  <a:cubicBezTo>
                    <a:pt x="486517" y="154615"/>
                    <a:pt x="514457" y="149535"/>
                    <a:pt x="588117" y="144455"/>
                  </a:cubicBezTo>
                  <a:cubicBezTo>
                    <a:pt x="774807" y="127945"/>
                    <a:pt x="1361547" y="134295"/>
                    <a:pt x="1602847" y="141915"/>
                  </a:cubicBezTo>
                  <a:cubicBezTo>
                    <a:pt x="1734927" y="146995"/>
                    <a:pt x="1807317" y="173665"/>
                    <a:pt x="1910187" y="163505"/>
                  </a:cubicBezTo>
                  <a:cubicBezTo>
                    <a:pt x="2019407" y="152075"/>
                    <a:pt x="2148947" y="89845"/>
                    <a:pt x="2239117" y="72065"/>
                  </a:cubicBezTo>
                  <a:cubicBezTo>
                    <a:pt x="2300077" y="59365"/>
                    <a:pt x="2324207" y="53015"/>
                    <a:pt x="2396597" y="50475"/>
                  </a:cubicBezTo>
                  <a:cubicBezTo>
                    <a:pt x="2551537" y="44125"/>
                    <a:pt x="2938887" y="101275"/>
                    <a:pt x="3137007" y="88575"/>
                  </a:cubicBezTo>
                  <a:cubicBezTo>
                    <a:pt x="3274167" y="79685"/>
                    <a:pt x="3402437" y="12375"/>
                    <a:pt x="3478637" y="23805"/>
                  </a:cubicBezTo>
                  <a:cubicBezTo>
                    <a:pt x="3521817" y="30155"/>
                    <a:pt x="3551027" y="47935"/>
                    <a:pt x="3572617" y="72065"/>
                  </a:cubicBezTo>
                  <a:cubicBezTo>
                    <a:pt x="3595477" y="97465"/>
                    <a:pt x="3610717" y="138105"/>
                    <a:pt x="3610717" y="171125"/>
                  </a:cubicBezTo>
                  <a:cubicBezTo>
                    <a:pt x="3610717" y="204145"/>
                    <a:pt x="3595477" y="244785"/>
                    <a:pt x="3573887" y="270185"/>
                  </a:cubicBezTo>
                  <a:cubicBezTo>
                    <a:pt x="3552297" y="294315"/>
                    <a:pt x="3528167" y="308285"/>
                    <a:pt x="3481177" y="319715"/>
                  </a:cubicBezTo>
                  <a:cubicBezTo>
                    <a:pt x="3357987" y="348925"/>
                    <a:pt x="2929997" y="295585"/>
                    <a:pt x="2780137" y="303205"/>
                  </a:cubicBezTo>
                  <a:cubicBezTo>
                    <a:pt x="2709017" y="307015"/>
                    <a:pt x="2682347" y="322255"/>
                    <a:pt x="2623927" y="323525"/>
                  </a:cubicBezTo>
                  <a:cubicBezTo>
                    <a:pt x="2548997" y="324795"/>
                    <a:pt x="2430887" y="324795"/>
                    <a:pt x="2369927" y="303205"/>
                  </a:cubicBezTo>
                  <a:cubicBezTo>
                    <a:pt x="2330557" y="289235"/>
                    <a:pt x="2301347" y="266375"/>
                    <a:pt x="2282297" y="242245"/>
                  </a:cubicBezTo>
                  <a:cubicBezTo>
                    <a:pt x="2265787" y="221925"/>
                    <a:pt x="2259437" y="197795"/>
                    <a:pt x="2256897" y="173665"/>
                  </a:cubicBezTo>
                  <a:cubicBezTo>
                    <a:pt x="2253087" y="150805"/>
                    <a:pt x="2256897" y="124135"/>
                    <a:pt x="2264517" y="102545"/>
                  </a:cubicBezTo>
                  <a:cubicBezTo>
                    <a:pt x="2273407" y="79685"/>
                    <a:pt x="2288647" y="58095"/>
                    <a:pt x="2306427" y="42855"/>
                  </a:cubicBezTo>
                  <a:cubicBezTo>
                    <a:pt x="2324207" y="26345"/>
                    <a:pt x="2339447" y="16185"/>
                    <a:pt x="2371197" y="8565"/>
                  </a:cubicBezTo>
                  <a:cubicBezTo>
                    <a:pt x="2442317" y="-7945"/>
                    <a:pt x="2604877" y="19995"/>
                    <a:pt x="2740767" y="19995"/>
                  </a:cubicBezTo>
                  <a:cubicBezTo>
                    <a:pt x="2910947" y="19995"/>
                    <a:pt x="3224637" y="-4135"/>
                    <a:pt x="3309727" y="945"/>
                  </a:cubicBezTo>
                  <a:cubicBezTo>
                    <a:pt x="3335127" y="3485"/>
                    <a:pt x="3341477" y="2215"/>
                    <a:pt x="3357987" y="9835"/>
                  </a:cubicBezTo>
                  <a:cubicBezTo>
                    <a:pt x="3382117" y="19995"/>
                    <a:pt x="3417677" y="42855"/>
                    <a:pt x="3434187" y="68255"/>
                  </a:cubicBezTo>
                  <a:cubicBezTo>
                    <a:pt x="3451967" y="92385"/>
                    <a:pt x="3462127" y="130485"/>
                    <a:pt x="3460857" y="160965"/>
                  </a:cubicBezTo>
                  <a:cubicBezTo>
                    <a:pt x="3459587" y="191445"/>
                    <a:pt x="3444347" y="227005"/>
                    <a:pt x="3425297" y="249865"/>
                  </a:cubicBezTo>
                  <a:cubicBezTo>
                    <a:pt x="3404977" y="273995"/>
                    <a:pt x="3366877" y="291775"/>
                    <a:pt x="3342747" y="299395"/>
                  </a:cubicBezTo>
                  <a:cubicBezTo>
                    <a:pt x="3324967" y="305745"/>
                    <a:pt x="3312267" y="305745"/>
                    <a:pt x="3293217" y="303205"/>
                  </a:cubicBezTo>
                  <a:cubicBezTo>
                    <a:pt x="3267817" y="298125"/>
                    <a:pt x="3228447" y="282885"/>
                    <a:pt x="3205587" y="262565"/>
                  </a:cubicBezTo>
                  <a:cubicBezTo>
                    <a:pt x="3183997" y="240975"/>
                    <a:pt x="3166217" y="206685"/>
                    <a:pt x="3161137" y="177475"/>
                  </a:cubicBezTo>
                  <a:cubicBezTo>
                    <a:pt x="3156057" y="146995"/>
                    <a:pt x="3166217" y="105085"/>
                    <a:pt x="3176377" y="82225"/>
                  </a:cubicBezTo>
                  <a:cubicBezTo>
                    <a:pt x="3183997" y="64445"/>
                    <a:pt x="3191617" y="54285"/>
                    <a:pt x="3205587" y="42855"/>
                  </a:cubicBezTo>
                  <a:cubicBezTo>
                    <a:pt x="3225907" y="26345"/>
                    <a:pt x="3267817" y="7295"/>
                    <a:pt x="3293217" y="2215"/>
                  </a:cubicBezTo>
                  <a:cubicBezTo>
                    <a:pt x="3310997" y="-1595"/>
                    <a:pt x="3324967" y="-325"/>
                    <a:pt x="3342747" y="4755"/>
                  </a:cubicBezTo>
                  <a:cubicBezTo>
                    <a:pt x="3366877" y="12375"/>
                    <a:pt x="3404977" y="31425"/>
                    <a:pt x="3425297" y="54285"/>
                  </a:cubicBezTo>
                  <a:cubicBezTo>
                    <a:pt x="3444347" y="78415"/>
                    <a:pt x="3459587" y="113975"/>
                    <a:pt x="3460857" y="144455"/>
                  </a:cubicBezTo>
                  <a:cubicBezTo>
                    <a:pt x="3462127" y="174935"/>
                    <a:pt x="3448157" y="214305"/>
                    <a:pt x="3435457" y="237165"/>
                  </a:cubicBezTo>
                  <a:cubicBezTo>
                    <a:pt x="3425297" y="253675"/>
                    <a:pt x="3416407" y="262565"/>
                    <a:pt x="3401167" y="272725"/>
                  </a:cubicBezTo>
                  <a:cubicBezTo>
                    <a:pt x="3379577" y="286695"/>
                    <a:pt x="3352907" y="295585"/>
                    <a:pt x="3309727" y="303205"/>
                  </a:cubicBezTo>
                  <a:cubicBezTo>
                    <a:pt x="3215747" y="320985"/>
                    <a:pt x="2999847" y="318445"/>
                    <a:pt x="2843637" y="318445"/>
                  </a:cubicBezTo>
                  <a:cubicBezTo>
                    <a:pt x="2687427" y="318445"/>
                    <a:pt x="2462637" y="333685"/>
                    <a:pt x="2369927" y="303205"/>
                  </a:cubicBezTo>
                  <a:cubicBezTo>
                    <a:pt x="2325477" y="287965"/>
                    <a:pt x="2301347" y="268915"/>
                    <a:pt x="2282297" y="242245"/>
                  </a:cubicBezTo>
                  <a:cubicBezTo>
                    <a:pt x="2263247" y="214305"/>
                    <a:pt x="2251817" y="171125"/>
                    <a:pt x="2256897" y="136835"/>
                  </a:cubicBezTo>
                  <a:cubicBezTo>
                    <a:pt x="2260707" y="103815"/>
                    <a:pt x="2281027" y="64445"/>
                    <a:pt x="2306427" y="42855"/>
                  </a:cubicBezTo>
                  <a:cubicBezTo>
                    <a:pt x="2331827" y="19995"/>
                    <a:pt x="2366117" y="11105"/>
                    <a:pt x="2406757" y="4755"/>
                  </a:cubicBezTo>
                  <a:cubicBezTo>
                    <a:pt x="2465177" y="-4135"/>
                    <a:pt x="2547727" y="16185"/>
                    <a:pt x="2625197" y="16185"/>
                  </a:cubicBezTo>
                  <a:cubicBezTo>
                    <a:pt x="2712827" y="17455"/>
                    <a:pt x="2795377" y="2215"/>
                    <a:pt x="2907137" y="2215"/>
                  </a:cubicBezTo>
                  <a:cubicBezTo>
                    <a:pt x="3070967" y="2215"/>
                    <a:pt x="3420217" y="945"/>
                    <a:pt x="3514197" y="32695"/>
                  </a:cubicBezTo>
                  <a:cubicBezTo>
                    <a:pt x="3545947" y="42855"/>
                    <a:pt x="3557377" y="55555"/>
                    <a:pt x="3572617" y="72065"/>
                  </a:cubicBezTo>
                  <a:cubicBezTo>
                    <a:pt x="3587857" y="89845"/>
                    <a:pt x="3600557" y="112705"/>
                    <a:pt x="3606907" y="135565"/>
                  </a:cubicBezTo>
                  <a:cubicBezTo>
                    <a:pt x="3611987" y="157155"/>
                    <a:pt x="3611987" y="183825"/>
                    <a:pt x="3606907" y="206685"/>
                  </a:cubicBezTo>
                  <a:cubicBezTo>
                    <a:pt x="3601827" y="229545"/>
                    <a:pt x="3589127" y="252405"/>
                    <a:pt x="3573887" y="270185"/>
                  </a:cubicBezTo>
                  <a:cubicBezTo>
                    <a:pt x="3558647" y="286695"/>
                    <a:pt x="3543407" y="298125"/>
                    <a:pt x="3515467" y="310825"/>
                  </a:cubicBezTo>
                  <a:cubicBezTo>
                    <a:pt x="3458317" y="336225"/>
                    <a:pt x="3316077" y="366705"/>
                    <a:pt x="3234797" y="376865"/>
                  </a:cubicBezTo>
                  <a:cubicBezTo>
                    <a:pt x="3172567" y="385755"/>
                    <a:pt x="3143357" y="383215"/>
                    <a:pt x="3069697" y="381945"/>
                  </a:cubicBezTo>
                  <a:cubicBezTo>
                    <a:pt x="2923647" y="378135"/>
                    <a:pt x="2607417" y="317175"/>
                    <a:pt x="2410567" y="333685"/>
                  </a:cubicBezTo>
                  <a:cubicBezTo>
                    <a:pt x="2249277" y="346385"/>
                    <a:pt x="2082907" y="423855"/>
                    <a:pt x="1974957" y="437825"/>
                  </a:cubicBezTo>
                  <a:cubicBezTo>
                    <a:pt x="1912727" y="445445"/>
                    <a:pt x="1874627" y="442905"/>
                    <a:pt x="1825097" y="440365"/>
                  </a:cubicBezTo>
                  <a:cubicBezTo>
                    <a:pt x="1775567" y="437825"/>
                    <a:pt x="1746357" y="428935"/>
                    <a:pt x="1677777" y="423855"/>
                  </a:cubicBezTo>
                  <a:cubicBezTo>
                    <a:pt x="1513947" y="412425"/>
                    <a:pt x="1046587" y="407345"/>
                    <a:pt x="853547" y="407345"/>
                  </a:cubicBezTo>
                  <a:cubicBezTo>
                    <a:pt x="748137" y="407345"/>
                    <a:pt x="680827" y="404805"/>
                    <a:pt x="610977" y="409885"/>
                  </a:cubicBezTo>
                  <a:cubicBezTo>
                    <a:pt x="556367" y="413695"/>
                    <a:pt x="515727" y="434015"/>
                    <a:pt x="468737" y="430205"/>
                  </a:cubicBezTo>
                  <a:cubicBezTo>
                    <a:pt x="419207" y="425125"/>
                    <a:pt x="318877" y="384485"/>
                    <a:pt x="318877" y="381945"/>
                  </a:cubicBezTo>
                  <a:cubicBezTo>
                    <a:pt x="320147" y="376865"/>
                    <a:pt x="542397" y="439095"/>
                    <a:pt x="638917" y="449255"/>
                  </a:cubicBezTo>
                  <a:cubicBezTo>
                    <a:pt x="716387" y="458145"/>
                    <a:pt x="814177" y="442905"/>
                    <a:pt x="852277" y="450525"/>
                  </a:cubicBezTo>
                  <a:cubicBezTo>
                    <a:pt x="866247" y="453065"/>
                    <a:pt x="870057" y="455605"/>
                    <a:pt x="880217" y="463225"/>
                  </a:cubicBezTo>
                  <a:cubicBezTo>
                    <a:pt x="894187" y="472115"/>
                    <a:pt x="913237" y="486085"/>
                    <a:pt x="923397" y="505135"/>
                  </a:cubicBezTo>
                  <a:cubicBezTo>
                    <a:pt x="936097" y="526725"/>
                    <a:pt x="946257" y="564825"/>
                    <a:pt x="942447" y="592765"/>
                  </a:cubicBezTo>
                  <a:cubicBezTo>
                    <a:pt x="937367" y="620705"/>
                    <a:pt x="915777" y="652455"/>
                    <a:pt x="897997" y="670235"/>
                  </a:cubicBezTo>
                  <a:cubicBezTo>
                    <a:pt x="881487" y="685475"/>
                    <a:pt x="862437" y="693095"/>
                    <a:pt x="842117" y="696905"/>
                  </a:cubicBezTo>
                  <a:cubicBezTo>
                    <a:pt x="823067" y="700715"/>
                    <a:pt x="811637" y="698175"/>
                    <a:pt x="782427" y="694365"/>
                  </a:cubicBezTo>
                  <a:cubicBezTo>
                    <a:pt x="699877" y="681665"/>
                    <a:pt x="403967" y="569905"/>
                    <a:pt x="322687" y="567365"/>
                  </a:cubicBezTo>
                  <a:cubicBezTo>
                    <a:pt x="294747" y="566095"/>
                    <a:pt x="283317" y="580065"/>
                    <a:pt x="264267" y="578795"/>
                  </a:cubicBezTo>
                  <a:cubicBezTo>
                    <a:pt x="245217" y="578795"/>
                    <a:pt x="223627" y="572445"/>
                    <a:pt x="205847" y="562285"/>
                  </a:cubicBezTo>
                  <a:cubicBezTo>
                    <a:pt x="189337" y="552125"/>
                    <a:pt x="172827" y="536885"/>
                    <a:pt x="162667" y="520375"/>
                  </a:cubicBezTo>
                  <a:cubicBezTo>
                    <a:pt x="152507" y="503865"/>
                    <a:pt x="146157" y="483545"/>
                    <a:pt x="143617" y="463225"/>
                  </a:cubicBezTo>
                  <a:cubicBezTo>
                    <a:pt x="142347" y="444175"/>
                    <a:pt x="146157" y="422585"/>
                    <a:pt x="153777" y="404805"/>
                  </a:cubicBezTo>
                  <a:cubicBezTo>
                    <a:pt x="161397" y="387025"/>
                    <a:pt x="172827" y="370515"/>
                    <a:pt x="190607" y="356545"/>
                  </a:cubicBezTo>
                  <a:cubicBezTo>
                    <a:pt x="216007" y="336225"/>
                    <a:pt x="257917" y="315905"/>
                    <a:pt x="301097" y="304475"/>
                  </a:cubicBezTo>
                  <a:cubicBezTo>
                    <a:pt x="355707" y="291775"/>
                    <a:pt x="412857" y="285425"/>
                    <a:pt x="490327" y="290505"/>
                  </a:cubicBezTo>
                  <a:cubicBezTo>
                    <a:pt x="619867" y="299395"/>
                    <a:pt x="913237" y="359085"/>
                    <a:pt x="999597" y="402265"/>
                  </a:cubicBezTo>
                  <a:cubicBezTo>
                    <a:pt x="1033887" y="420045"/>
                    <a:pt x="1051667" y="434015"/>
                    <a:pt x="1064367" y="456875"/>
                  </a:cubicBezTo>
                  <a:cubicBezTo>
                    <a:pt x="1077067" y="479735"/>
                    <a:pt x="1079607" y="515295"/>
                    <a:pt x="1075797" y="539425"/>
                  </a:cubicBezTo>
                  <a:cubicBezTo>
                    <a:pt x="1073257" y="558475"/>
                    <a:pt x="1063097" y="576255"/>
                    <a:pt x="1050397" y="590225"/>
                  </a:cubicBezTo>
                  <a:cubicBezTo>
                    <a:pt x="1038967" y="604195"/>
                    <a:pt x="1028807" y="613085"/>
                    <a:pt x="1004677" y="623245"/>
                  </a:cubicBezTo>
                  <a:cubicBezTo>
                    <a:pt x="955147" y="644835"/>
                    <a:pt x="834497" y="646105"/>
                    <a:pt x="746867" y="671505"/>
                  </a:cubicBezTo>
                  <a:cubicBezTo>
                    <a:pt x="649077" y="698175"/>
                    <a:pt x="543667" y="733735"/>
                    <a:pt x="444607" y="785805"/>
                  </a:cubicBezTo>
                  <a:cubicBezTo>
                    <a:pt x="336657" y="842955"/>
                    <a:pt x="176637" y="992815"/>
                    <a:pt x="128377" y="1009325"/>
                  </a:cubicBezTo>
                  <a:cubicBezTo>
                    <a:pt x="116947" y="1014405"/>
                    <a:pt x="113137" y="1013135"/>
                    <a:pt x="102977" y="1011865"/>
                  </a:cubicBezTo>
                  <a:cubicBezTo>
                    <a:pt x="85197" y="1008055"/>
                    <a:pt x="49637" y="996625"/>
                    <a:pt x="31857" y="980115"/>
                  </a:cubicBezTo>
                  <a:cubicBezTo>
                    <a:pt x="15347" y="963605"/>
                    <a:pt x="2647" y="934395"/>
                    <a:pt x="107" y="910265"/>
                  </a:cubicBezTo>
                  <a:cubicBezTo>
                    <a:pt x="-1163" y="886135"/>
                    <a:pt x="8997" y="855655"/>
                    <a:pt x="22967" y="836605"/>
                  </a:cubicBezTo>
                  <a:cubicBezTo>
                    <a:pt x="38207" y="817555"/>
                    <a:pt x="49637" y="811205"/>
                    <a:pt x="89007" y="795965"/>
                  </a:cubicBezTo>
                  <a:cubicBezTo>
                    <a:pt x="290937" y="719765"/>
                    <a:pt x="1651107" y="503865"/>
                    <a:pt x="2082907" y="444175"/>
                  </a:cubicBezTo>
                  <a:cubicBezTo>
                    <a:pt x="2289917" y="414965"/>
                    <a:pt x="2468987" y="387025"/>
                    <a:pt x="2545187" y="398455"/>
                  </a:cubicBezTo>
                  <a:cubicBezTo>
                    <a:pt x="2571857" y="402265"/>
                    <a:pt x="2582017" y="408615"/>
                    <a:pt x="2595987" y="420045"/>
                  </a:cubicBezTo>
                  <a:cubicBezTo>
                    <a:pt x="2611227" y="430205"/>
                    <a:pt x="2623927" y="446715"/>
                    <a:pt x="2631547" y="461955"/>
                  </a:cubicBezTo>
                  <a:cubicBezTo>
                    <a:pt x="2639167" y="478465"/>
                    <a:pt x="2644247" y="497515"/>
                    <a:pt x="2642977" y="516565"/>
                  </a:cubicBezTo>
                  <a:cubicBezTo>
                    <a:pt x="2640437" y="539425"/>
                    <a:pt x="2626467" y="573715"/>
                    <a:pt x="2611227" y="592765"/>
                  </a:cubicBezTo>
                  <a:cubicBezTo>
                    <a:pt x="2598527" y="606735"/>
                    <a:pt x="2580747" y="615625"/>
                    <a:pt x="2565507" y="621975"/>
                  </a:cubicBezTo>
                  <a:cubicBezTo>
                    <a:pt x="2550267" y="627055"/>
                    <a:pt x="2538837" y="627055"/>
                    <a:pt x="2519787" y="628325"/>
                  </a:cubicBezTo>
                  <a:cubicBezTo>
                    <a:pt x="2488037" y="630865"/>
                    <a:pt x="2439777" y="633405"/>
                    <a:pt x="2392787" y="627055"/>
                  </a:cubicBezTo>
                  <a:cubicBezTo>
                    <a:pt x="2329287" y="618165"/>
                    <a:pt x="2265787" y="582605"/>
                    <a:pt x="2178157" y="571175"/>
                  </a:cubicBezTo>
                  <a:cubicBezTo>
                    <a:pt x="2040997" y="555935"/>
                    <a:pt x="1817477" y="582605"/>
                    <a:pt x="1646027" y="580065"/>
                  </a:cubicBezTo>
                  <a:cubicBezTo>
                    <a:pt x="1484737" y="578795"/>
                    <a:pt x="1329797" y="563555"/>
                    <a:pt x="1177397" y="559745"/>
                  </a:cubicBezTo>
                  <a:cubicBezTo>
                    <a:pt x="1032617" y="557205"/>
                    <a:pt x="837037" y="585145"/>
                    <a:pt x="755757" y="561015"/>
                  </a:cubicBezTo>
                  <a:cubicBezTo>
                    <a:pt x="718927" y="550855"/>
                    <a:pt x="698607" y="534345"/>
                    <a:pt x="682097" y="515295"/>
                  </a:cubicBezTo>
                  <a:cubicBezTo>
                    <a:pt x="668127" y="498785"/>
                    <a:pt x="661777" y="479735"/>
                    <a:pt x="659237" y="460685"/>
                  </a:cubicBezTo>
                  <a:cubicBezTo>
                    <a:pt x="655427" y="441635"/>
                    <a:pt x="655427" y="421315"/>
                    <a:pt x="663047" y="402265"/>
                  </a:cubicBezTo>
                  <a:cubicBezTo>
                    <a:pt x="673207" y="378135"/>
                    <a:pt x="692257" y="351465"/>
                    <a:pt x="718927" y="333685"/>
                  </a:cubicBezTo>
                  <a:cubicBezTo>
                    <a:pt x="754487" y="310825"/>
                    <a:pt x="800207" y="300665"/>
                    <a:pt x="873867" y="294315"/>
                  </a:cubicBezTo>
                  <a:cubicBezTo>
                    <a:pt x="1050397" y="282885"/>
                    <a:pt x="1505057" y="376865"/>
                    <a:pt x="1786997" y="393375"/>
                  </a:cubicBezTo>
                  <a:cubicBezTo>
                    <a:pt x="2028297" y="408615"/>
                    <a:pt x="2354687" y="367975"/>
                    <a:pt x="2461367" y="402265"/>
                  </a:cubicBezTo>
                  <a:cubicBezTo>
                    <a:pt x="2500737" y="414965"/>
                    <a:pt x="2517247" y="428935"/>
                    <a:pt x="2532487" y="451795"/>
                  </a:cubicBezTo>
                  <a:cubicBezTo>
                    <a:pt x="2547727" y="473385"/>
                    <a:pt x="2556617" y="507675"/>
                    <a:pt x="2552807" y="534345"/>
                  </a:cubicBezTo>
                  <a:cubicBezTo>
                    <a:pt x="2550267" y="561015"/>
                    <a:pt x="2533757" y="592765"/>
                    <a:pt x="2513437" y="610545"/>
                  </a:cubicBezTo>
                  <a:cubicBezTo>
                    <a:pt x="2493117" y="628325"/>
                    <a:pt x="2433427" y="641025"/>
                    <a:pt x="2433427" y="64102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011978" y="7116128"/>
            <a:ext cx="3164205" cy="780098"/>
            <a:chOff x="0" y="0"/>
            <a:chExt cx="4218940" cy="1040130"/>
          </a:xfrm>
        </p:grpSpPr>
        <p:sp>
          <p:nvSpPr>
            <p:cNvPr id="28" name="Freeform 28"/>
            <p:cNvSpPr/>
            <p:nvPr/>
          </p:nvSpPr>
          <p:spPr>
            <a:xfrm>
              <a:off x="47625" y="42787"/>
              <a:ext cx="4121338" cy="948469"/>
            </a:xfrm>
            <a:custGeom>
              <a:avLst/>
              <a:gdLst/>
              <a:ahLst/>
              <a:cxnLst/>
              <a:rect l="l" t="t" r="r" b="b"/>
              <a:pathLst>
                <a:path w="4121338" h="948469">
                  <a:moveTo>
                    <a:pt x="1561465" y="504583"/>
                  </a:moveTo>
                  <a:cubicBezTo>
                    <a:pt x="880745" y="470293"/>
                    <a:pt x="789305" y="452513"/>
                    <a:pt x="672465" y="444893"/>
                  </a:cubicBezTo>
                  <a:cubicBezTo>
                    <a:pt x="546735" y="436003"/>
                    <a:pt x="349885" y="463943"/>
                    <a:pt x="274955" y="434733"/>
                  </a:cubicBezTo>
                  <a:cubicBezTo>
                    <a:pt x="239395" y="420763"/>
                    <a:pt x="220345" y="399173"/>
                    <a:pt x="207645" y="375043"/>
                  </a:cubicBezTo>
                  <a:cubicBezTo>
                    <a:pt x="194945" y="349643"/>
                    <a:pt x="191135" y="312813"/>
                    <a:pt x="197485" y="286143"/>
                  </a:cubicBezTo>
                  <a:cubicBezTo>
                    <a:pt x="203835" y="258203"/>
                    <a:pt x="225425" y="227723"/>
                    <a:pt x="248285" y="211213"/>
                  </a:cubicBezTo>
                  <a:cubicBezTo>
                    <a:pt x="271145" y="195973"/>
                    <a:pt x="290195" y="193433"/>
                    <a:pt x="335915" y="190893"/>
                  </a:cubicBezTo>
                  <a:cubicBezTo>
                    <a:pt x="501015" y="178193"/>
                    <a:pt x="1128395" y="253123"/>
                    <a:pt x="1478915" y="295033"/>
                  </a:cubicBezTo>
                  <a:cubicBezTo>
                    <a:pt x="1779905" y="329323"/>
                    <a:pt x="2087245" y="375043"/>
                    <a:pt x="2315845" y="414413"/>
                  </a:cubicBezTo>
                  <a:cubicBezTo>
                    <a:pt x="2477135" y="441083"/>
                    <a:pt x="2610485" y="474103"/>
                    <a:pt x="2724785" y="493153"/>
                  </a:cubicBezTo>
                  <a:cubicBezTo>
                    <a:pt x="2806065" y="505853"/>
                    <a:pt x="2868295" y="514743"/>
                    <a:pt x="2936875" y="519823"/>
                  </a:cubicBezTo>
                  <a:cubicBezTo>
                    <a:pt x="2999105" y="524903"/>
                    <a:pt x="3075305" y="512203"/>
                    <a:pt x="3114675" y="523633"/>
                  </a:cubicBezTo>
                  <a:cubicBezTo>
                    <a:pt x="3137535" y="528713"/>
                    <a:pt x="3151505" y="536333"/>
                    <a:pt x="3164205" y="550303"/>
                  </a:cubicBezTo>
                  <a:cubicBezTo>
                    <a:pt x="3180715" y="568083"/>
                    <a:pt x="3199765" y="599833"/>
                    <a:pt x="3202305" y="625233"/>
                  </a:cubicBezTo>
                  <a:cubicBezTo>
                    <a:pt x="3204845" y="651903"/>
                    <a:pt x="3194685" y="686193"/>
                    <a:pt x="3179445" y="706513"/>
                  </a:cubicBezTo>
                  <a:cubicBezTo>
                    <a:pt x="3164205" y="728103"/>
                    <a:pt x="3141345" y="745883"/>
                    <a:pt x="3109595" y="752233"/>
                  </a:cubicBezTo>
                  <a:cubicBezTo>
                    <a:pt x="3060065" y="763663"/>
                    <a:pt x="2987675" y="731913"/>
                    <a:pt x="2905125" y="724293"/>
                  </a:cubicBezTo>
                  <a:cubicBezTo>
                    <a:pt x="2783205" y="712863"/>
                    <a:pt x="2638425" y="698893"/>
                    <a:pt x="2446655" y="700163"/>
                  </a:cubicBezTo>
                  <a:cubicBezTo>
                    <a:pt x="2126615" y="703973"/>
                    <a:pt x="1487805" y="766203"/>
                    <a:pt x="1160145" y="795413"/>
                  </a:cubicBezTo>
                  <a:cubicBezTo>
                    <a:pt x="958215" y="814463"/>
                    <a:pt x="837565" y="825893"/>
                    <a:pt x="671195" y="850023"/>
                  </a:cubicBezTo>
                  <a:cubicBezTo>
                    <a:pt x="493395" y="875423"/>
                    <a:pt x="221615" y="947813"/>
                    <a:pt x="122555" y="945273"/>
                  </a:cubicBezTo>
                  <a:cubicBezTo>
                    <a:pt x="86995" y="944003"/>
                    <a:pt x="69215" y="941463"/>
                    <a:pt x="48895" y="928763"/>
                  </a:cubicBezTo>
                  <a:cubicBezTo>
                    <a:pt x="29845" y="916063"/>
                    <a:pt x="12065" y="888123"/>
                    <a:pt x="4445" y="867803"/>
                  </a:cubicBezTo>
                  <a:cubicBezTo>
                    <a:pt x="-1905" y="851293"/>
                    <a:pt x="-635" y="833513"/>
                    <a:pt x="3175" y="817003"/>
                  </a:cubicBezTo>
                  <a:cubicBezTo>
                    <a:pt x="6985" y="800493"/>
                    <a:pt x="14605" y="783983"/>
                    <a:pt x="26035" y="771283"/>
                  </a:cubicBezTo>
                  <a:cubicBezTo>
                    <a:pt x="36195" y="758583"/>
                    <a:pt x="46355" y="749693"/>
                    <a:pt x="66675" y="740803"/>
                  </a:cubicBezTo>
                  <a:cubicBezTo>
                    <a:pt x="108585" y="724293"/>
                    <a:pt x="183515" y="733183"/>
                    <a:pt x="274955" y="717943"/>
                  </a:cubicBezTo>
                  <a:cubicBezTo>
                    <a:pt x="456565" y="684923"/>
                    <a:pt x="840105" y="589673"/>
                    <a:pt x="1078865" y="522363"/>
                  </a:cubicBezTo>
                  <a:cubicBezTo>
                    <a:pt x="1274445" y="467753"/>
                    <a:pt x="1454785" y="408063"/>
                    <a:pt x="1608455" y="352183"/>
                  </a:cubicBezTo>
                  <a:cubicBezTo>
                    <a:pt x="1730375" y="309003"/>
                    <a:pt x="1856105" y="245503"/>
                    <a:pt x="1933575" y="223913"/>
                  </a:cubicBezTo>
                  <a:cubicBezTo>
                    <a:pt x="1974215" y="211213"/>
                    <a:pt x="2000885" y="203593"/>
                    <a:pt x="2030095" y="206133"/>
                  </a:cubicBezTo>
                  <a:cubicBezTo>
                    <a:pt x="2056765" y="209943"/>
                    <a:pt x="2087245" y="221373"/>
                    <a:pt x="2105025" y="239153"/>
                  </a:cubicBezTo>
                  <a:cubicBezTo>
                    <a:pt x="2122805" y="256933"/>
                    <a:pt x="2138045" y="287413"/>
                    <a:pt x="2139315" y="312813"/>
                  </a:cubicBezTo>
                  <a:cubicBezTo>
                    <a:pt x="2140585" y="338213"/>
                    <a:pt x="2131695" y="371233"/>
                    <a:pt x="2116455" y="391553"/>
                  </a:cubicBezTo>
                  <a:cubicBezTo>
                    <a:pt x="2099945" y="411873"/>
                    <a:pt x="2075815" y="423303"/>
                    <a:pt x="2046605" y="434733"/>
                  </a:cubicBezTo>
                  <a:cubicBezTo>
                    <a:pt x="2003425" y="449973"/>
                    <a:pt x="1947545" y="443623"/>
                    <a:pt x="1876425" y="456323"/>
                  </a:cubicBezTo>
                  <a:cubicBezTo>
                    <a:pt x="1751965" y="476643"/>
                    <a:pt x="1555115" y="519823"/>
                    <a:pt x="1367155" y="561733"/>
                  </a:cubicBezTo>
                  <a:cubicBezTo>
                    <a:pt x="1130935" y="615073"/>
                    <a:pt x="785495" y="700163"/>
                    <a:pt x="572135" y="757313"/>
                  </a:cubicBezTo>
                  <a:cubicBezTo>
                    <a:pt x="428625" y="795413"/>
                    <a:pt x="296545" y="856373"/>
                    <a:pt x="212725" y="861453"/>
                  </a:cubicBezTo>
                  <a:cubicBezTo>
                    <a:pt x="168275" y="863993"/>
                    <a:pt x="136525" y="857643"/>
                    <a:pt x="109855" y="846213"/>
                  </a:cubicBezTo>
                  <a:cubicBezTo>
                    <a:pt x="92075" y="838593"/>
                    <a:pt x="78105" y="827163"/>
                    <a:pt x="67945" y="814463"/>
                  </a:cubicBezTo>
                  <a:cubicBezTo>
                    <a:pt x="56515" y="800493"/>
                    <a:pt x="47625" y="785253"/>
                    <a:pt x="45085" y="766203"/>
                  </a:cubicBezTo>
                  <a:cubicBezTo>
                    <a:pt x="41275" y="743343"/>
                    <a:pt x="45085" y="709053"/>
                    <a:pt x="57785" y="688733"/>
                  </a:cubicBezTo>
                  <a:cubicBezTo>
                    <a:pt x="70485" y="667143"/>
                    <a:pt x="98425" y="646823"/>
                    <a:pt x="118745" y="637933"/>
                  </a:cubicBezTo>
                  <a:cubicBezTo>
                    <a:pt x="136525" y="631583"/>
                    <a:pt x="147955" y="640473"/>
                    <a:pt x="172085" y="634123"/>
                  </a:cubicBezTo>
                  <a:cubicBezTo>
                    <a:pt x="233045" y="617613"/>
                    <a:pt x="389255" y="523633"/>
                    <a:pt x="484505" y="489343"/>
                  </a:cubicBezTo>
                  <a:cubicBezTo>
                    <a:pt x="558165" y="461403"/>
                    <a:pt x="620395" y="447433"/>
                    <a:pt x="686435" y="430923"/>
                  </a:cubicBezTo>
                  <a:cubicBezTo>
                    <a:pt x="749935" y="414413"/>
                    <a:pt x="798195" y="401713"/>
                    <a:pt x="874395" y="390283"/>
                  </a:cubicBezTo>
                  <a:cubicBezTo>
                    <a:pt x="989965" y="372503"/>
                    <a:pt x="1190625" y="353453"/>
                    <a:pt x="1313815" y="348373"/>
                  </a:cubicBezTo>
                  <a:cubicBezTo>
                    <a:pt x="1405255" y="345833"/>
                    <a:pt x="1462405" y="348373"/>
                    <a:pt x="1551305" y="353453"/>
                  </a:cubicBezTo>
                  <a:cubicBezTo>
                    <a:pt x="1665605" y="359803"/>
                    <a:pt x="1798955" y="372503"/>
                    <a:pt x="1942465" y="390283"/>
                  </a:cubicBezTo>
                  <a:cubicBezTo>
                    <a:pt x="2120265" y="413143"/>
                    <a:pt x="2392045" y="476643"/>
                    <a:pt x="2534285" y="482993"/>
                  </a:cubicBezTo>
                  <a:cubicBezTo>
                    <a:pt x="2613025" y="485533"/>
                    <a:pt x="2657475" y="479183"/>
                    <a:pt x="2719705" y="469023"/>
                  </a:cubicBezTo>
                  <a:cubicBezTo>
                    <a:pt x="2783205" y="458863"/>
                    <a:pt x="2845435" y="436003"/>
                    <a:pt x="2911475" y="423303"/>
                  </a:cubicBezTo>
                  <a:cubicBezTo>
                    <a:pt x="2983865" y="410603"/>
                    <a:pt x="3046095" y="409333"/>
                    <a:pt x="3134995" y="394093"/>
                  </a:cubicBezTo>
                  <a:cubicBezTo>
                    <a:pt x="3270885" y="372503"/>
                    <a:pt x="3561715" y="287413"/>
                    <a:pt x="3646805" y="296303"/>
                  </a:cubicBezTo>
                  <a:cubicBezTo>
                    <a:pt x="3674745" y="298843"/>
                    <a:pt x="3686175" y="306463"/>
                    <a:pt x="3702685" y="320433"/>
                  </a:cubicBezTo>
                  <a:cubicBezTo>
                    <a:pt x="3723005" y="338213"/>
                    <a:pt x="3745865" y="369963"/>
                    <a:pt x="3750945" y="397903"/>
                  </a:cubicBezTo>
                  <a:cubicBezTo>
                    <a:pt x="3757295" y="425843"/>
                    <a:pt x="3750945" y="463943"/>
                    <a:pt x="3736975" y="488073"/>
                  </a:cubicBezTo>
                  <a:cubicBezTo>
                    <a:pt x="3721735" y="513473"/>
                    <a:pt x="3701415" y="529983"/>
                    <a:pt x="3664585" y="546493"/>
                  </a:cubicBezTo>
                  <a:cubicBezTo>
                    <a:pt x="3594735" y="578243"/>
                    <a:pt x="3446145" y="594753"/>
                    <a:pt x="3317875" y="611263"/>
                  </a:cubicBezTo>
                  <a:cubicBezTo>
                    <a:pt x="3157855" y="631583"/>
                    <a:pt x="2978785" y="639203"/>
                    <a:pt x="2779395" y="648093"/>
                  </a:cubicBezTo>
                  <a:cubicBezTo>
                    <a:pt x="2531745" y="659523"/>
                    <a:pt x="2164715" y="677303"/>
                    <a:pt x="1945005" y="670953"/>
                  </a:cubicBezTo>
                  <a:cubicBezTo>
                    <a:pt x="1801495" y="667143"/>
                    <a:pt x="1682115" y="659523"/>
                    <a:pt x="1590675" y="643013"/>
                  </a:cubicBezTo>
                  <a:cubicBezTo>
                    <a:pt x="1529715" y="631583"/>
                    <a:pt x="1487805" y="618883"/>
                    <a:pt x="1443355" y="598563"/>
                  </a:cubicBezTo>
                  <a:cubicBezTo>
                    <a:pt x="1402715" y="579513"/>
                    <a:pt x="1348105" y="563003"/>
                    <a:pt x="1331595" y="524903"/>
                  </a:cubicBezTo>
                  <a:cubicBezTo>
                    <a:pt x="1310005" y="477913"/>
                    <a:pt x="1329055" y="369963"/>
                    <a:pt x="1360805" y="321703"/>
                  </a:cubicBezTo>
                  <a:cubicBezTo>
                    <a:pt x="1388745" y="277253"/>
                    <a:pt x="1440815" y="262013"/>
                    <a:pt x="1495425" y="234073"/>
                  </a:cubicBezTo>
                  <a:cubicBezTo>
                    <a:pt x="1574165" y="194703"/>
                    <a:pt x="1683385" y="148983"/>
                    <a:pt x="1793875" y="119773"/>
                  </a:cubicBezTo>
                  <a:cubicBezTo>
                    <a:pt x="1923415" y="85483"/>
                    <a:pt x="2080895" y="55003"/>
                    <a:pt x="2228215" y="55003"/>
                  </a:cubicBezTo>
                  <a:cubicBezTo>
                    <a:pt x="2380615" y="55003"/>
                    <a:pt x="2571115" y="112153"/>
                    <a:pt x="2690495" y="123583"/>
                  </a:cubicBezTo>
                  <a:cubicBezTo>
                    <a:pt x="2765425" y="131203"/>
                    <a:pt x="2820035" y="124853"/>
                    <a:pt x="2873375" y="132473"/>
                  </a:cubicBezTo>
                  <a:cubicBezTo>
                    <a:pt x="2914015" y="138823"/>
                    <a:pt x="2953385" y="146443"/>
                    <a:pt x="2982595" y="157873"/>
                  </a:cubicBezTo>
                  <a:cubicBezTo>
                    <a:pt x="3004185" y="168033"/>
                    <a:pt x="3021965" y="176923"/>
                    <a:pt x="3035935" y="192163"/>
                  </a:cubicBezTo>
                  <a:cubicBezTo>
                    <a:pt x="3049905" y="207403"/>
                    <a:pt x="3062605" y="227723"/>
                    <a:pt x="3067685" y="248043"/>
                  </a:cubicBezTo>
                  <a:cubicBezTo>
                    <a:pt x="3074035" y="268363"/>
                    <a:pt x="3075305" y="291223"/>
                    <a:pt x="3070225" y="311543"/>
                  </a:cubicBezTo>
                  <a:cubicBezTo>
                    <a:pt x="3066415" y="331863"/>
                    <a:pt x="3056255" y="353453"/>
                    <a:pt x="3043555" y="369963"/>
                  </a:cubicBezTo>
                  <a:cubicBezTo>
                    <a:pt x="3029585" y="385203"/>
                    <a:pt x="3013075" y="400443"/>
                    <a:pt x="2991485" y="408063"/>
                  </a:cubicBezTo>
                  <a:cubicBezTo>
                    <a:pt x="2966085" y="416953"/>
                    <a:pt x="2936875" y="406793"/>
                    <a:pt x="2897505" y="411873"/>
                  </a:cubicBezTo>
                  <a:cubicBezTo>
                    <a:pt x="2831465" y="420763"/>
                    <a:pt x="2732405" y="458863"/>
                    <a:pt x="2632075" y="475373"/>
                  </a:cubicBezTo>
                  <a:cubicBezTo>
                    <a:pt x="2506345" y="494423"/>
                    <a:pt x="2341245" y="503313"/>
                    <a:pt x="2202815" y="508393"/>
                  </a:cubicBezTo>
                  <a:cubicBezTo>
                    <a:pt x="2072005" y="512203"/>
                    <a:pt x="1899285" y="517283"/>
                    <a:pt x="1823085" y="502043"/>
                  </a:cubicBezTo>
                  <a:cubicBezTo>
                    <a:pt x="1790065" y="495693"/>
                    <a:pt x="1772285" y="490613"/>
                    <a:pt x="1753235" y="474103"/>
                  </a:cubicBezTo>
                  <a:cubicBezTo>
                    <a:pt x="1731645" y="456323"/>
                    <a:pt x="1712595" y="420763"/>
                    <a:pt x="1706245" y="395363"/>
                  </a:cubicBezTo>
                  <a:cubicBezTo>
                    <a:pt x="1701165" y="373773"/>
                    <a:pt x="1704975" y="352183"/>
                    <a:pt x="1711325" y="333133"/>
                  </a:cubicBezTo>
                  <a:cubicBezTo>
                    <a:pt x="1717675" y="314083"/>
                    <a:pt x="1730375" y="293763"/>
                    <a:pt x="1744345" y="279793"/>
                  </a:cubicBezTo>
                  <a:cubicBezTo>
                    <a:pt x="1759585" y="265823"/>
                    <a:pt x="1772285" y="256933"/>
                    <a:pt x="1797685" y="249313"/>
                  </a:cubicBezTo>
                  <a:cubicBezTo>
                    <a:pt x="1847215" y="235343"/>
                    <a:pt x="1933575" y="250583"/>
                    <a:pt x="2027555" y="241693"/>
                  </a:cubicBezTo>
                  <a:cubicBezTo>
                    <a:pt x="2177415" y="226453"/>
                    <a:pt x="2437765" y="162953"/>
                    <a:pt x="2610485" y="143903"/>
                  </a:cubicBezTo>
                  <a:cubicBezTo>
                    <a:pt x="2747645" y="127393"/>
                    <a:pt x="2879725" y="131203"/>
                    <a:pt x="2981325" y="121043"/>
                  </a:cubicBezTo>
                  <a:cubicBezTo>
                    <a:pt x="3051175" y="113423"/>
                    <a:pt x="3101975" y="108343"/>
                    <a:pt x="3159125" y="96913"/>
                  </a:cubicBezTo>
                  <a:cubicBezTo>
                    <a:pt x="3216275" y="85483"/>
                    <a:pt x="3258185" y="65163"/>
                    <a:pt x="3322955" y="51193"/>
                  </a:cubicBezTo>
                  <a:cubicBezTo>
                    <a:pt x="3414395" y="33413"/>
                    <a:pt x="3565525" y="11823"/>
                    <a:pt x="3662045" y="8013"/>
                  </a:cubicBezTo>
                  <a:cubicBezTo>
                    <a:pt x="3733165" y="4203"/>
                    <a:pt x="3818255" y="-11037"/>
                    <a:pt x="3848735" y="14363"/>
                  </a:cubicBezTo>
                  <a:cubicBezTo>
                    <a:pt x="3870325" y="32143"/>
                    <a:pt x="3851275" y="95643"/>
                    <a:pt x="3866515" y="101993"/>
                  </a:cubicBezTo>
                  <a:cubicBezTo>
                    <a:pt x="3880485" y="107073"/>
                    <a:pt x="3909695" y="56273"/>
                    <a:pt x="3936365" y="47383"/>
                  </a:cubicBezTo>
                  <a:cubicBezTo>
                    <a:pt x="3963035" y="37223"/>
                    <a:pt x="4001135" y="41033"/>
                    <a:pt x="4023995" y="46113"/>
                  </a:cubicBezTo>
                  <a:cubicBezTo>
                    <a:pt x="4040505" y="49923"/>
                    <a:pt x="4051935" y="55003"/>
                    <a:pt x="4064635" y="66433"/>
                  </a:cubicBezTo>
                  <a:cubicBezTo>
                    <a:pt x="4082415" y="81673"/>
                    <a:pt x="4107815" y="112153"/>
                    <a:pt x="4115435" y="138823"/>
                  </a:cubicBezTo>
                  <a:cubicBezTo>
                    <a:pt x="4123055" y="165493"/>
                    <a:pt x="4121785" y="201053"/>
                    <a:pt x="4111625" y="227723"/>
                  </a:cubicBezTo>
                  <a:cubicBezTo>
                    <a:pt x="4101465" y="253123"/>
                    <a:pt x="4073525" y="281063"/>
                    <a:pt x="4054475" y="295033"/>
                  </a:cubicBezTo>
                  <a:cubicBezTo>
                    <a:pt x="4041775" y="305193"/>
                    <a:pt x="4027805" y="309003"/>
                    <a:pt x="4013835" y="312813"/>
                  </a:cubicBezTo>
                  <a:cubicBezTo>
                    <a:pt x="3998595" y="315353"/>
                    <a:pt x="3985895" y="317893"/>
                    <a:pt x="3969385" y="315353"/>
                  </a:cubicBezTo>
                  <a:cubicBezTo>
                    <a:pt x="3945255" y="311543"/>
                    <a:pt x="3908425" y="298843"/>
                    <a:pt x="3888105" y="279793"/>
                  </a:cubicBezTo>
                  <a:cubicBezTo>
                    <a:pt x="3867785" y="260743"/>
                    <a:pt x="3850005" y="228993"/>
                    <a:pt x="3846195" y="202323"/>
                  </a:cubicBezTo>
                  <a:cubicBezTo>
                    <a:pt x="3841115" y="174383"/>
                    <a:pt x="3850005" y="136283"/>
                    <a:pt x="3858895" y="114693"/>
                  </a:cubicBezTo>
                  <a:cubicBezTo>
                    <a:pt x="3865245" y="98183"/>
                    <a:pt x="3872865" y="89293"/>
                    <a:pt x="3885565" y="77863"/>
                  </a:cubicBezTo>
                  <a:cubicBezTo>
                    <a:pt x="3903345" y="62623"/>
                    <a:pt x="3941445" y="44843"/>
                    <a:pt x="3965575" y="39763"/>
                  </a:cubicBezTo>
                  <a:cubicBezTo>
                    <a:pt x="3982085" y="37223"/>
                    <a:pt x="3993515" y="37223"/>
                    <a:pt x="4010025" y="42303"/>
                  </a:cubicBezTo>
                  <a:cubicBezTo>
                    <a:pt x="4032885" y="48653"/>
                    <a:pt x="4068445" y="65163"/>
                    <a:pt x="4086225" y="86753"/>
                  </a:cubicBezTo>
                  <a:cubicBezTo>
                    <a:pt x="4105275" y="108343"/>
                    <a:pt x="4116705" y="145173"/>
                    <a:pt x="4120515" y="168033"/>
                  </a:cubicBezTo>
                  <a:cubicBezTo>
                    <a:pt x="4123055" y="185813"/>
                    <a:pt x="4119245" y="198513"/>
                    <a:pt x="4115435" y="212483"/>
                  </a:cubicBezTo>
                  <a:cubicBezTo>
                    <a:pt x="4111625" y="227723"/>
                    <a:pt x="4111625" y="241693"/>
                    <a:pt x="4097655" y="254393"/>
                  </a:cubicBezTo>
                  <a:cubicBezTo>
                    <a:pt x="4069715" y="278523"/>
                    <a:pt x="3975735" y="303923"/>
                    <a:pt x="3919855" y="306463"/>
                  </a:cubicBezTo>
                  <a:cubicBezTo>
                    <a:pt x="3870325" y="307733"/>
                    <a:pt x="3833495" y="279793"/>
                    <a:pt x="3777615" y="275983"/>
                  </a:cubicBezTo>
                  <a:cubicBezTo>
                    <a:pt x="3697605" y="269633"/>
                    <a:pt x="3588385" y="277253"/>
                    <a:pt x="3481705" y="291223"/>
                  </a:cubicBezTo>
                  <a:cubicBezTo>
                    <a:pt x="3358515" y="307733"/>
                    <a:pt x="3207385" y="359803"/>
                    <a:pt x="3079115" y="375043"/>
                  </a:cubicBezTo>
                  <a:cubicBezTo>
                    <a:pt x="2966085" y="389013"/>
                    <a:pt x="2853055" y="381393"/>
                    <a:pt x="2756535" y="389013"/>
                  </a:cubicBezTo>
                  <a:cubicBezTo>
                    <a:pt x="2677795" y="395363"/>
                    <a:pt x="2628265" y="402983"/>
                    <a:pt x="2540635" y="415683"/>
                  </a:cubicBezTo>
                  <a:cubicBezTo>
                    <a:pt x="2406015" y="434733"/>
                    <a:pt x="2163445" y="491883"/>
                    <a:pt x="2027555" y="503313"/>
                  </a:cubicBezTo>
                  <a:cubicBezTo>
                    <a:pt x="1939925" y="509663"/>
                    <a:pt x="1857375" y="512203"/>
                    <a:pt x="1809115" y="500773"/>
                  </a:cubicBezTo>
                  <a:cubicBezTo>
                    <a:pt x="1783715" y="494423"/>
                    <a:pt x="1768475" y="489343"/>
                    <a:pt x="1753235" y="474103"/>
                  </a:cubicBezTo>
                  <a:cubicBezTo>
                    <a:pt x="1732915" y="456323"/>
                    <a:pt x="1711325" y="423303"/>
                    <a:pt x="1706245" y="395363"/>
                  </a:cubicBezTo>
                  <a:cubicBezTo>
                    <a:pt x="1702435" y="366153"/>
                    <a:pt x="1710055" y="329323"/>
                    <a:pt x="1725295" y="305193"/>
                  </a:cubicBezTo>
                  <a:cubicBezTo>
                    <a:pt x="1740535" y="279793"/>
                    <a:pt x="1760855" y="260743"/>
                    <a:pt x="1797685" y="249313"/>
                  </a:cubicBezTo>
                  <a:cubicBezTo>
                    <a:pt x="1875155" y="223913"/>
                    <a:pt x="2059305" y="260743"/>
                    <a:pt x="2191385" y="256933"/>
                  </a:cubicBezTo>
                  <a:cubicBezTo>
                    <a:pt x="2326005" y="253123"/>
                    <a:pt x="2463165" y="240423"/>
                    <a:pt x="2596515" y="223913"/>
                  </a:cubicBezTo>
                  <a:cubicBezTo>
                    <a:pt x="2727325" y="207403"/>
                    <a:pt x="2912745" y="143903"/>
                    <a:pt x="2982595" y="157873"/>
                  </a:cubicBezTo>
                  <a:cubicBezTo>
                    <a:pt x="3009265" y="164223"/>
                    <a:pt x="3021965" y="175653"/>
                    <a:pt x="3035935" y="192163"/>
                  </a:cubicBezTo>
                  <a:cubicBezTo>
                    <a:pt x="3053715" y="213753"/>
                    <a:pt x="3071495" y="250583"/>
                    <a:pt x="3072765" y="279793"/>
                  </a:cubicBezTo>
                  <a:cubicBezTo>
                    <a:pt x="3074035" y="309003"/>
                    <a:pt x="3061335" y="347103"/>
                    <a:pt x="3043555" y="369963"/>
                  </a:cubicBezTo>
                  <a:cubicBezTo>
                    <a:pt x="3024505" y="392823"/>
                    <a:pt x="2999105" y="409333"/>
                    <a:pt x="2961005" y="416953"/>
                  </a:cubicBezTo>
                  <a:cubicBezTo>
                    <a:pt x="2892425" y="430923"/>
                    <a:pt x="2755265" y="395363"/>
                    <a:pt x="2651125" y="378853"/>
                  </a:cubicBezTo>
                  <a:cubicBezTo>
                    <a:pt x="2545715" y="362343"/>
                    <a:pt x="2425065" y="328053"/>
                    <a:pt x="2332355" y="315353"/>
                  </a:cubicBezTo>
                  <a:cubicBezTo>
                    <a:pt x="2262505" y="306463"/>
                    <a:pt x="2214245" y="298843"/>
                    <a:pt x="2145665" y="302653"/>
                  </a:cubicBezTo>
                  <a:cubicBezTo>
                    <a:pt x="2061845" y="307733"/>
                    <a:pt x="1942465" y="338213"/>
                    <a:pt x="1870075" y="357263"/>
                  </a:cubicBezTo>
                  <a:cubicBezTo>
                    <a:pt x="1820545" y="369963"/>
                    <a:pt x="1793875" y="377583"/>
                    <a:pt x="1749425" y="395363"/>
                  </a:cubicBezTo>
                  <a:cubicBezTo>
                    <a:pt x="1687195" y="420763"/>
                    <a:pt x="1581785" y="514743"/>
                    <a:pt x="1538605" y="496963"/>
                  </a:cubicBezTo>
                  <a:cubicBezTo>
                    <a:pt x="1505585" y="484263"/>
                    <a:pt x="1475105" y="372503"/>
                    <a:pt x="1490345" y="358533"/>
                  </a:cubicBezTo>
                  <a:cubicBezTo>
                    <a:pt x="1504315" y="345833"/>
                    <a:pt x="1574165" y="397903"/>
                    <a:pt x="1617345" y="410603"/>
                  </a:cubicBezTo>
                  <a:cubicBezTo>
                    <a:pt x="1661795" y="424573"/>
                    <a:pt x="1697355" y="430923"/>
                    <a:pt x="1753235" y="437273"/>
                  </a:cubicBezTo>
                  <a:cubicBezTo>
                    <a:pt x="1842135" y="448703"/>
                    <a:pt x="1966595" y="456323"/>
                    <a:pt x="2099945" y="456323"/>
                  </a:cubicBezTo>
                  <a:cubicBezTo>
                    <a:pt x="2285365" y="456323"/>
                    <a:pt x="2554605" y="437273"/>
                    <a:pt x="2761615" y="422033"/>
                  </a:cubicBezTo>
                  <a:cubicBezTo>
                    <a:pt x="2944495" y="409333"/>
                    <a:pt x="3123565" y="397903"/>
                    <a:pt x="3281045" y="373773"/>
                  </a:cubicBezTo>
                  <a:cubicBezTo>
                    <a:pt x="3414395" y="353453"/>
                    <a:pt x="3570605" y="283603"/>
                    <a:pt x="3646805" y="296303"/>
                  </a:cubicBezTo>
                  <a:cubicBezTo>
                    <a:pt x="3683635" y="302653"/>
                    <a:pt x="3707765" y="322973"/>
                    <a:pt x="3725545" y="342023"/>
                  </a:cubicBezTo>
                  <a:cubicBezTo>
                    <a:pt x="3739515" y="358533"/>
                    <a:pt x="3748405" y="377583"/>
                    <a:pt x="3750945" y="397903"/>
                  </a:cubicBezTo>
                  <a:cubicBezTo>
                    <a:pt x="3754755" y="424573"/>
                    <a:pt x="3748405" y="465213"/>
                    <a:pt x="3736975" y="488073"/>
                  </a:cubicBezTo>
                  <a:cubicBezTo>
                    <a:pt x="3726815" y="508393"/>
                    <a:pt x="3719195" y="518553"/>
                    <a:pt x="3693795" y="532523"/>
                  </a:cubicBezTo>
                  <a:cubicBezTo>
                    <a:pt x="3618865" y="574433"/>
                    <a:pt x="3357245" y="608723"/>
                    <a:pt x="3184525" y="639203"/>
                  </a:cubicBezTo>
                  <a:cubicBezTo>
                    <a:pt x="3007995" y="670953"/>
                    <a:pt x="2800985" y="714133"/>
                    <a:pt x="2646045" y="717943"/>
                  </a:cubicBezTo>
                  <a:cubicBezTo>
                    <a:pt x="2529205" y="721753"/>
                    <a:pt x="2464435" y="705243"/>
                    <a:pt x="2337435" y="690003"/>
                  </a:cubicBezTo>
                  <a:cubicBezTo>
                    <a:pt x="2134235" y="664603"/>
                    <a:pt x="1771015" y="580783"/>
                    <a:pt x="1548765" y="565543"/>
                  </a:cubicBezTo>
                  <a:cubicBezTo>
                    <a:pt x="1387475" y="555383"/>
                    <a:pt x="1265555" y="563003"/>
                    <a:pt x="1129665" y="575703"/>
                  </a:cubicBezTo>
                  <a:cubicBezTo>
                    <a:pt x="998855" y="588403"/>
                    <a:pt x="882015" y="608723"/>
                    <a:pt x="747395" y="640473"/>
                  </a:cubicBezTo>
                  <a:cubicBezTo>
                    <a:pt x="593725" y="676033"/>
                    <a:pt x="366395" y="742073"/>
                    <a:pt x="259715" y="786523"/>
                  </a:cubicBezTo>
                  <a:cubicBezTo>
                    <a:pt x="203835" y="810653"/>
                    <a:pt x="168275" y="852563"/>
                    <a:pt x="136525" y="853833"/>
                  </a:cubicBezTo>
                  <a:cubicBezTo>
                    <a:pt x="116205" y="855103"/>
                    <a:pt x="100965" y="843673"/>
                    <a:pt x="86995" y="833513"/>
                  </a:cubicBezTo>
                  <a:cubicBezTo>
                    <a:pt x="73025" y="822083"/>
                    <a:pt x="60325" y="806843"/>
                    <a:pt x="53975" y="791603"/>
                  </a:cubicBezTo>
                  <a:cubicBezTo>
                    <a:pt x="46355" y="776363"/>
                    <a:pt x="42545" y="757313"/>
                    <a:pt x="42545" y="739533"/>
                  </a:cubicBezTo>
                  <a:cubicBezTo>
                    <a:pt x="43815" y="721753"/>
                    <a:pt x="47625" y="703973"/>
                    <a:pt x="57785" y="688733"/>
                  </a:cubicBezTo>
                  <a:cubicBezTo>
                    <a:pt x="70485" y="669683"/>
                    <a:pt x="98425" y="646823"/>
                    <a:pt x="118745" y="637933"/>
                  </a:cubicBezTo>
                  <a:cubicBezTo>
                    <a:pt x="136525" y="631583"/>
                    <a:pt x="165735" y="629043"/>
                    <a:pt x="172085" y="634123"/>
                  </a:cubicBezTo>
                  <a:cubicBezTo>
                    <a:pt x="174625" y="636663"/>
                    <a:pt x="169545" y="644283"/>
                    <a:pt x="173355" y="646823"/>
                  </a:cubicBezTo>
                  <a:cubicBezTo>
                    <a:pt x="184785" y="655713"/>
                    <a:pt x="249555" y="634123"/>
                    <a:pt x="320675" y="617613"/>
                  </a:cubicBezTo>
                  <a:cubicBezTo>
                    <a:pt x="504825" y="574433"/>
                    <a:pt x="1039495" y="416953"/>
                    <a:pt x="1320165" y="347103"/>
                  </a:cubicBezTo>
                  <a:cubicBezTo>
                    <a:pt x="1522095" y="296303"/>
                    <a:pt x="1712595" y="249313"/>
                    <a:pt x="1843405" y="227723"/>
                  </a:cubicBezTo>
                  <a:cubicBezTo>
                    <a:pt x="1920875" y="213753"/>
                    <a:pt x="1983105" y="199783"/>
                    <a:pt x="2030095" y="206133"/>
                  </a:cubicBezTo>
                  <a:cubicBezTo>
                    <a:pt x="2061845" y="211213"/>
                    <a:pt x="2087245" y="223913"/>
                    <a:pt x="2105025" y="239153"/>
                  </a:cubicBezTo>
                  <a:cubicBezTo>
                    <a:pt x="2118995" y="251853"/>
                    <a:pt x="2129155" y="267093"/>
                    <a:pt x="2134235" y="286143"/>
                  </a:cubicBezTo>
                  <a:cubicBezTo>
                    <a:pt x="2139315" y="309003"/>
                    <a:pt x="2140585" y="344563"/>
                    <a:pt x="2130425" y="367423"/>
                  </a:cubicBezTo>
                  <a:cubicBezTo>
                    <a:pt x="2120265" y="390283"/>
                    <a:pt x="2107565" y="404253"/>
                    <a:pt x="2073275" y="425843"/>
                  </a:cubicBezTo>
                  <a:cubicBezTo>
                    <a:pt x="1951355" y="500773"/>
                    <a:pt x="1433195" y="634123"/>
                    <a:pt x="1125855" y="720483"/>
                  </a:cubicBezTo>
                  <a:cubicBezTo>
                    <a:pt x="841375" y="800493"/>
                    <a:pt x="475615" y="903363"/>
                    <a:pt x="294005" y="932573"/>
                  </a:cubicBezTo>
                  <a:cubicBezTo>
                    <a:pt x="206375" y="946543"/>
                    <a:pt x="140335" y="951623"/>
                    <a:pt x="97155" y="946543"/>
                  </a:cubicBezTo>
                  <a:cubicBezTo>
                    <a:pt x="75565" y="942733"/>
                    <a:pt x="62865" y="937653"/>
                    <a:pt x="48895" y="928763"/>
                  </a:cubicBezTo>
                  <a:cubicBezTo>
                    <a:pt x="34925" y="919873"/>
                    <a:pt x="22225" y="908443"/>
                    <a:pt x="14605" y="891933"/>
                  </a:cubicBezTo>
                  <a:cubicBezTo>
                    <a:pt x="4445" y="872883"/>
                    <a:pt x="-635" y="838593"/>
                    <a:pt x="3175" y="817003"/>
                  </a:cubicBezTo>
                  <a:cubicBezTo>
                    <a:pt x="5715" y="799223"/>
                    <a:pt x="13335" y="783983"/>
                    <a:pt x="26035" y="771283"/>
                  </a:cubicBezTo>
                  <a:cubicBezTo>
                    <a:pt x="40005" y="756043"/>
                    <a:pt x="53975" y="747153"/>
                    <a:pt x="92075" y="734453"/>
                  </a:cubicBezTo>
                  <a:cubicBezTo>
                    <a:pt x="230505" y="687463"/>
                    <a:pt x="771525" y="630313"/>
                    <a:pt x="1142365" y="588403"/>
                  </a:cubicBezTo>
                  <a:cubicBezTo>
                    <a:pt x="1555115" y="541413"/>
                    <a:pt x="2124075" y="485533"/>
                    <a:pt x="2455545" y="476643"/>
                  </a:cubicBezTo>
                  <a:cubicBezTo>
                    <a:pt x="2657475" y="470293"/>
                    <a:pt x="2817495" y="474103"/>
                    <a:pt x="2943225" y="489343"/>
                  </a:cubicBezTo>
                  <a:cubicBezTo>
                    <a:pt x="3024505" y="499503"/>
                    <a:pt x="3101975" y="512203"/>
                    <a:pt x="3141345" y="533793"/>
                  </a:cubicBezTo>
                  <a:cubicBezTo>
                    <a:pt x="3162935" y="545223"/>
                    <a:pt x="3173095" y="555383"/>
                    <a:pt x="3183255" y="571893"/>
                  </a:cubicBezTo>
                  <a:cubicBezTo>
                    <a:pt x="3194685" y="593483"/>
                    <a:pt x="3203575" y="630313"/>
                    <a:pt x="3201035" y="654443"/>
                  </a:cubicBezTo>
                  <a:cubicBezTo>
                    <a:pt x="3199765" y="673493"/>
                    <a:pt x="3192145" y="691273"/>
                    <a:pt x="3179445" y="706513"/>
                  </a:cubicBezTo>
                  <a:cubicBezTo>
                    <a:pt x="3164205" y="725563"/>
                    <a:pt x="3138805" y="744613"/>
                    <a:pt x="3109595" y="752233"/>
                  </a:cubicBezTo>
                  <a:cubicBezTo>
                    <a:pt x="3070225" y="763663"/>
                    <a:pt x="3027045" y="757313"/>
                    <a:pt x="2959735" y="750963"/>
                  </a:cubicBezTo>
                  <a:cubicBezTo>
                    <a:pt x="2816225" y="735723"/>
                    <a:pt x="2525395" y="664603"/>
                    <a:pt x="2289175" y="626503"/>
                  </a:cubicBezTo>
                  <a:cubicBezTo>
                    <a:pt x="2027555" y="583323"/>
                    <a:pt x="1762125" y="538873"/>
                    <a:pt x="1459865" y="508393"/>
                  </a:cubicBezTo>
                  <a:cubicBezTo>
                    <a:pt x="1101725" y="471563"/>
                    <a:pt x="423545" y="496963"/>
                    <a:pt x="274955" y="434733"/>
                  </a:cubicBezTo>
                  <a:cubicBezTo>
                    <a:pt x="234315" y="418223"/>
                    <a:pt x="220345" y="399173"/>
                    <a:pt x="207645" y="375043"/>
                  </a:cubicBezTo>
                  <a:cubicBezTo>
                    <a:pt x="194945" y="349643"/>
                    <a:pt x="192405" y="311543"/>
                    <a:pt x="197485" y="286143"/>
                  </a:cubicBezTo>
                  <a:cubicBezTo>
                    <a:pt x="201295" y="264553"/>
                    <a:pt x="210185" y="246773"/>
                    <a:pt x="225425" y="231533"/>
                  </a:cubicBezTo>
                  <a:cubicBezTo>
                    <a:pt x="244475" y="213753"/>
                    <a:pt x="262255" y="199783"/>
                    <a:pt x="305435" y="190893"/>
                  </a:cubicBezTo>
                  <a:cubicBezTo>
                    <a:pt x="452755" y="159143"/>
                    <a:pt x="1109345" y="254393"/>
                    <a:pt x="1337945" y="260743"/>
                  </a:cubicBezTo>
                  <a:cubicBezTo>
                    <a:pt x="1450975" y="264553"/>
                    <a:pt x="1534795" y="241693"/>
                    <a:pt x="1591945" y="259473"/>
                  </a:cubicBezTo>
                  <a:cubicBezTo>
                    <a:pt x="1624965" y="269633"/>
                    <a:pt x="1649095" y="286143"/>
                    <a:pt x="1664335" y="309003"/>
                  </a:cubicBezTo>
                  <a:cubicBezTo>
                    <a:pt x="1679575" y="331863"/>
                    <a:pt x="1688465" y="367423"/>
                    <a:pt x="1685925" y="395363"/>
                  </a:cubicBezTo>
                  <a:cubicBezTo>
                    <a:pt x="1682115" y="422033"/>
                    <a:pt x="1665605" y="455053"/>
                    <a:pt x="1644015" y="472833"/>
                  </a:cubicBezTo>
                  <a:cubicBezTo>
                    <a:pt x="1623695" y="491883"/>
                    <a:pt x="1561465" y="504583"/>
                    <a:pt x="1561465" y="5045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374446" y="8752521"/>
            <a:ext cx="1613642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SCD TYPE 2 &amp; TYPE 6 (StartDate, EndDate, IsCurrent) để theo dõi lịch sử nâng hạng VIPLevel của người chơi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30175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Bảng Chiều (Dimension)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Khóa Thay Thế (SK)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Khóa Nghiệp Vụ (AK)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Cơ Chế SCD Áp Dụng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PlayerAltKey (PlayerID)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2 (HistoricalVIP) + Type 6 (CurrentVIP)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DimPlayerProfile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ProfileKey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VIPLevelBand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4 (Mini-Dimension) &amp; Type 5 (Outrigger)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PublisherKey (INT IDENTITY)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PublisherAltKey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SCD Type 1 + Bảng bao đóng DimPublisherClosure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DimTime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TimeKey (YYYYMMDD)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Date (Alternate 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Type 1 (Calendar &amp; Fiscal Alternative Hierarchies)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 (RAGGED)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003997"/>
            <a:ext cx="13510974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NHIỀU QUỐC GIA KHÔNG CÓ CẤP BANG (NHƯ VIỆT NAM, SINGAPORE, NHẬT BẢN, BA LAN) TẠO THÀNH CÂY PHÂN CẤP KHUYẾT (RAGGED / GENERALIZED HIERARCHY).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17400"/>
            <a:ext cx="3514184" cy="55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4233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77026" y="2740363"/>
            <a:ext cx="12482274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DimCity có StateKey (0,1) và CountryKey (0,1) kèm ràng buộc CHECK CONSTRAINT loại trừ (XOR) và cấu hình HideMemberIf trên SSAS.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 (RAGGED)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003997"/>
            <a:ext cx="13510974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NHIỀU QUỐC GIA KHÔNG CÓ CẤP BANG (NHƯ VIỆT NAM, SINGAPORE, NHẬT BẢN, BA LAN) TẠO THÀNH CÂY PHÂN CẤP KHUYẾT (RAGGED / GENERALIZED HIERARCHY).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17400"/>
            <a:ext cx="3514184" cy="55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4233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77026" y="2740363"/>
            <a:ext cx="12482274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DimCity có StateKey (0,1) và CountryKey (0,1) kèm ràng buộc CHECK CONSTRAINT loại trừ (XOR) và cấu hình HideMemberIf trên SSAS.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GENRE &amp; ORDER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265935"/>
            <a:ext cx="12720251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MỘT TỰA GAME THUỘC NHIỀU THỂ LOẠI (MANY-TO-MANY) GÂY NGUY CƠ CỘNG TRÙNG DOANH THU (DOUBLE-COUNTING).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20203"/>
            <a:ext cx="3514184" cy="55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4278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86551" y="2740363"/>
            <a:ext cx="9099742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bảng cầu nối BridgeGameGenre có trọng số WeightFactor (tổng = 1.0) và dùng ROW_NUMBER() OVER (PARTITION BY OrderID) tạo khóa Degenerate (OrderNo, OrderLineNo).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526798" cy="10418785"/>
            <a:chOff x="0" y="0"/>
            <a:chExt cx="1718992" cy="27440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8992" cy="2744042"/>
            </a:xfrm>
            <a:custGeom>
              <a:avLst/>
              <a:gdLst/>
              <a:ahLst/>
              <a:cxnLst/>
              <a:rect l="l" t="t" r="r" b="b"/>
              <a:pathLst>
                <a:path w="1718992" h="2744042">
                  <a:moveTo>
                    <a:pt x="0" y="0"/>
                  </a:moveTo>
                  <a:lnTo>
                    <a:pt x="1718992" y="0"/>
                  </a:lnTo>
                  <a:lnTo>
                    <a:pt x="1718992" y="2744042"/>
                  </a:lnTo>
                  <a:lnTo>
                    <a:pt x="0" y="274404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18992" cy="2791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526798" y="1779051"/>
            <a:ext cx="11761202" cy="6860683"/>
          </a:xfrm>
          <a:custGeom>
            <a:avLst/>
            <a:gdLst/>
            <a:ahLst/>
            <a:cxnLst/>
            <a:rect l="l" t="t" r="r" b="b"/>
            <a:pathLst>
              <a:path w="11761202" h="6860683">
                <a:moveTo>
                  <a:pt x="0" y="0"/>
                </a:moveTo>
                <a:lnTo>
                  <a:pt x="11761202" y="0"/>
                </a:lnTo>
                <a:lnTo>
                  <a:pt x="11761202" y="6860683"/>
                </a:lnTo>
                <a:lnTo>
                  <a:pt x="0" y="686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" t="-2308" r="-2159" b="-230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56848" y="527334"/>
            <a:ext cx="8403819" cy="12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879230" y="181238"/>
            <a:ext cx="6812215" cy="421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49"/>
              </a:lnSpc>
            </a:pPr>
            <a:r>
              <a:rPr lang="en-US" sz="32319" b="1" spc="-2585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278" y="4954050"/>
            <a:ext cx="6219206" cy="278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Quy trình ETL thiết kế theo chuẩn BPMN 2.0 và triển khai trên SSIS/Kettle: tích hợp dữ liệu từ GameStoreOLTP, Territories.xml, Cities.txt và Time.csv vào kho dữ liệu GameStoreDW.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754326" cy="11072020"/>
            <a:chOff x="0" y="0"/>
            <a:chExt cx="151554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5543" cy="2916088"/>
            </a:xfrm>
            <a:custGeom>
              <a:avLst/>
              <a:gdLst/>
              <a:ahLst/>
              <a:cxnLst/>
              <a:rect l="l" t="t" r="r" b="b"/>
              <a:pathLst>
                <a:path w="1515543" h="2916088">
                  <a:moveTo>
                    <a:pt x="0" y="0"/>
                  </a:moveTo>
                  <a:lnTo>
                    <a:pt x="1515543" y="0"/>
                  </a:lnTo>
                  <a:lnTo>
                    <a:pt x="151554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1554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52759" y="176875"/>
            <a:ext cx="7269432" cy="6715138"/>
          </a:xfrm>
          <a:custGeom>
            <a:avLst/>
            <a:gdLst/>
            <a:ahLst/>
            <a:cxnLst/>
            <a:rect l="l" t="t" r="r" b="b"/>
            <a:pathLst>
              <a:path w="7269432" h="6715138">
                <a:moveTo>
                  <a:pt x="0" y="0"/>
                </a:moveTo>
                <a:lnTo>
                  <a:pt x="7269432" y="0"/>
                </a:lnTo>
                <a:lnTo>
                  <a:pt x="7269432" y="6715138"/>
                </a:lnTo>
                <a:lnTo>
                  <a:pt x="0" y="671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37083" y="7649250"/>
            <a:ext cx="11704995" cy="203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 ánh xạ dữ liệu đã làm sạch vào các bảng Dimension (giữ lại Alternate Key và sinh Surrogate Key tự tăng) cùng 2 bảng Fact trong GameStoreDW.</a:t>
            </a:r>
            <a:r>
              <a:rPr lang="en-US" sz="28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32" y="4480559"/>
            <a:ext cx="514540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754326" cy="11072020"/>
            <a:chOff x="0" y="0"/>
            <a:chExt cx="151554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5543" cy="2916088"/>
            </a:xfrm>
            <a:custGeom>
              <a:avLst/>
              <a:gdLst/>
              <a:ahLst/>
              <a:cxnLst/>
              <a:rect l="l" t="t" r="r" b="b"/>
              <a:pathLst>
                <a:path w="1515543" h="2916088">
                  <a:moveTo>
                    <a:pt x="0" y="0"/>
                  </a:moveTo>
                  <a:lnTo>
                    <a:pt x="1515543" y="0"/>
                  </a:lnTo>
                  <a:lnTo>
                    <a:pt x="151554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1554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52759" y="176875"/>
            <a:ext cx="7269432" cy="6715138"/>
          </a:xfrm>
          <a:custGeom>
            <a:avLst/>
            <a:gdLst/>
            <a:ahLst/>
            <a:cxnLst/>
            <a:rect l="l" t="t" r="r" b="b"/>
            <a:pathLst>
              <a:path w="7269432" h="6715138">
                <a:moveTo>
                  <a:pt x="0" y="0"/>
                </a:moveTo>
                <a:lnTo>
                  <a:pt x="7269432" y="0"/>
                </a:lnTo>
                <a:lnTo>
                  <a:pt x="7269432" y="6715138"/>
                </a:lnTo>
                <a:lnTo>
                  <a:pt x="0" y="671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37083" y="7649250"/>
            <a:ext cx="11704995" cy="203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 ánh xạ dữ liệu đã làm sạch vào các bảng Dimension (giữ lại Alternate Key và sinh Surrogate Key tự tăng) cùng 2 bảng Fact trong GameStoreDW.</a:t>
            </a:r>
            <a:r>
              <a:rPr lang="en-US" sz="28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32" y="4480559"/>
            <a:ext cx="514540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7146" y="-392510"/>
            <a:ext cx="19062293" cy="11072020"/>
            <a:chOff x="0" y="0"/>
            <a:chExt cx="5020522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20521" cy="2916088"/>
            </a:xfrm>
            <a:custGeom>
              <a:avLst/>
              <a:gdLst/>
              <a:ahLst/>
              <a:cxnLst/>
              <a:rect l="l" t="t" r="r" b="b"/>
              <a:pathLst>
                <a:path w="5020521" h="2916088">
                  <a:moveTo>
                    <a:pt x="0" y="0"/>
                  </a:moveTo>
                  <a:lnTo>
                    <a:pt x="5020521" y="0"/>
                  </a:lnTo>
                  <a:lnTo>
                    <a:pt x="5020521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2052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6079" y="290148"/>
            <a:ext cx="5482879" cy="5497212"/>
          </a:xfrm>
          <a:custGeom>
            <a:avLst/>
            <a:gdLst/>
            <a:ahLst/>
            <a:cxnLst/>
            <a:rect l="l" t="t" r="r" b="b"/>
            <a:pathLst>
              <a:path w="5482879" h="5497212">
                <a:moveTo>
                  <a:pt x="0" y="0"/>
                </a:moveTo>
                <a:lnTo>
                  <a:pt x="5482879" y="0"/>
                </a:lnTo>
                <a:lnTo>
                  <a:pt x="5482879" y="5497212"/>
                </a:lnTo>
                <a:lnTo>
                  <a:pt x="0" y="549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13780" y="323789"/>
            <a:ext cx="5675891" cy="5610568"/>
          </a:xfrm>
          <a:custGeom>
            <a:avLst/>
            <a:gdLst/>
            <a:ahLst/>
            <a:cxnLst/>
            <a:rect l="l" t="t" r="r" b="b"/>
            <a:pathLst>
              <a:path w="5675891" h="5610568">
                <a:moveTo>
                  <a:pt x="0" y="0"/>
                </a:moveTo>
                <a:lnTo>
                  <a:pt x="5675891" y="0"/>
                </a:lnTo>
                <a:lnTo>
                  <a:pt x="5675891" y="5610568"/>
                </a:lnTo>
                <a:lnTo>
                  <a:pt x="0" y="5610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86644" y="4490516"/>
            <a:ext cx="5755546" cy="5623065"/>
          </a:xfrm>
          <a:custGeom>
            <a:avLst/>
            <a:gdLst/>
            <a:ahLst/>
            <a:cxnLst/>
            <a:rect l="l" t="t" r="r" b="b"/>
            <a:pathLst>
              <a:path w="5755546" h="5623065">
                <a:moveTo>
                  <a:pt x="0" y="0"/>
                </a:moveTo>
                <a:lnTo>
                  <a:pt x="5755546" y="0"/>
                </a:lnTo>
                <a:lnTo>
                  <a:pt x="5755546" y="5623065"/>
                </a:lnTo>
                <a:lnTo>
                  <a:pt x="0" y="5623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4365" y="6100185"/>
            <a:ext cx="272986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&amp; Cascading Lookups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2192" y="6100185"/>
            <a:ext cx="3047047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(Country &amp; Continent)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8074" y="3616475"/>
            <a:ext cx="314003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Chuỗi 5 Cascading Lookups + Union All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0175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Tiêu chí Kỹ thuật ETL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Microsoft SSIS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Pentaho Data Integration (Kettle)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1. Xử lý Parent-Child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Hỗ trợ trực tiếp trong SSAS Cube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Bắt buộc dùng bước "Closure Generator"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2. Đọc file Territories.xml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XML Source + Merge Join + Data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Dùng biểu thức XPath trực tiếp trong XML Input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3. Chuỗi Cascading Lookups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Nối tiếp các luồng No Match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Dùng bước "Dummy" phát luồng song song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4. Khử Dữ liệu Trùng lặp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Tích hợp checkbox trong Sort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Tách 2 bước riêng: Sort rows + Unique rows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56253" y="3323285"/>
            <a:ext cx="7687747" cy="5854268"/>
          </a:xfrm>
          <a:custGeom>
            <a:avLst/>
            <a:gdLst/>
            <a:ahLst/>
            <a:cxnLst/>
            <a:rect l="l" t="t" r="r" b="b"/>
            <a:pathLst>
              <a:path w="7687747" h="5854268">
                <a:moveTo>
                  <a:pt x="0" y="0"/>
                </a:moveTo>
                <a:lnTo>
                  <a:pt x="7687747" y="0"/>
                </a:lnTo>
                <a:lnTo>
                  <a:pt x="7687747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TẠO DATA SOURCE &amp; DATA SOURCE VIEW (DSV)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30795" y="4356136"/>
            <a:ext cx="616487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Kết nối đến GameStoreDW và tạo các Named Calculations: FullName, FullMonth, FullQuarter, OrderLineDesc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56253" y="3323285"/>
            <a:ext cx="7687747" cy="5854268"/>
          </a:xfrm>
          <a:custGeom>
            <a:avLst/>
            <a:gdLst/>
            <a:ahLst/>
            <a:cxnLst/>
            <a:rect l="l" t="t" r="r" b="b"/>
            <a:pathLst>
              <a:path w="7687747" h="5854268">
                <a:moveTo>
                  <a:pt x="0" y="0"/>
                </a:moveTo>
                <a:lnTo>
                  <a:pt x="7687747" y="0"/>
                </a:lnTo>
                <a:lnTo>
                  <a:pt x="7687747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TẠO DATA SOURCE &amp; DATA SOURCE VIEW (DSV)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30795" y="4356136"/>
            <a:ext cx="616487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Kết nối đến GameStoreDW và tạo các Named Calculations: FullName, FullMonth, FullQuarter, OrderLineDesc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197998" cy="11072020"/>
            <a:chOff x="0" y="0"/>
            <a:chExt cx="1369020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9020" cy="2916088"/>
            </a:xfrm>
            <a:custGeom>
              <a:avLst/>
              <a:gdLst/>
              <a:ahLst/>
              <a:cxnLst/>
              <a:rect l="l" t="t" r="r" b="b"/>
              <a:pathLst>
                <a:path w="1369020" h="2916088">
                  <a:moveTo>
                    <a:pt x="0" y="0"/>
                  </a:moveTo>
                  <a:lnTo>
                    <a:pt x="1369020" y="0"/>
                  </a:lnTo>
                  <a:lnTo>
                    <a:pt x="136902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69020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3568" y="2733941"/>
            <a:ext cx="7790850" cy="5869673"/>
          </a:xfrm>
          <a:custGeom>
            <a:avLst/>
            <a:gdLst/>
            <a:ahLst/>
            <a:cxnLst/>
            <a:rect l="l" t="t" r="r" b="b"/>
            <a:pathLst>
              <a:path w="7790850" h="5869673">
                <a:moveTo>
                  <a:pt x="0" y="0"/>
                </a:moveTo>
                <a:lnTo>
                  <a:pt x="7790849" y="0"/>
                </a:lnTo>
                <a:lnTo>
                  <a:pt x="7790849" y="5869673"/>
                </a:lnTo>
                <a:lnTo>
                  <a:pt x="0" y="5869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60631" y="2722996"/>
            <a:ext cx="7798669" cy="5880618"/>
          </a:xfrm>
          <a:custGeom>
            <a:avLst/>
            <a:gdLst/>
            <a:ahLst/>
            <a:cxnLst/>
            <a:rect l="l" t="t" r="r" b="b"/>
            <a:pathLst>
              <a:path w="7798669" h="5880618">
                <a:moveTo>
                  <a:pt x="0" y="0"/>
                </a:moveTo>
                <a:lnTo>
                  <a:pt x="7798669" y="0"/>
                </a:lnTo>
                <a:lnTo>
                  <a:pt x="7798669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42090" y="364220"/>
            <a:ext cx="8403819" cy="2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TẠO CUBE &amp; DIMENSION USAGE</a:t>
            </a:r>
          </a:p>
          <a:p>
            <a:pPr algn="l">
              <a:lnSpc>
                <a:spcPts val="9059"/>
              </a:lnSpc>
            </a:pPr>
            <a:endParaRPr lang="en-US" sz="9339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0" y="121840"/>
            <a:ext cx="4066631" cy="303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87"/>
              </a:lnSpc>
            </a:pPr>
            <a:r>
              <a:rPr lang="en-US" sz="23285" b="1" spc="-1862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7696" y="8988265"/>
            <a:ext cx="753260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lập 3 Measure Groups: GameSales, ItemTransactions và BridgeGameGenre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2758" y="285991"/>
            <a:ext cx="7379171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 Dimension Usage cấu hình đầy đủ 5 loại liên kết: Regular, Role-Playing, Referenced (Geography qua Player), Fact/Degenerate (Order) và Many-to-Many (Genre).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0175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Cube Dimension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Fact: GameSales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Fact: ItemTransactions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Bridge: GameGenre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Time (Purchase / Release)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(None)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Many-to-Many (qua Bridge)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Many-to-Many (qua Bridge)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Regular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/>
                        <a:t>Geography (City)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Referenced (qua Player)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Referenced (qua Player)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(None)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68446" y="601085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048371" y="499410"/>
              <a:ext cx="138460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TỶ TRỌNG DOANH THU QUỐC GIA SO VỚI CHÂU LỤC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4368446" y="2280914"/>
            <a:ext cx="13063928" cy="7240349"/>
          </a:xfrm>
          <a:custGeom>
            <a:avLst/>
            <a:gdLst/>
            <a:ahLst/>
            <a:cxnLst/>
            <a:rect l="l" t="t" r="r" b="b"/>
            <a:pathLst>
              <a:path w="13063928" h="7240349">
                <a:moveTo>
                  <a:pt x="0" y="0"/>
                </a:moveTo>
                <a:lnTo>
                  <a:pt x="13063928" y="0"/>
                </a:lnTo>
                <a:lnTo>
                  <a:pt x="13063928" y="7240348"/>
                </a:lnTo>
                <a:lnTo>
                  <a:pt x="0" y="724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0013" y="3394615"/>
            <a:ext cx="3936390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CURRENTMEMBER / CURRENTMEMBER.PARENT và DESCENDANTS(..., SELF_AND_BEFORE)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với GROUP BY ROLLUP(ContinentName, CountryName, CityName) trong SQL/OLAP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trơn tru các quốc gia khuyết cấp Bang qua COALESCE(st.CountryKey, ci.CountryKey)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8" name="Freeform 18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735414" y="710001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CHUỖI THỜI GIAN: YO-Y, YTD &amp; MOVING AVERAGE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31320" y="4168973"/>
            <a:ext cx="4090311" cy="285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PARALLELPERIOD, PREVMEMBER, PERIODSTODATE (YTD) và AVG(LAG(2):CURRENTMEMBER)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SQL/OLAP: Dùng Window Framing ROWS 2 PRECEDING và ROWS UNBOUNDED PRECEDING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215" y="2322110"/>
            <a:ext cx="13066850" cy="7241075"/>
          </a:xfrm>
          <a:custGeom>
            <a:avLst/>
            <a:gdLst/>
            <a:ahLst/>
            <a:cxnLst/>
            <a:rect l="l" t="t" r="r" b="b"/>
            <a:pathLst>
              <a:path w="13066850" h="7241075">
                <a:moveTo>
                  <a:pt x="0" y="0"/>
                </a:moveTo>
                <a:lnTo>
                  <a:pt x="13066850" y="0"/>
                </a:lnTo>
                <a:lnTo>
                  <a:pt x="13066850" y="7241075"/>
                </a:lnTo>
                <a:lnTo>
                  <a:pt x="0" y="724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HIỆU NĂNG VẬT LÝ &amp; TUNING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664416" y="2173073"/>
            <a:ext cx="12471988" cy="6953133"/>
          </a:xfrm>
          <a:custGeom>
            <a:avLst/>
            <a:gdLst/>
            <a:ahLst/>
            <a:cxnLst/>
            <a:rect l="l" t="t" r="r" b="b"/>
            <a:pathLst>
              <a:path w="12471988" h="6953133">
                <a:moveTo>
                  <a:pt x="0" y="0"/>
                </a:moveTo>
                <a:lnTo>
                  <a:pt x="12471988" y="0"/>
                </a:lnTo>
                <a:lnTo>
                  <a:pt x="12471988" y="6953133"/>
                </a:lnTo>
                <a:lnTo>
                  <a:pt x="0" y="6953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55285" y="3474015"/>
            <a:ext cx="3957881" cy="460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Indexed Views (NOEXPAND) &amp; Columnstore Index giảm &gt;85% thời gian quét bảng Fact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Partitioning theo năm (PartByYear) giúp Partition Pruning tức thì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Kết hợp lưu trữ MOLAP (2024), HOLAP (2025) và ROLAP (2026)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 ưu hóa AggregationUsage (Full, None, Unrestricted, Default)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0419" y="2356185"/>
            <a:ext cx="352734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Physical Design &amp; Partitioning (Ch.5)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HIỆU NĂNG VẬT LÝ &amp; TUNING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664416" y="2173073"/>
            <a:ext cx="12471988" cy="6953133"/>
          </a:xfrm>
          <a:custGeom>
            <a:avLst/>
            <a:gdLst/>
            <a:ahLst/>
            <a:cxnLst/>
            <a:rect l="l" t="t" r="r" b="b"/>
            <a:pathLst>
              <a:path w="12471988" h="6953133">
                <a:moveTo>
                  <a:pt x="0" y="0"/>
                </a:moveTo>
                <a:lnTo>
                  <a:pt x="12471988" y="0"/>
                </a:lnTo>
                <a:lnTo>
                  <a:pt x="12471988" y="6953133"/>
                </a:lnTo>
                <a:lnTo>
                  <a:pt x="0" y="6953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55285" y="3474015"/>
            <a:ext cx="3957881" cy="460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Indexed Views (NOEXPAND) &amp; Columnstore Index giảm &gt;85% thời gian quét bảng Fact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Partitioning theo năm (PartByYear) giúp Partition Pruning tức thì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Kết hợp lưu trữ MOLAP (2024), HOLAP (2025) và ROLAP (2026)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 ưu hóa AggregationUsage (Full, None, Unrestricted, Default)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0419" y="2356185"/>
            <a:ext cx="352734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Physical Design &amp; Partitioning (Ch.5)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68282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8083903" y="273693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1430" y="2689313"/>
            <a:ext cx="5833272" cy="592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Hoàn thành 100% quy trình 6 giai đoạn thiết kế Kho dữ liệu theo chuẩn Vaisman &amp; Zimányi (VKU)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Constellation Schema hỗ trợ đủ 6 loại Hierarchy, Ragged XOR Check &amp; SCD Type 2/4/5/6/7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kế ETL bằng BPMN 2.0 và triển khai thực tế trên SSIS &amp; Pentaho Kettle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OLAP Cube (SSAS &amp; Mondrian), 28 truy vấn MDX/SQL-OLAP và tối ưu hóa Partition/Columnstore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68282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8083903" y="273693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1430" y="2689313"/>
            <a:ext cx="5833272" cy="592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Hoàn thành 100% quy trình 6 giai đoạn thiết kế Kho dữ liệu theo chuẩn Vaisman &amp; Zimányi (VKU)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Constellation Schema hỗ trợ đủ 6 loại Hierarchy, Ragged XOR Check &amp; SCD Type 2/4/5/6/7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kế ETL bằng BPMN 2.0 và triển khai thực tế trên SSIS &amp; Pentaho Kettle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OLAP Cube (SSAS &amp; Mondrian), 28 truy vấn MDX/SQL-OLAP và tối ưu hóa Partition/Columnstore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(COMPOSITE KEY)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493371" y="3510435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8" y="0"/>
                </a:lnTo>
                <a:lnTo>
                  <a:pt x="11301258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ĐẢM BẢO ĐIỀU KIỆN SUMMARIZABILITY KHI ROLL-UP TRÊN CHIỀU THỜI GIAN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07" y="2542479"/>
            <a:ext cx="3389914" cy="52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4105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2884" y="2254111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LẬP COMPOSITE KEYS (MonthNumber + Year, Quarter + Year) VÀ RIGID ATTRIBUTE RELATIONSHIPS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1755" y="9080571"/>
            <a:ext cx="14749157" cy="9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  <a:spcBef>
                <a:spcPct val="0"/>
              </a:spcBef>
            </a:pPr>
            <a:r>
              <a:rPr lang="en-US" sz="2602" spc="62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Kết hợp Named Calculations (FullMonth, FullQuarter, FullSemester) giúp mỗi thành viên tháng/quý thuộc duy nhất 1 năm.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0908625" y="643785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763" y="479607"/>
            <a:ext cx="5970944" cy="3087985"/>
          </a:xfrm>
          <a:custGeom>
            <a:avLst/>
            <a:gdLst/>
            <a:ahLst/>
            <a:cxnLst/>
            <a:rect l="l" t="t" r="r" b="b"/>
            <a:pathLst>
              <a:path w="5970944" h="3087985">
                <a:moveTo>
                  <a:pt x="0" y="0"/>
                </a:moveTo>
                <a:lnTo>
                  <a:pt x="5970944" y="0"/>
                </a:lnTo>
                <a:lnTo>
                  <a:pt x="5970944" y="3087985"/>
                </a:lnTo>
                <a:lnTo>
                  <a:pt x="0" y="308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18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8763" y="4425841"/>
            <a:ext cx="5970944" cy="3816331"/>
          </a:xfrm>
          <a:custGeom>
            <a:avLst/>
            <a:gdLst/>
            <a:ahLst/>
            <a:cxnLst/>
            <a:rect l="l" t="t" r="r" b="b"/>
            <a:pathLst>
              <a:path w="5970944" h="3816331">
                <a:moveTo>
                  <a:pt x="0" y="0"/>
                </a:moveTo>
                <a:lnTo>
                  <a:pt x="5970944" y="0"/>
                </a:lnTo>
                <a:lnTo>
                  <a:pt x="5970944" y="3816331"/>
                </a:lnTo>
                <a:lnTo>
                  <a:pt x="0" y="381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293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12411" y="261990"/>
            <a:ext cx="5452410" cy="3523220"/>
          </a:xfrm>
          <a:custGeom>
            <a:avLst/>
            <a:gdLst/>
            <a:ahLst/>
            <a:cxnLst/>
            <a:rect l="l" t="t" r="r" b="b"/>
            <a:pathLst>
              <a:path w="5452410" h="3523220">
                <a:moveTo>
                  <a:pt x="0" y="0"/>
                </a:moveTo>
                <a:lnTo>
                  <a:pt x="5452411" y="0"/>
                </a:lnTo>
                <a:lnTo>
                  <a:pt x="5452411" y="3523220"/>
                </a:lnTo>
                <a:lnTo>
                  <a:pt x="0" y="352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677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73581" y="4263949"/>
            <a:ext cx="5491241" cy="3528599"/>
          </a:xfrm>
          <a:custGeom>
            <a:avLst/>
            <a:gdLst/>
            <a:ahLst/>
            <a:cxnLst/>
            <a:rect l="l" t="t" r="r" b="b"/>
            <a:pathLst>
              <a:path w="5491241" h="3528599">
                <a:moveTo>
                  <a:pt x="0" y="0"/>
                </a:moveTo>
                <a:lnTo>
                  <a:pt x="5491241" y="0"/>
                </a:lnTo>
                <a:lnTo>
                  <a:pt x="5491241" y="3528599"/>
                </a:lnTo>
                <a:lnTo>
                  <a:pt x="0" y="352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22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61888" y="6189830"/>
            <a:ext cx="5249512" cy="3357172"/>
          </a:xfrm>
          <a:custGeom>
            <a:avLst/>
            <a:gdLst/>
            <a:ahLst/>
            <a:cxnLst/>
            <a:rect l="l" t="t" r="r" b="b"/>
            <a:pathLst>
              <a:path w="5249512" h="3357172">
                <a:moveTo>
                  <a:pt x="0" y="0"/>
                </a:moveTo>
                <a:lnTo>
                  <a:pt x="5249512" y="0"/>
                </a:lnTo>
                <a:lnTo>
                  <a:pt x="5249512" y="3357172"/>
                </a:lnTo>
                <a:lnTo>
                  <a:pt x="0" y="33571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4938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911235" y="3642302"/>
            <a:ext cx="4465530" cy="1567078"/>
            <a:chOff x="0" y="0"/>
            <a:chExt cx="5954040" cy="208943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5954040" cy="17356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XÂY DỰNG 2 BẢNG SỰ KIỆN (CONSTELLATION)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644113"/>
              <a:ext cx="5954040" cy="445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6"/>
                </a:lnSpc>
                <a:spcBef>
                  <a:spcPct val="0"/>
                </a:spcBef>
              </a:pPr>
              <a:r>
                <a:rPr lang="en-US" sz="2068" spc="4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FACT TABLES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28635" y="67078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43008"/>
            <a:ext cx="6078841" cy="6356958"/>
          </a:xfrm>
          <a:custGeom>
            <a:avLst/>
            <a:gdLst/>
            <a:ahLst/>
            <a:cxnLst/>
            <a:rect l="l" t="t" r="r" b="b"/>
            <a:pathLst>
              <a:path w="6078841" h="6356958">
                <a:moveTo>
                  <a:pt x="0" y="0"/>
                </a:moveTo>
                <a:lnTo>
                  <a:pt x="6078841" y="0"/>
                </a:lnTo>
                <a:lnTo>
                  <a:pt x="607884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5673" y="727042"/>
            <a:ext cx="5297994" cy="3831931"/>
          </a:xfrm>
          <a:custGeom>
            <a:avLst/>
            <a:gdLst/>
            <a:ahLst/>
            <a:cxnLst/>
            <a:rect l="l" t="t" r="r" b="b"/>
            <a:pathLst>
              <a:path w="5297994" h="3831931">
                <a:moveTo>
                  <a:pt x="0" y="0"/>
                </a:moveTo>
                <a:lnTo>
                  <a:pt x="5297994" y="0"/>
                </a:lnTo>
                <a:lnTo>
                  <a:pt x="5297994" y="3831932"/>
                </a:lnTo>
                <a:lnTo>
                  <a:pt x="0" y="3831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14307" y="4737445"/>
            <a:ext cx="4480725" cy="4452954"/>
          </a:xfrm>
          <a:custGeom>
            <a:avLst/>
            <a:gdLst/>
            <a:ahLst/>
            <a:cxnLst/>
            <a:rect l="l" t="t" r="r" b="b"/>
            <a:pathLst>
              <a:path w="4480725" h="4452954">
                <a:moveTo>
                  <a:pt x="0" y="0"/>
                </a:moveTo>
                <a:lnTo>
                  <a:pt x="4480726" y="0"/>
                </a:lnTo>
                <a:lnTo>
                  <a:pt x="4480726" y="4452954"/>
                </a:lnTo>
                <a:lnTo>
                  <a:pt x="0" y="4452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8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35356" y="1670521"/>
            <a:ext cx="4465530" cy="65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3818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FACT_GAMESALES &amp; FACT_ITEMTRANSACTIONS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3923" y="5143500"/>
            <a:ext cx="282300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567" flipH="1">
            <a:off x="10758874" y="-1031087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2" y="0"/>
                </a:moveTo>
                <a:lnTo>
                  <a:pt x="0" y="0"/>
                </a:lnTo>
                <a:lnTo>
                  <a:pt x="0" y="4424553"/>
                </a:lnTo>
                <a:lnTo>
                  <a:pt x="10441422" y="4424553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125778">
            <a:off x="9642048" y="7442125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8477" y="-348153"/>
            <a:ext cx="8500415" cy="5587359"/>
            <a:chOff x="0" y="0"/>
            <a:chExt cx="2238793" cy="1471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8793" cy="1471568"/>
            </a:xfrm>
            <a:custGeom>
              <a:avLst/>
              <a:gdLst/>
              <a:ahLst/>
              <a:cxnLst/>
              <a:rect l="l" t="t" r="r" b="b"/>
              <a:pathLst>
                <a:path w="2238793" h="1471568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38793" cy="1519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332800" y="1407201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755" y="5834886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OLAP GAMESTORE CUBE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31572" y="3274461"/>
            <a:ext cx="8945318" cy="2731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Data Source View (DSV) &amp; Named Calculations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Cấu hình Hierarchies, Composite Keys &amp; Dimension Usage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Partitions (MOLAP/HOLAP/ROLAP) &amp; Aggregations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Thực hiện các phép toán OLAP trên SSAS &amp; Mondrian</a:t>
            </a:r>
          </a:p>
          <a:p>
            <a:pPr algn="l">
              <a:lnSpc>
                <a:spcPts val="4395"/>
              </a:lnSpc>
              <a:spcBef>
                <a:spcPct val="0"/>
              </a:spcBef>
            </a:pPr>
            <a:endParaRPr lang="en-US" sz="3139" spc="156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2855505" y="-2023414"/>
            <a:ext cx="643045" cy="8066054"/>
            <a:chOff x="0" y="0"/>
            <a:chExt cx="169362" cy="21243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124393"/>
            </a:xfrm>
            <a:custGeom>
              <a:avLst/>
              <a:gdLst/>
              <a:ahLst/>
              <a:cxnLst/>
              <a:rect l="l" t="t" r="r" b="b"/>
              <a:pathLst>
                <a:path w="169362" h="2124393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172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97275" y="1828956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81498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5862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3384852"/>
            <a:ext cx="7093516" cy="5467301"/>
          </a:xfrm>
          <a:custGeom>
            <a:avLst/>
            <a:gdLst/>
            <a:ahLst/>
            <a:cxnLst/>
            <a:rect l="l" t="t" r="r" b="b"/>
            <a:pathLst>
              <a:path w="7093516" h="5467301">
                <a:moveTo>
                  <a:pt x="0" y="0"/>
                </a:moveTo>
                <a:lnTo>
                  <a:pt x="7093516" y="0"/>
                </a:lnTo>
                <a:lnTo>
                  <a:pt x="7093516" y="5467301"/>
                </a:lnTo>
                <a:lnTo>
                  <a:pt x="0" y="5467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94" t="-4046" r="-3412" b="-481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CÁC BẢNG TRONG DATA SOURCE VIEW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67585" y="3994745"/>
            <a:ext cx="5294537" cy="41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FactGameSales &amp; FactItemTransactions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DimGame, DimItem, DimSubCategory, DimCategory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DimPlayer (SCD2/6) &amp; DimPlayerProfile (SCD4)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DimTime (Calendar &amp; Fiscal)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DimCity, DimState, DimCountry, DimContinent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DimPublisher (Parent-Child) &amp; BridgeGameGenre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575344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537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9303" y="3524696"/>
            <a:ext cx="643045" cy="7154814"/>
            <a:chOff x="0" y="0"/>
            <a:chExt cx="169362" cy="18843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362" cy="1884395"/>
            </a:xfrm>
            <a:custGeom>
              <a:avLst/>
              <a:gdLst/>
              <a:ahLst/>
              <a:cxnLst/>
              <a:rect l="l" t="t" r="r" b="b"/>
              <a:pathLst>
                <a:path w="169362" h="1884395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9362" cy="193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4000" y="603285"/>
            <a:ext cx="8587059" cy="8148699"/>
          </a:xfrm>
          <a:custGeom>
            <a:avLst/>
            <a:gdLst/>
            <a:ahLst/>
            <a:cxnLst/>
            <a:rect l="l" t="t" r="r" b="b"/>
            <a:pathLst>
              <a:path w="8587059" h="8148699">
                <a:moveTo>
                  <a:pt x="0" y="0"/>
                </a:moveTo>
                <a:lnTo>
                  <a:pt x="8587059" y="0"/>
                </a:lnTo>
                <a:lnTo>
                  <a:pt x="8587059" y="8148699"/>
                </a:lnTo>
                <a:lnTo>
                  <a:pt x="0" y="8148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05" t="-1" r="-37470"/>
            </a:stretch>
          </a:blipFill>
        </p:spPr>
      </p:sp>
      <p:sp>
        <p:nvSpPr>
          <p:cNvPr id="11" name="TextBox 11"/>
          <p:cNvSpPr txBox="1"/>
          <p:nvPr/>
        </p:nvSpPr>
        <p:spPr>
          <a:xfrm rot="-5400000">
            <a:off x="315301" y="7574594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651776" y="4886539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278709" y="-190248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40600" y="3596838"/>
            <a:ext cx="1184640" cy="365380"/>
            <a:chOff x="0" y="0"/>
            <a:chExt cx="1579520" cy="4871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98829" y="353203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DimGame &amp; DimItem: Phân cấp Balanced (SubCategory → Category → Department) và Parallel (Engine → EngineVendor).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endParaRPr lang="en-US" sz="185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440600" y="5032052"/>
            <a:ext cx="1184640" cy="365380"/>
            <a:chOff x="0" y="0"/>
            <a:chExt cx="1579520" cy="48717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498829" y="4894423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DimPlayer: Lưu thông tin người chơi, theo dõi lịch sử thay đổi hạng VIP theo chuẩn SCD Type 2, Type 4/5 và Type 6.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40600" y="6379180"/>
            <a:ext cx="1184640" cy="365380"/>
            <a:chOff x="0" y="0"/>
            <a:chExt cx="1579520" cy="48717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528378" y="634108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DimTime: Chiều thời gian đa vai trò (PurchaseDate, ReleaseDate, RefundDate) với 2 phân cấp Calendar và Fiscal.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endParaRPr lang="en-US" sz="1853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2440600" y="7627494"/>
            <a:ext cx="1184640" cy="365380"/>
            <a:chOff x="0" y="0"/>
            <a:chExt cx="1579520" cy="487173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509328" y="7589394"/>
            <a:ext cx="4992021" cy="63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DimGeography (City → State → Country → Continent): Phân cấp khuyết Ragged Hierarchy ẩn cấp rỗng qua HideMemberIf.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440600" y="8751984"/>
            <a:ext cx="1184640" cy="365380"/>
            <a:chOff x="0" y="0"/>
            <a:chExt cx="1579520" cy="487173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498829" y="8596266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DimPublisher &amp; BridgeGameGenre: Phân cấp đệ quy Parent-Child (Studio mẹ - con) và bảng cầu nối Many-to-Many Thể loại game.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84884" y="3132008"/>
            <a:ext cx="8259116" cy="6236822"/>
          </a:xfrm>
          <a:custGeom>
            <a:avLst/>
            <a:gdLst/>
            <a:ahLst/>
            <a:cxnLst/>
            <a:rect l="l" t="t" r="r" b="b"/>
            <a:pathLst>
              <a:path w="8259116" h="6236822">
                <a:moveTo>
                  <a:pt x="0" y="0"/>
                </a:moveTo>
                <a:lnTo>
                  <a:pt x="8259116" y="0"/>
                </a:lnTo>
                <a:lnTo>
                  <a:pt x="8259116" y="6236822"/>
                </a:lnTo>
                <a:lnTo>
                  <a:pt x="0" y="623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30843" y="3132008"/>
            <a:ext cx="7828457" cy="4175177"/>
          </a:xfrm>
          <a:custGeom>
            <a:avLst/>
            <a:gdLst/>
            <a:ahLst/>
            <a:cxnLst/>
            <a:rect l="l" t="t" r="r" b="b"/>
            <a:pathLst>
              <a:path w="7828457" h="4175177">
                <a:moveTo>
                  <a:pt x="0" y="0"/>
                </a:moveTo>
                <a:lnTo>
                  <a:pt x="7828457" y="0"/>
                </a:lnTo>
                <a:lnTo>
                  <a:pt x="7828457" y="4175177"/>
                </a:lnTo>
                <a:lnTo>
                  <a:pt x="0" y="417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686" y="1824130"/>
            <a:ext cx="17714314" cy="97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PARTITIONS (MOLAP/HOLAP/ROLAP) &amp; INDEXING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9786" y="3371275"/>
            <a:ext cx="7249514" cy="2162610"/>
            <a:chOff x="0" y="0"/>
            <a:chExt cx="1909337" cy="5695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9337" cy="569576"/>
            </a:xfrm>
            <a:custGeom>
              <a:avLst/>
              <a:gdLst/>
              <a:ahLst/>
              <a:cxnLst/>
              <a:rect l="l" t="t" r="r" b="b"/>
              <a:pathLst>
                <a:path w="1909337" h="569576">
                  <a:moveTo>
                    <a:pt x="0" y="0"/>
                  </a:moveTo>
                  <a:lnTo>
                    <a:pt x="1909337" y="0"/>
                  </a:lnTo>
                  <a:lnTo>
                    <a:pt x="1909337" y="569576"/>
                  </a:lnTo>
                  <a:lnTo>
                    <a:pt x="0" y="56957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09337" cy="61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20468" y="2041336"/>
            <a:ext cx="7376109" cy="4822488"/>
          </a:xfrm>
          <a:custGeom>
            <a:avLst/>
            <a:gdLst/>
            <a:ahLst/>
            <a:cxnLst/>
            <a:rect l="l" t="t" r="r" b="b"/>
            <a:pathLst>
              <a:path w="7376109" h="4822488">
                <a:moveTo>
                  <a:pt x="0" y="0"/>
                </a:moveTo>
                <a:lnTo>
                  <a:pt x="7376109" y="0"/>
                </a:lnTo>
                <a:lnTo>
                  <a:pt x="7376109" y="4822488"/>
                </a:lnTo>
                <a:lnTo>
                  <a:pt x="0" y="482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558" b="-632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009786" y="6166803"/>
            <a:ext cx="7249514" cy="2516573"/>
            <a:chOff x="0" y="0"/>
            <a:chExt cx="1909337" cy="662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9337" cy="662801"/>
            </a:xfrm>
            <a:custGeom>
              <a:avLst/>
              <a:gdLst/>
              <a:ahLst/>
              <a:cxnLst/>
              <a:rect l="l" t="t" r="r" b="b"/>
              <a:pathLst>
                <a:path w="1909337" h="662801">
                  <a:moveTo>
                    <a:pt x="0" y="0"/>
                  </a:moveTo>
                  <a:lnTo>
                    <a:pt x="1909337" y="0"/>
                  </a:lnTo>
                  <a:lnTo>
                    <a:pt x="1909337" y="662801"/>
                  </a:lnTo>
                  <a:lnTo>
                    <a:pt x="0" y="66280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09337" cy="710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98821" y="7087435"/>
            <a:ext cx="7419404" cy="2483956"/>
          </a:xfrm>
          <a:custGeom>
            <a:avLst/>
            <a:gdLst/>
            <a:ahLst/>
            <a:cxnLst/>
            <a:rect l="l" t="t" r="r" b="b"/>
            <a:pathLst>
              <a:path w="7419404" h="2483956">
                <a:moveTo>
                  <a:pt x="0" y="0"/>
                </a:moveTo>
                <a:lnTo>
                  <a:pt x="7419404" y="0"/>
                </a:lnTo>
                <a:lnTo>
                  <a:pt x="7419404" y="2483956"/>
                </a:lnTo>
                <a:lnTo>
                  <a:pt x="0" y="248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04" b="-3056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20468" y="386938"/>
            <a:ext cx="11008955" cy="111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TRUY VẤN &amp; TỐI ƯU HÓA VẬT LÝ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3926" y="3754171"/>
            <a:ext cx="6821235" cy="138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SQL Server với Indexed Views (WITH SCHEMABINDING, NOEXPAND), Partitioning PartByYear và Columnstore Index.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23926" y="6291506"/>
            <a:ext cx="6821235" cy="185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SSAS với Natural Hierarchies, AggregationUsage (Full, None, Unrestricted, Default) và Mondrian Aggregate Tables.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19060" y="8417648"/>
            <a:ext cx="12558960" cy="1521052"/>
            <a:chOff x="0" y="0"/>
            <a:chExt cx="3307710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7710" cy="400606"/>
            </a:xfrm>
            <a:custGeom>
              <a:avLst/>
              <a:gdLst/>
              <a:ahLst/>
              <a:cxnLst/>
              <a:rect l="l" t="t" r="r" b="b"/>
              <a:pathLst>
                <a:path w="3307710" h="400606">
                  <a:moveTo>
                    <a:pt x="0" y="0"/>
                  </a:moveTo>
                  <a:lnTo>
                    <a:pt x="3307710" y="0"/>
                  </a:lnTo>
                  <a:lnTo>
                    <a:pt x="3307710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307710" cy="448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1593" y="2454493"/>
            <a:ext cx="8131920" cy="5253671"/>
          </a:xfrm>
          <a:custGeom>
            <a:avLst/>
            <a:gdLst/>
            <a:ahLst/>
            <a:cxnLst/>
            <a:rect l="l" t="t" r="r" b="b"/>
            <a:pathLst>
              <a:path w="8131920" h="5253671">
                <a:moveTo>
                  <a:pt x="0" y="0"/>
                </a:moveTo>
                <a:lnTo>
                  <a:pt x="8131920" y="0"/>
                </a:lnTo>
                <a:lnTo>
                  <a:pt x="8131920" y="5253671"/>
                </a:lnTo>
                <a:lnTo>
                  <a:pt x="0" y="5253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51945" y="5143500"/>
            <a:ext cx="7670244" cy="2564664"/>
          </a:xfrm>
          <a:custGeom>
            <a:avLst/>
            <a:gdLst/>
            <a:ahLst/>
            <a:cxnLst/>
            <a:rect l="l" t="t" r="r" b="b"/>
            <a:pathLst>
              <a:path w="7670244" h="2564664">
                <a:moveTo>
                  <a:pt x="0" y="0"/>
                </a:moveTo>
                <a:lnTo>
                  <a:pt x="7670244" y="0"/>
                </a:lnTo>
                <a:lnTo>
                  <a:pt x="7670244" y="2564664"/>
                </a:lnTo>
                <a:lnTo>
                  <a:pt x="0" y="256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20468" y="498572"/>
            <a:ext cx="10186471" cy="100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7755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1945" y="7519836"/>
            <a:ext cx="135499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904270" y="4228041"/>
            <a:ext cx="1802669" cy="6636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10849517" y="3956578"/>
            <a:ext cx="1430417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Roll-up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6514" y="8663471"/>
            <a:ext cx="11275107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Tổng hợp doanh thu ròng (NetSalesAmount) từ cấp Thành phố (City) lên Quốc gia (Country) và Châu lục (Continent), hoặc từ SubCategory lên Category.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19060" y="2850985"/>
            <a:ext cx="7124940" cy="5777530"/>
          </a:xfrm>
          <a:custGeom>
            <a:avLst/>
            <a:gdLst/>
            <a:ahLst/>
            <a:cxnLst/>
            <a:rect l="l" t="t" r="r" b="b"/>
            <a:pathLst>
              <a:path w="7124940" h="5777530">
                <a:moveTo>
                  <a:pt x="0" y="0"/>
                </a:moveTo>
                <a:lnTo>
                  <a:pt x="7124940" y="0"/>
                </a:lnTo>
                <a:lnTo>
                  <a:pt x="7124940" y="5777530"/>
                </a:lnTo>
                <a:lnTo>
                  <a:pt x="0" y="577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20468" y="772042"/>
            <a:ext cx="10339405" cy="191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7"/>
              </a:lnSpc>
            </a:pPr>
            <a:r>
              <a:rPr lang="en-US" sz="757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347"/>
              </a:lnSpc>
            </a:pPr>
            <a:endParaRPr lang="en-US" sz="757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9939" y="1914683"/>
            <a:ext cx="2169795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Drill-down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55324" y="4247091"/>
            <a:ext cx="7929712" cy="3239003"/>
            <a:chOff x="0" y="0"/>
            <a:chExt cx="10572950" cy="4318671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572950" cy="4318671"/>
              <a:chOff x="0" y="0"/>
              <a:chExt cx="1952885" cy="79768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52885" cy="797683"/>
              </a:xfrm>
              <a:custGeom>
                <a:avLst/>
                <a:gdLst/>
                <a:ahLst/>
                <a:cxnLst/>
                <a:rect l="l" t="t" r="r" b="b"/>
                <a:pathLst>
                  <a:path w="1952885" h="797683">
                    <a:moveTo>
                      <a:pt x="0" y="0"/>
                    </a:moveTo>
                    <a:lnTo>
                      <a:pt x="1952885" y="0"/>
                    </a:lnTo>
                    <a:lnTo>
                      <a:pt x="1952885" y="797683"/>
                    </a:lnTo>
                    <a:lnTo>
                      <a:pt x="0" y="79768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952885" cy="845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60626" y="543552"/>
              <a:ext cx="9757319" cy="3374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1"/>
                </a:lnSpc>
                <a:spcBef>
                  <a:spcPct val="0"/>
                </a:spcBef>
              </a:pPr>
              <a:r>
                <a:rPr lang="en-US" sz="2922">
                  <a:solidFill>
                    <a:srgbClr val="F2F7F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Đi sâu phân tích doanh thu từ cấp Năm (Year) → Học kỳ (Semester) → Quý (Quarter) → Tháng (Month) để phát hiện tháng đạt đỉnh doanh thu (Peak Month).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36364" y="6808095"/>
            <a:ext cx="15222936" cy="3158131"/>
            <a:chOff x="0" y="0"/>
            <a:chExt cx="4009333" cy="831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9333" cy="831771"/>
            </a:xfrm>
            <a:custGeom>
              <a:avLst/>
              <a:gdLst/>
              <a:ahLst/>
              <a:cxnLst/>
              <a:rect l="l" t="t" r="r" b="b"/>
              <a:pathLst>
                <a:path w="4009333" h="831771">
                  <a:moveTo>
                    <a:pt x="0" y="0"/>
                  </a:moveTo>
                  <a:lnTo>
                    <a:pt x="4009333" y="0"/>
                  </a:lnTo>
                  <a:lnTo>
                    <a:pt x="4009333" y="831771"/>
                  </a:lnTo>
                  <a:lnTo>
                    <a:pt x="0" y="83177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009333" cy="879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91048" y="2693334"/>
            <a:ext cx="11967221" cy="3694162"/>
          </a:xfrm>
          <a:custGeom>
            <a:avLst/>
            <a:gdLst/>
            <a:ahLst/>
            <a:cxnLst/>
            <a:rect l="l" t="t" r="r" b="b"/>
            <a:pathLst>
              <a:path w="11967221" h="3694162">
                <a:moveTo>
                  <a:pt x="0" y="0"/>
                </a:moveTo>
                <a:lnTo>
                  <a:pt x="11967221" y="0"/>
                </a:lnTo>
                <a:lnTo>
                  <a:pt x="11967221" y="3694162"/>
                </a:lnTo>
                <a:lnTo>
                  <a:pt x="0" y="3694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518064"/>
            <a:ext cx="10810879" cy="203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10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861"/>
              </a:lnSpc>
            </a:pPr>
            <a:endParaRPr lang="en-US" sz="810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1048" y="1552356"/>
            <a:ext cx="96643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4263" y="7104192"/>
            <a:ext cx="14704124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Thao tác Slice cố định một giá trị trên một chiều, ví dụ WHERE ([Player].[Geography].[Country].&amp;[Germany]) hoặc [Purchase Date].[Calendar].[Year].&amp;[2025] để tập trung phân tích lát cắt thị trường cụ thể.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68841" y="7936352"/>
            <a:ext cx="14373020" cy="1897138"/>
            <a:chOff x="0" y="0"/>
            <a:chExt cx="3785487" cy="4996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5487" cy="499658"/>
            </a:xfrm>
            <a:custGeom>
              <a:avLst/>
              <a:gdLst/>
              <a:ahLst/>
              <a:cxnLst/>
              <a:rect l="l" t="t" r="r" b="b"/>
              <a:pathLst>
                <a:path w="3785487" h="499658">
                  <a:moveTo>
                    <a:pt x="0" y="0"/>
                  </a:moveTo>
                  <a:lnTo>
                    <a:pt x="3785487" y="0"/>
                  </a:lnTo>
                  <a:lnTo>
                    <a:pt x="3785487" y="499658"/>
                  </a:lnTo>
                  <a:lnTo>
                    <a:pt x="0" y="49965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785487" cy="54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268161" y="2207807"/>
            <a:ext cx="11137301" cy="5219216"/>
          </a:xfrm>
          <a:custGeom>
            <a:avLst/>
            <a:gdLst/>
            <a:ahLst/>
            <a:cxnLst/>
            <a:rect l="l" t="t" r="r" b="b"/>
            <a:pathLst>
              <a:path w="11137301" h="5219216">
                <a:moveTo>
                  <a:pt x="0" y="0"/>
                </a:moveTo>
                <a:lnTo>
                  <a:pt x="11137301" y="0"/>
                </a:lnTo>
                <a:lnTo>
                  <a:pt x="11137301" y="5219215"/>
                </a:lnTo>
                <a:lnTo>
                  <a:pt x="0" y="5219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386938"/>
            <a:ext cx="11008955" cy="217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8359"/>
              </a:lnSpc>
            </a:pPr>
            <a:endParaRPr lang="en-US" sz="8617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7780" y="1712506"/>
            <a:ext cx="89213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Dice &amp; Drill-Across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9916" y="8155841"/>
            <a:ext cx="13436281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Lọc khối dữ liệu con theo nhiều điều kiện (Quốc gia thuộc Bắc Mỹ/Châu Á và Danh mục = AAA Action RPG &amp; Story Expansions) và Drill-Across kết hợp doanh thu bán Game với doanh thu Vật phẩm 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9023" y="-244431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81804" y="-392510"/>
            <a:ext cx="4872009" cy="11072020"/>
            <a:chOff x="0" y="0"/>
            <a:chExt cx="128316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3163" cy="2916088"/>
            </a:xfrm>
            <a:custGeom>
              <a:avLst/>
              <a:gdLst/>
              <a:ahLst/>
              <a:cxnLst/>
              <a:rect l="l" t="t" r="r" b="b"/>
              <a:pathLst>
                <a:path w="1283163" h="2916088">
                  <a:moveTo>
                    <a:pt x="0" y="0"/>
                  </a:moveTo>
                  <a:lnTo>
                    <a:pt x="1283163" y="0"/>
                  </a:lnTo>
                  <a:lnTo>
                    <a:pt x="128316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8316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46700"/>
            <a:ext cx="4928460" cy="18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68"/>
              </a:lnSpc>
            </a:pPr>
            <a:r>
              <a:rPr lang="en-US" sz="14400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MDX &amp; 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530" y="6602812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Ý NGHĨA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5008" y="7550232"/>
            <a:ext cx="10258520" cy="170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14 câu truy vấn MDX và 14 câu SQL/OLAP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Khai thác Time Series (YTD, PARALLELPERIOD, Moving Avg)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Parent-Child (.DATAMEMBER) &amp; Many-to-Many</a:t>
            </a:r>
          </a:p>
          <a:p>
            <a:pPr algn="l">
              <a:lnSpc>
                <a:spcPts val="2858"/>
              </a:lnSpc>
              <a:spcBef>
                <a:spcPct val="0"/>
              </a:spcBef>
            </a:pPr>
            <a:endParaRPr lang="en-US" sz="2579" spc="128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11934" y="3920888"/>
            <a:ext cx="8890453" cy="22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chuỗi thời gian (YTD, YoY, LAG)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tỷ trọng địa lý (CURRENTMEMBER.PARENT)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Top 3 Countries vs Other Countries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Truy vấn SQL ROLLUP, CUBE, GROUPING SETS, Window</a:t>
            </a: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622" spc="13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905624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TRUY VẤN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1419" y="236140"/>
            <a:ext cx="6072778" cy="375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6"/>
              </a:lnSpc>
            </a:pPr>
            <a:r>
              <a:rPr lang="en-US" sz="28810" b="1" spc="-2304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 SÁNH TOP 3 QUỐC GIA VỚI NHÓM CÒN LẠI (OTHER COUNTRIES)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08281" y="3840041"/>
            <a:ext cx="4090311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WITH SET [SetTop3Countries] AS TOPCOUNT(..., 3, [Gross Item Amount])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Gộp nhóm bằng AGGREGATE([SetTop3Countries]) và phép trừ tập hợp [All] - [Top 3 Countries]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Đánh giá mức độ tập trung doanh thu vật phẩm ảo (Skins, Passes, Keys) tại Mỹ, Hàn Quốc, Singapore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945" y="2150927"/>
            <a:ext cx="13065390" cy="7261294"/>
          </a:xfrm>
          <a:custGeom>
            <a:avLst/>
            <a:gdLst/>
            <a:ahLst/>
            <a:cxnLst/>
            <a:rect l="l" t="t" r="r" b="b"/>
            <a:pathLst>
              <a:path w="13065390" h="7261294">
                <a:moveTo>
                  <a:pt x="0" y="0"/>
                </a:moveTo>
                <a:lnTo>
                  <a:pt x="13065390" y="0"/>
                </a:lnTo>
                <a:lnTo>
                  <a:pt x="13065390" y="7261294"/>
                </a:lnTo>
                <a:lnTo>
                  <a:pt x="0" y="726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74961" y="581655"/>
            <a:ext cx="13887771" cy="894091"/>
            <a:chOff x="0" y="0"/>
            <a:chExt cx="18517028" cy="119212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517028" cy="1192121"/>
              <a:chOff x="0" y="0"/>
              <a:chExt cx="6401403" cy="41212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1403" cy="412121"/>
              </a:xfrm>
              <a:custGeom>
                <a:avLst/>
                <a:gdLst/>
                <a:ahLst/>
                <a:cxnLst/>
                <a:rect l="l" t="t" r="r" b="b"/>
                <a:pathLst>
                  <a:path w="6401403" h="412121">
                    <a:moveTo>
                      <a:pt x="17839" y="0"/>
                    </a:moveTo>
                    <a:lnTo>
                      <a:pt x="6383564" y="0"/>
                    </a:lnTo>
                    <a:cubicBezTo>
                      <a:pt x="6393416" y="0"/>
                      <a:pt x="6401403" y="7987"/>
                      <a:pt x="6401403" y="17839"/>
                    </a:cubicBezTo>
                    <a:lnTo>
                      <a:pt x="6401403" y="394282"/>
                    </a:lnTo>
                    <a:cubicBezTo>
                      <a:pt x="6401403" y="404134"/>
                      <a:pt x="6393416" y="412121"/>
                      <a:pt x="6383564" y="412121"/>
                    </a:cubicBezTo>
                    <a:lnTo>
                      <a:pt x="17839" y="412121"/>
                    </a:lnTo>
                    <a:cubicBezTo>
                      <a:pt x="7987" y="412121"/>
                      <a:pt x="0" y="404134"/>
                      <a:pt x="0" y="394282"/>
                    </a:cubicBezTo>
                    <a:lnTo>
                      <a:pt x="0" y="17839"/>
                    </a:lnTo>
                    <a:cubicBezTo>
                      <a:pt x="0" y="7987"/>
                      <a:pt x="7987" y="0"/>
                      <a:pt x="1783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401403" cy="469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19582"/>
              <a:ext cx="18517028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TRUY VẤN ĐỆ QUY PARENT-CHILD VỚI .DATAMEMBER &amp; CLOSURE TABLE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12822" y="4428458"/>
            <a:ext cx="4577728" cy="203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[Publisher].[Studio Hierarchy].CURRENTMEMBER.DATAMEMBER tách doanh thu riêng của công ty mẹ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SQL: Kết bảng bao đóng DimPublisherClosure kiểm tra Distance = 0 so với tổng toàn cây con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90550" y="2308934"/>
            <a:ext cx="13056594" cy="7267427"/>
          </a:xfrm>
          <a:custGeom>
            <a:avLst/>
            <a:gdLst/>
            <a:ahLst/>
            <a:cxnLst/>
            <a:rect l="l" t="t" r="r" b="b"/>
            <a:pathLst>
              <a:path w="13056594" h="7267427">
                <a:moveTo>
                  <a:pt x="0" y="0"/>
                </a:moveTo>
                <a:lnTo>
                  <a:pt x="13056593" y="0"/>
                </a:lnTo>
                <a:lnTo>
                  <a:pt x="13056593" y="7267427"/>
                </a:lnTo>
                <a:lnTo>
                  <a:pt x="0" y="7267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93066" y="733996"/>
            <a:ext cx="13730919" cy="934993"/>
            <a:chOff x="0" y="0"/>
            <a:chExt cx="18307892" cy="124665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307892" cy="1246658"/>
              <a:chOff x="0" y="0"/>
              <a:chExt cx="6329104" cy="4309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29104" cy="430974"/>
              </a:xfrm>
              <a:custGeom>
                <a:avLst/>
                <a:gdLst/>
                <a:ahLst/>
                <a:cxnLst/>
                <a:rect l="l" t="t" r="r" b="b"/>
                <a:pathLst>
                  <a:path w="6329104" h="430974">
                    <a:moveTo>
                      <a:pt x="18043" y="0"/>
                    </a:moveTo>
                    <a:lnTo>
                      <a:pt x="6311061" y="0"/>
                    </a:lnTo>
                    <a:cubicBezTo>
                      <a:pt x="6315847" y="0"/>
                      <a:pt x="6320436" y="1901"/>
                      <a:pt x="6323819" y="5285"/>
                    </a:cubicBezTo>
                    <a:cubicBezTo>
                      <a:pt x="6327203" y="8668"/>
                      <a:pt x="6329104" y="13257"/>
                      <a:pt x="6329104" y="18043"/>
                    </a:cubicBezTo>
                    <a:lnTo>
                      <a:pt x="6329104" y="412931"/>
                    </a:lnTo>
                    <a:cubicBezTo>
                      <a:pt x="6329104" y="422896"/>
                      <a:pt x="6321026" y="430974"/>
                      <a:pt x="6311061" y="430974"/>
                    </a:cubicBezTo>
                    <a:lnTo>
                      <a:pt x="18043" y="430974"/>
                    </a:lnTo>
                    <a:cubicBezTo>
                      <a:pt x="8078" y="430974"/>
                      <a:pt x="0" y="422896"/>
                      <a:pt x="0" y="412931"/>
                    </a:cubicBezTo>
                    <a:lnTo>
                      <a:pt x="0" y="18043"/>
                    </a:lnTo>
                    <a:cubicBezTo>
                      <a:pt x="0" y="8078"/>
                      <a:pt x="8078" y="0"/>
                      <a:pt x="1804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329104" cy="4881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81054"/>
              <a:ext cx="183078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ĐA THỂ LOẠI (MANY-TO-MANY) &amp; ACTIVE BUYERS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80013" y="3394615"/>
            <a:ext cx="3936390" cy="449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Đếm số lượng người mua duy nhất (Active Buyers) bằng DISTINCTCOUNT và COUNT(..., EXCLUDEEMPTY)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Nhân doanh thu với trọng số WeightFactor trên bảng BridgeGameGenre để chống cộng trùng (Double-Counting)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So sánh doanh thu có trọng số và không trọng số giữa các thể loại Action RPG, Open World, Tactical Shooter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24371" y="2315760"/>
            <a:ext cx="13068308" cy="7253774"/>
          </a:xfrm>
          <a:custGeom>
            <a:avLst/>
            <a:gdLst/>
            <a:ahLst/>
            <a:cxnLst/>
            <a:rect l="l" t="t" r="r" b="b"/>
            <a:pathLst>
              <a:path w="13068308" h="7253774">
                <a:moveTo>
                  <a:pt x="0" y="0"/>
                </a:moveTo>
                <a:lnTo>
                  <a:pt x="13068308" y="0"/>
                </a:lnTo>
                <a:lnTo>
                  <a:pt x="13068308" y="7253775"/>
                </a:lnTo>
                <a:lnTo>
                  <a:pt x="0" y="725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4536" y="432233"/>
            <a:ext cx="8427701" cy="757066"/>
            <a:chOff x="0" y="0"/>
            <a:chExt cx="11236935" cy="10094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236935" cy="1009422"/>
              <a:chOff x="0" y="0"/>
              <a:chExt cx="3884649" cy="34896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84649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84649" h="348961">
                    <a:moveTo>
                      <a:pt x="29396" y="0"/>
                    </a:moveTo>
                    <a:lnTo>
                      <a:pt x="3855253" y="0"/>
                    </a:lnTo>
                    <a:cubicBezTo>
                      <a:pt x="3871488" y="0"/>
                      <a:pt x="3884649" y="13161"/>
                      <a:pt x="3884649" y="29396"/>
                    </a:cubicBezTo>
                    <a:lnTo>
                      <a:pt x="3884649" y="319565"/>
                    </a:lnTo>
                    <a:cubicBezTo>
                      <a:pt x="3884649" y="335800"/>
                      <a:pt x="3871488" y="348961"/>
                      <a:pt x="3855253" y="348961"/>
                    </a:cubicBezTo>
                    <a:lnTo>
                      <a:pt x="29396" y="348961"/>
                    </a:lnTo>
                    <a:cubicBezTo>
                      <a:pt x="13161" y="348961"/>
                      <a:pt x="0" y="335800"/>
                      <a:pt x="0" y="319565"/>
                    </a:cubicBezTo>
                    <a:lnTo>
                      <a:pt x="0" y="29396"/>
                    </a:lnTo>
                    <a:cubicBezTo>
                      <a:pt x="0" y="13161"/>
                      <a:pt x="13161" y="0"/>
                      <a:pt x="2939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3884649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52479"/>
              <a:ext cx="11236935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TÌM THÁNG ĐẠT ĐỈNH DOANH THU (PEAK MONTH)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 rot="-8410460">
            <a:off x="-2260200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34735" y="1880036"/>
            <a:ext cx="8447461" cy="4736100"/>
          </a:xfrm>
          <a:custGeom>
            <a:avLst/>
            <a:gdLst/>
            <a:ahLst/>
            <a:cxnLst/>
            <a:rect l="l" t="t" r="r" b="b"/>
            <a:pathLst>
              <a:path w="8447461" h="4736100">
                <a:moveTo>
                  <a:pt x="0" y="0"/>
                </a:moveTo>
                <a:lnTo>
                  <a:pt x="8447460" y="0"/>
                </a:lnTo>
                <a:lnTo>
                  <a:pt x="8447460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92579" y="439941"/>
            <a:ext cx="8289616" cy="757066"/>
            <a:chOff x="0" y="0"/>
            <a:chExt cx="11052822" cy="100942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1052822" cy="1009422"/>
              <a:chOff x="0" y="0"/>
              <a:chExt cx="3821000" cy="3489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821000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21000" h="348961">
                    <a:moveTo>
                      <a:pt x="29886" y="0"/>
                    </a:moveTo>
                    <a:lnTo>
                      <a:pt x="3791114" y="0"/>
                    </a:lnTo>
                    <a:cubicBezTo>
                      <a:pt x="3799041" y="0"/>
                      <a:pt x="3806642" y="3149"/>
                      <a:pt x="3812247" y="8753"/>
                    </a:cubicBezTo>
                    <a:cubicBezTo>
                      <a:pt x="3817851" y="14358"/>
                      <a:pt x="3821000" y="21960"/>
                      <a:pt x="3821000" y="29886"/>
                    </a:cubicBezTo>
                    <a:lnTo>
                      <a:pt x="3821000" y="319075"/>
                    </a:lnTo>
                    <a:cubicBezTo>
                      <a:pt x="3821000" y="327001"/>
                      <a:pt x="3817851" y="334603"/>
                      <a:pt x="3812247" y="340207"/>
                    </a:cubicBezTo>
                    <a:cubicBezTo>
                      <a:pt x="3806642" y="345812"/>
                      <a:pt x="3799041" y="348961"/>
                      <a:pt x="3791114" y="348961"/>
                    </a:cubicBezTo>
                    <a:lnTo>
                      <a:pt x="29886" y="348961"/>
                    </a:lnTo>
                    <a:cubicBezTo>
                      <a:pt x="21960" y="348961"/>
                      <a:pt x="14358" y="345812"/>
                      <a:pt x="8753" y="340207"/>
                    </a:cubicBezTo>
                    <a:cubicBezTo>
                      <a:pt x="3149" y="334603"/>
                      <a:pt x="0" y="327001"/>
                      <a:pt x="0" y="319075"/>
                    </a:cubicBezTo>
                    <a:lnTo>
                      <a:pt x="0" y="29886"/>
                    </a:lnTo>
                    <a:cubicBezTo>
                      <a:pt x="0" y="21960"/>
                      <a:pt x="3149" y="14358"/>
                      <a:pt x="8753" y="8753"/>
                    </a:cubicBezTo>
                    <a:cubicBezTo>
                      <a:pt x="14358" y="3149"/>
                      <a:pt x="21960" y="0"/>
                      <a:pt x="2988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3821000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352479"/>
              <a:ext cx="11052822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LỌC NGƯỜI CHƠI CÓ BIÊN LỢI NHUẬN THẤP HƠN THÀNH PHỐ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201131" y="1880036"/>
            <a:ext cx="8670206" cy="4736100"/>
          </a:xfrm>
          <a:custGeom>
            <a:avLst/>
            <a:gdLst/>
            <a:ahLst/>
            <a:cxnLst/>
            <a:rect l="l" t="t" r="r" b="b"/>
            <a:pathLst>
              <a:path w="8670206" h="4736100">
                <a:moveTo>
                  <a:pt x="0" y="0"/>
                </a:moveTo>
                <a:lnTo>
                  <a:pt x="8670206" y="0"/>
                </a:lnTo>
                <a:lnTo>
                  <a:pt x="8670206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352236" y="8502968"/>
            <a:ext cx="14364998" cy="101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325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Chuỗi phân tích chuyên sâu: Slicing → Relative Navigation → Time Series → Top/Bottom Set → Parent-Child → Drill-Across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4536" y="6954012"/>
            <a:ext cx="8607276" cy="80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TOPCOUNT(DESCENDANTS(Year, Month), 1, [Net Sales]).ITEM(0).NAME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Xác định chính xác tháng bùng nổ doanh số của từng danh mục tại từng quốc gia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4735" y="6894004"/>
            <a:ext cx="8607276" cy="162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hàm FILTER(NONEMPTY(Player.MEMBERS), [Net Margin %] &lt; [City Margin %])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Phát hiện các tài khoản lạm dụng chiết khấu hoặc hoàn tiền cao hơn mức trung bình của thành phố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TỔNG QUAN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046438" y="1867601"/>
            <a:ext cx="13071972" cy="7271284"/>
          </a:xfrm>
          <a:custGeom>
            <a:avLst/>
            <a:gdLst/>
            <a:ahLst/>
            <a:cxnLst/>
            <a:rect l="l" t="t" r="r" b="b"/>
            <a:pathLst>
              <a:path w="13071972" h="7271284">
                <a:moveTo>
                  <a:pt x="0" y="0"/>
                </a:moveTo>
                <a:lnTo>
                  <a:pt x="13071972" y="0"/>
                </a:lnTo>
                <a:lnTo>
                  <a:pt x="13071972" y="7271285"/>
                </a:lnTo>
                <a:lnTo>
                  <a:pt x="0" y="727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106" y="3394615"/>
            <a:ext cx="3342496" cy="53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Tổng giao dịch: 10.000+ dòng | Tỷ lệ Net Margin: ~91,5%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Mảng In-Game Items (Skins/Passes/Keys) có biên lợi nhuận vượt trội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trưởng mạnh vào Quý 4 và các đợt phát hành DLC lớn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Khuyến nghị đẩy mạnh mô hình Live-Ops &amp; Battle 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THỜI GIAN &amp; ĐỊA LÝ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741395" y="2118821"/>
            <a:ext cx="7008836" cy="5464031"/>
          </a:xfrm>
          <a:custGeom>
            <a:avLst/>
            <a:gdLst/>
            <a:ahLst/>
            <a:cxnLst/>
            <a:rect l="l" t="t" r="r" b="b"/>
            <a:pathLst>
              <a:path w="7008836" h="5464031">
                <a:moveTo>
                  <a:pt x="0" y="0"/>
                </a:moveTo>
                <a:lnTo>
                  <a:pt x="7008837" y="0"/>
                </a:lnTo>
                <a:lnTo>
                  <a:pt x="7008837" y="5464032"/>
                </a:lnTo>
                <a:lnTo>
                  <a:pt x="0" y="5464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19251" y="2118821"/>
            <a:ext cx="7054357" cy="5456329"/>
          </a:xfrm>
          <a:custGeom>
            <a:avLst/>
            <a:gdLst/>
            <a:ahLst/>
            <a:cxnLst/>
            <a:rect l="l" t="t" r="r" b="b"/>
            <a:pathLst>
              <a:path w="7054357" h="5456329">
                <a:moveTo>
                  <a:pt x="0" y="0"/>
                </a:moveTo>
                <a:lnTo>
                  <a:pt x="7054357" y="0"/>
                </a:lnTo>
                <a:lnTo>
                  <a:pt x="7054357" y="5456329"/>
                </a:lnTo>
                <a:lnTo>
                  <a:pt x="0" y="5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7946687"/>
            <a:ext cx="8489156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đều qua 3 phân vùng Sales_2024, Sales_2025, Sales_2026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Trung bình trượt 3 tháng (MovAvg) phản ánh chu kỳ mùa vụ rõ rệt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9251" y="7946687"/>
            <a:ext cx="7242691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Bắc Mỹ và Châu Á (Việt Nam, Singapore, Hàn Quốc) dẫn đầu doanh số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Thị trường Châu Á chiếm tỷ trọng cao nhất ở mảng Vật phẩm ảo CS2 &amp; Dota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DANH MỤC &amp; VIP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79271" y="2061372"/>
            <a:ext cx="6881597" cy="5456329"/>
          </a:xfrm>
          <a:custGeom>
            <a:avLst/>
            <a:gdLst/>
            <a:ahLst/>
            <a:cxnLst/>
            <a:rect l="l" t="t" r="r" b="b"/>
            <a:pathLst>
              <a:path w="6881597" h="5456329">
                <a:moveTo>
                  <a:pt x="0" y="0"/>
                </a:moveTo>
                <a:lnTo>
                  <a:pt x="6881597" y="0"/>
                </a:lnTo>
                <a:lnTo>
                  <a:pt x="6881597" y="5456330"/>
                </a:lnTo>
                <a:lnTo>
                  <a:pt x="0" y="5456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805894" y="2129341"/>
            <a:ext cx="6634744" cy="5323530"/>
          </a:xfrm>
          <a:custGeom>
            <a:avLst/>
            <a:gdLst/>
            <a:ahLst/>
            <a:cxnLst/>
            <a:rect l="l" t="t" r="r" b="b"/>
            <a:pathLst>
              <a:path w="6634744" h="5323530">
                <a:moveTo>
                  <a:pt x="0" y="0"/>
                </a:moveTo>
                <a:lnTo>
                  <a:pt x="6634744" y="0"/>
                </a:lnTo>
                <a:lnTo>
                  <a:pt x="6634744" y="5323529"/>
                </a:lnTo>
                <a:lnTo>
                  <a:pt x="0" y="5323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547CAA"/>
            </a:solidFill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652338" y="7991475"/>
            <a:ext cx="8645962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AAA Action RPG (Diablo IV, Elden Ring, Cyberpunk) dẫn đầu doanh thu bán Game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Cosmetic Skins (Karambit Sapphire, AK-47 Gold Arabesque) dẫn đầu giá trị đơn hàng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42521" y="7991475"/>
            <a:ext cx="8106489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khách hàng Diamond &amp; Platinum (Whales) đóng góp &gt;65% doanh thu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Theo dõi SCD Type 2/6 cho thấy hiệu quả rõ rệt khi người chơi nâng hạng từ Gold lên Diamond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PUBLISHER &amp; GENRE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838804" y="7519896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834042" y="747703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56945" y="2063757"/>
            <a:ext cx="14766754" cy="5759034"/>
          </a:xfrm>
          <a:custGeom>
            <a:avLst/>
            <a:gdLst/>
            <a:ahLst/>
            <a:cxnLst/>
            <a:rect l="l" t="t" r="r" b="b"/>
            <a:pathLst>
              <a:path w="14766754" h="5759034">
                <a:moveTo>
                  <a:pt x="0" y="0"/>
                </a:moveTo>
                <a:lnTo>
                  <a:pt x="14766754" y="0"/>
                </a:lnTo>
                <a:lnTo>
                  <a:pt x="14766754" y="5759034"/>
                </a:lnTo>
                <a:lnTo>
                  <a:pt x="0" y="575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053772" y="8070441"/>
            <a:ext cx="7542848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Tập đoàn Xbox Game Studios dẫn đầu tổng doanh thu toàn cây phân cấp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Valve Corporation dẫn đầu doanh thu trực tiếp (Personal Sales) nhờ hệ sinh thái CS2 &amp; Dota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380" y="8060916"/>
            <a:ext cx="9149120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Action RPG và Tactical Shooter chiếm thị phần cao nhất sau khi nhân WeightFactor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Loại bỏ hoàn toàn sai số cộng trùng (Double-Counting) trên báo cáo thể loại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28310" y="5143500"/>
            <a:ext cx="8431381" cy="2479244"/>
            <a:chOff x="0" y="0"/>
            <a:chExt cx="2220611" cy="652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0611" cy="652970"/>
            </a:xfrm>
            <a:custGeom>
              <a:avLst/>
              <a:gdLst/>
              <a:ahLst/>
              <a:cxnLst/>
              <a:rect l="l" t="t" r="r" b="b"/>
              <a:pathLst>
                <a:path w="2220611" h="652970">
                  <a:moveTo>
                    <a:pt x="0" y="0"/>
                  </a:moveTo>
                  <a:lnTo>
                    <a:pt x="2220611" y="0"/>
                  </a:lnTo>
                  <a:lnTo>
                    <a:pt x="2220611" y="652970"/>
                  </a:lnTo>
                  <a:lnTo>
                    <a:pt x="0" y="652970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20611" cy="700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60705">
            <a:off x="1423346" y="-1948290"/>
            <a:ext cx="15441309" cy="6543255"/>
          </a:xfrm>
          <a:custGeom>
            <a:avLst/>
            <a:gdLst/>
            <a:ahLst/>
            <a:cxnLst/>
            <a:rect l="l" t="t" r="r" b="b"/>
            <a:pathLst>
              <a:path w="15441309" h="6543255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21043" y="3921572"/>
            <a:ext cx="9445915" cy="120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 ƠN THẦY CÔ &amp; CÁC BẠN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577" y="5623546"/>
            <a:ext cx="7416846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ĐÃ LẮNG NGHE PHẦN TRÌNH BÀY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1970</Words>
  <Application>Microsoft Office PowerPoint</Application>
  <PresentationFormat>Custom</PresentationFormat>
  <Paragraphs>243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Montserrat Extra-Light</vt:lpstr>
      <vt:lpstr>Calibri</vt:lpstr>
      <vt:lpstr>Arial</vt:lpstr>
      <vt:lpstr>Francois One</vt:lpstr>
      <vt:lpstr>Montserrat Bold</vt:lpstr>
      <vt:lpstr>Montserrat Italics</vt:lpstr>
      <vt:lpstr>Montserrat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KHO_GKI</dc:title>
  <cp:lastModifiedBy>ngo nhat huy</cp:lastModifiedBy>
  <cp:revision>2</cp:revision>
  <dcterms:created xsi:type="dcterms:W3CDTF">2006-08-16T00:00:00Z</dcterms:created>
  <dcterms:modified xsi:type="dcterms:W3CDTF">2026-10-16T10:09:47Z</dcterms:modified>
  <dc:identifier>DAHBorGaCGk</dc:identifier>
</cp:coreProperties>
</file>
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media/image1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1" r:id="rId6"/>
    <p:sldId id="268" r:id="rId13"/>
    <p:sldId id="271" r:id="rId16"/>
    <p:sldId id="270" r:id="rId15"/>
    <p:sldId id="272" r:id="rId17"/>
    <p:sldId id="276" r:id="rId21"/>
    <p:sldId id="262" r:id="rId7"/>
    <p:sldId id="265" r:id="rId10"/>
    <p:sldId id="266" r:id="rId11"/>
    <p:sldId id="280" r:id="rId25"/>
    <p:sldId id="283" r:id="rId28"/>
    <p:sldId id="291" r:id="rId36"/>
    <p:sldId id="292" r:id="rId37"/>
    <p:sldId id="301" r:id="rId46"/>
    <p:sldId id="302" r:id="rId47"/>
  </p:sldIdLst>
  <p:sldSz cx="18288000" cy="10287000"/>
  <p:notesSz cx="6858000" cy="9144000"/>
  <p:embeddedFontLst>
    <p:embeddedFont>
      <p:font typeface="Francois One" panose="020B0604020202020204" charset="0"/>
      <p:regular r:id="rId49"/>
    </p:embeddedFont>
    <p:embeddedFont>
      <p:font typeface="Montserrat" panose="00000500000000000000" pitchFamily="2" charset="0"/>
      <p:regular r:id="rId50"/>
    </p:embeddedFont>
    <p:embeddedFont>
      <p:font typeface="Montserrat Bold" panose="00000800000000000000" charset="0"/>
      <p:regular r:id="rId51"/>
    </p:embeddedFont>
    <p:embeddedFont>
      <p:font typeface="Montserrat Extra-Light" panose="020B0604020202020204" charset="0"/>
      <p:regular r:id="rId52"/>
    </p:embeddedFont>
    <p:embeddedFont>
      <p:font typeface="Montserrat Italics" panose="020B0604020202020204" charset="0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3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font" Target="fonts/font1.fntdata"/><Relationship Id="rId50" Type="http://schemas.openxmlformats.org/officeDocument/2006/relationships/font" Target="fonts/font2.fntdata"/><Relationship Id="rId51" Type="http://schemas.openxmlformats.org/officeDocument/2006/relationships/font" Target="fonts/font3.fntdata"/><Relationship Id="rId52" Type="http://schemas.openxmlformats.org/officeDocument/2006/relationships/font" Target="fonts/font4.fntdata"/><Relationship Id="rId53" Type="http://schemas.openxmlformats.org/officeDocument/2006/relationships/font" Target="fonts/font5.fntdata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5.png"/><Relationship Id="rId6" Type="http://schemas.openxmlformats.org/officeDocument/2006/relationships/oleObject" Target="../embeddings/oleObject3.bin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oleObject" Target="../embeddings/oleObject4.bin"/><Relationship Id="rId5" Type="http://schemas.openxmlformats.org/officeDocument/2006/relationships/image" Target="../media/image7.png"/><Relationship Id="rId6" Type="http://schemas.openxmlformats.org/officeDocument/2006/relationships/oleObject" Target="../embeddings/oleObject5.bin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oleObject" Target="../embeddings/oleObject6.bin"/><Relationship Id="rId6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svg"/><Relationship Id="rId5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8.png"/><Relationship Id="rId5" Type="http://schemas.openxmlformats.org/officeDocument/2006/relationships/image" Target="../media/image22.png"/><Relationship Id="rId6" Type="http://schemas.openxmlformats.org/officeDocument/2006/relationships/image" Target="../media/image3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4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4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4.png"/><Relationship Id="rId4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7862">
            <a:off x="6110388" y="5304279"/>
            <a:ext cx="15048401" cy="6376760"/>
          </a:xfrm>
          <a:custGeom>
            <a:avLst/>
            <a:gdLst/>
            <a:ahLst/>
            <a:cxnLst/>
            <a:rect l="l" t="t" r="r" b="b"/>
            <a:pathLst>
              <a:path w="15048401" h="6376760">
                <a:moveTo>
                  <a:pt x="0" y="0"/>
                </a:moveTo>
                <a:lnTo>
                  <a:pt x="15048401" y="0"/>
                </a:lnTo>
                <a:lnTo>
                  <a:pt x="15048401" y="6376760"/>
                </a:lnTo>
                <a:lnTo>
                  <a:pt x="0" y="6376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32478" y="7009521"/>
            <a:ext cx="9637365" cy="212578"/>
            <a:chOff x="0" y="0"/>
            <a:chExt cx="2538236" cy="559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38236" cy="55988"/>
            </a:xfrm>
            <a:custGeom>
              <a:avLst/>
              <a:gdLst/>
              <a:ahLst/>
              <a:cxnLst/>
              <a:rect l="l" t="t" r="r" b="b"/>
              <a:pathLst>
                <a:path w="2538236" h="55988">
                  <a:moveTo>
                    <a:pt x="0" y="0"/>
                  </a:moveTo>
                  <a:lnTo>
                    <a:pt x="2538236" y="0"/>
                  </a:lnTo>
                  <a:lnTo>
                    <a:pt x="2538236" y="55988"/>
                  </a:lnTo>
                  <a:lnTo>
                    <a:pt x="0" y="559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538236" cy="1036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V="1">
            <a:off x="-641393" y="-1165054"/>
            <a:ext cx="6732105" cy="4030848"/>
          </a:xfrm>
          <a:custGeom>
            <a:avLst/>
            <a:gdLst/>
            <a:ahLst/>
            <a:cxnLst/>
            <a:rect l="l" t="t" r="r" b="b"/>
            <a:pathLst>
              <a:path w="6732105" h="4030848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3219588"/>
            <a:ext cx="14039003" cy="170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89"/>
              </a:lnSpc>
              <a:spcBef>
                <a:spcPct val="0"/>
              </a:spcBef>
            </a:pPr>
            <a:r>
              <a:rPr lang="en-US" sz="9992" b="1" spc="499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BÁO CÁO ĐỒ ÁN KHO DỮ LIỆU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7174" y="4837683"/>
            <a:ext cx="15134802" cy="167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7"/>
              </a:lnSpc>
              <a:spcBef>
                <a:spcPct val="0"/>
              </a:spcBef>
            </a:pPr>
            <a:r>
              <a:rPr lang="en-US" sz="4826" spc="526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KHO DỮ LIỆU PHÂN TÍCH DOANH THU CỬA HÀNG GAME &amp; VẬT PHẨM ẢO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8079909"/>
            <a:ext cx="2554023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Presented By: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61206" y="8079909"/>
            <a:ext cx="3928552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Group 07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04575" y="812270"/>
            <a:ext cx="300194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67703" y="812270"/>
            <a:ext cx="219159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 dirty="0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46639" y="812270"/>
            <a:ext cx="219159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Project.</a:t>
            </a: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12742276" y="-5341984"/>
            <a:ext cx="643045" cy="12669823"/>
            <a:chOff x="0" y="0"/>
            <a:chExt cx="169362" cy="33369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9362" cy="3336908"/>
            </a:xfrm>
            <a:custGeom>
              <a:avLst/>
              <a:gdLst/>
              <a:ahLst/>
              <a:cxnLst/>
              <a:rect l="l" t="t" r="r" b="b"/>
              <a:pathLst>
                <a:path w="169362" h="3336908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3252227"/>
                  </a:lnTo>
                  <a:cubicBezTo>
                    <a:pt x="169362" y="3274686"/>
                    <a:pt x="160440" y="3296225"/>
                    <a:pt x="144559" y="3312106"/>
                  </a:cubicBezTo>
                  <a:cubicBezTo>
                    <a:pt x="128678" y="3327986"/>
                    <a:pt x="107140" y="3336908"/>
                    <a:pt x="84681" y="3336908"/>
                  </a:cubicBezTo>
                  <a:lnTo>
                    <a:pt x="84681" y="3336908"/>
                  </a:lnTo>
                  <a:cubicBezTo>
                    <a:pt x="37913" y="3336908"/>
                    <a:pt x="0" y="3298995"/>
                    <a:pt x="0" y="325222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69362" cy="3384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ns3="http://schemas.openxmlformats.org/markup-compatibility/2006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4366" y="-196806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8865" y="-392510"/>
            <a:ext cx="5446628" cy="11072020"/>
            <a:chOff x="0" y="0"/>
            <a:chExt cx="1434503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34503" cy="2916088"/>
            </a:xfrm>
            <a:custGeom>
              <a:avLst/>
              <a:gdLst/>
              <a:ahLst/>
              <a:cxnLst/>
              <a:rect l="l" t="t" r="r" b="b"/>
              <a:pathLst>
                <a:path w="1434503" h="2916088">
                  <a:moveTo>
                    <a:pt x="0" y="0"/>
                  </a:moveTo>
                  <a:lnTo>
                    <a:pt x="1434503" y="0"/>
                  </a:lnTo>
                  <a:lnTo>
                    <a:pt x="1434503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34503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431877" y="633234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 rot="-5400000">
            <a:off x="3180213" y="7315170"/>
            <a:ext cx="249294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251355" y="424358"/>
            <a:ext cx="466876" cy="9407130"/>
            <a:chOff x="0" y="0"/>
            <a:chExt cx="122963" cy="24775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2963" cy="2477598"/>
            </a:xfrm>
            <a:custGeom>
              <a:avLst/>
              <a:gdLst/>
              <a:ahLst/>
              <a:cxnLst/>
              <a:rect l="l" t="t" r="r" b="b"/>
              <a:pathLst>
                <a:path w="122963" h="2477598">
                  <a:moveTo>
                    <a:pt x="61482" y="0"/>
                  </a:moveTo>
                  <a:lnTo>
                    <a:pt x="61482" y="0"/>
                  </a:lnTo>
                  <a:cubicBezTo>
                    <a:pt x="95437" y="0"/>
                    <a:pt x="122963" y="27526"/>
                    <a:pt x="122963" y="61482"/>
                  </a:cubicBezTo>
                  <a:lnTo>
                    <a:pt x="122963" y="2416116"/>
                  </a:lnTo>
                  <a:cubicBezTo>
                    <a:pt x="122963" y="2450072"/>
                    <a:pt x="95437" y="2477598"/>
                    <a:pt x="61482" y="2477598"/>
                  </a:cubicBezTo>
                  <a:lnTo>
                    <a:pt x="61482" y="2477598"/>
                  </a:lnTo>
                  <a:cubicBezTo>
                    <a:pt x="27526" y="2477598"/>
                    <a:pt x="0" y="2450072"/>
                    <a:pt x="0" y="2416116"/>
                  </a:cubicBezTo>
                  <a:lnTo>
                    <a:pt x="0" y="61482"/>
                  </a:lnTo>
                  <a:cubicBezTo>
                    <a:pt x="0" y="27526"/>
                    <a:pt x="27526" y="0"/>
                    <a:pt x="61482" y="0"/>
                  </a:cubicBezTo>
                  <a:close/>
                </a:path>
              </a:pathLst>
            </a:custGeom>
            <a:ln w="19050" cap="rnd">
              <a:solidFill>
                <a:srgbClr val="F2F7FA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2963" cy="2525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aphicFrame>
        <p:nvGraphicFramePr>
          <p:cNvPr id="11" name="Object 11"/>
          <p:cNvGraphicFramePr/>
          <p:nvPr/>
        </p:nvGraphicFramePr>
        <p:xfrm>
          <a:off x="6212501" y="4911215"/>
          <a:ext cx="11087100" cy="3143250"/>
        </p:xfrm>
        <a:graphic>
          <a:graphicData uri="http://schemas.openxmlformats.org/presentationml/2006/ole">
            <ns3:AlternateContent>
              <ns3:Choice Requires="v">
                <p:oleObj name="Worksheet" r:id="rId3" imgW="13296900" imgH="5359400" progId="Excel.Sheet.12">
                  <p:embed/>
                </p:oleObj>
              </ns3:Choice>
              <ns3:Fallback>
                <p:oleObj name="Worksheet" r:id="rId3" imgW="13296900" imgH="5359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12501" y="4911215"/>
                        <a:ext cx="11087100" cy="3143250"/>
                      </a:xfrm>
                      <a:prstGeom prst="rect">
                        <a:avLst/>
                      </a:prstGeom>
                    </p:spPr>
                  </p:pic>
                </p:oleObj>
              </ns3:Fallback>
            </ns3:AlternateContent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5593065" y="678333"/>
            <a:ext cx="11997636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40"/>
              </a:lnSpc>
            </a:pPr>
            <a:r>
              <a:rPr lang="en-US" sz="6800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GIỚI THIỆU BỘ DỮ LIỆU &amp; ĐẶC TẢ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988633" y="186643"/>
            <a:ext cx="6026397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93065" y="1976503"/>
            <a:ext cx="9973606" cy="2209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499"/>
              </a:lnSpc>
              <a:buAutoNum type="arabicPeriod"/>
            </a:pPr>
            <a:r>
              <a:rPr lang="en-US" sz="2999" spc="14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Tên hệ thống: GameStoreOLTP &amp; GameStoreDW</a:t>
            </a:r>
          </a:p>
          <a:p>
            <a:pPr marL="647695" lvl="1" indent="-323848" algn="l">
              <a:lnSpc>
                <a:spcPts val="4499"/>
              </a:lnSpc>
              <a:buFont typeface="Arial"/>
              <a:buChar char="•"/>
            </a:pPr>
            <a:r>
              <a:rPr lang="en-US" sz="2999" spc="14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Nguồn dữ liệu: CSDL 3NF bán Game/DLC &amp; Vật phẩm ảo + 3 nguồn ngoại vi (Time.csv, Territories.xml, Cities.txt).</a:t>
            </a:r>
          </a:p>
          <a:p>
            <a:pPr algn="l">
              <a:lnSpc>
                <a:spcPts val="4499"/>
              </a:lnSpc>
            </a:pPr>
            <a:endParaRPr lang="en-US" sz="2999" spc="14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834640" y="4130165"/>
            <a:ext cx="4649315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4199"/>
              </a:lnSpc>
              <a:spcBef>
                <a:spcPct val="0"/>
              </a:spcBef>
              <a:buAutoNum type="arabicPeriod"/>
            </a:pPr>
            <a:r>
              <a:rPr lang="en-US" sz="2999" spc="14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Quy mô: 10.000+ giao dịch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ns3="http://schemas.openxmlformats.org/markup-compatibility/2006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45375" y="-2788206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36971" y="6545821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aphicFrame>
        <p:nvGraphicFramePr>
          <p:cNvPr id="7" name="Object 7"/>
          <p:cNvGraphicFramePr/>
          <p:nvPr/>
        </p:nvGraphicFramePr>
        <p:xfrm>
          <a:off x="514565" y="2843995"/>
          <a:ext cx="8758238" cy="3143250"/>
        </p:xfrm>
        <a:graphic>
          <a:graphicData uri="http://schemas.openxmlformats.org/presentationml/2006/ole">
            <ns3:AlternateContent>
              <ns3:Choice Requires="v">
                <p:oleObj name="Worksheet" r:id="rId4" imgW="10502900" imgH="4889500" progId="Excel.Sheet.12">
                  <p:embed/>
                </p:oleObj>
              </ns3:Choice>
              <ns3:Fallback>
                <p:oleObj name="Worksheet" r:id="rId4" imgW="10502900" imgH="4889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4565" y="2843995"/>
                        <a:ext cx="8758238" cy="3143250"/>
                      </a:xfrm>
                      <a:prstGeom prst="rect">
                        <a:avLst/>
                      </a:prstGeom>
                    </p:spPr>
                  </p:pic>
                </p:oleObj>
              </ns3:Fallback>
            </ns3:AlternateContent>
          </a:graphicData>
        </a:graphic>
      </p:graphicFrame>
      <p:graphicFrame>
        <p:nvGraphicFramePr>
          <p:cNvPr id="8" name="Object 8"/>
          <p:cNvGraphicFramePr/>
          <p:nvPr/>
        </p:nvGraphicFramePr>
        <p:xfrm>
          <a:off x="8912046" y="2843995"/>
          <a:ext cx="6686550" cy="4400550"/>
        </p:xfrm>
        <a:graphic>
          <a:graphicData uri="http://schemas.openxmlformats.org/presentationml/2006/ole">
            <ns3:AlternateContent>
              <ns3:Choice Requires="v">
                <p:oleObj name="Worksheet" r:id="rId6" imgW="8013700" imgH="5727700" progId="Excel.Sheet.12">
                  <p:embed/>
                </p:oleObj>
              </ns3:Choice>
              <ns3:Fallback>
                <p:oleObj name="Worksheet" r:id="rId6" imgW="8013700" imgH="5727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912046" y="2843995"/>
                        <a:ext cx="6686550" cy="4400550"/>
                      </a:xfrm>
                      <a:prstGeom prst="rect">
                        <a:avLst/>
                      </a:prstGeom>
                    </p:spPr>
                  </p:pic>
                </p:oleObj>
              </ns3:Fallback>
            </ns3:AlternateContent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13398251" y="7795527"/>
            <a:ext cx="5453898" cy="3719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87"/>
              </a:lnSpc>
            </a:pPr>
            <a:r>
              <a:rPr lang="en-US" sz="28543" b="1" spc="-2283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4565" y="2096192"/>
            <a:ext cx="3876356" cy="471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b="1" spc="67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BẢNG PLAYERS &amp; PUBLISHERS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79503" y="660399"/>
            <a:ext cx="5865087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199">
                <a:solidFill>
                  <a:srgbClr val="000000"/>
                </a:solidFill>
                <a:latin typeface="Francois One"/>
                <a:ea typeface="Francois One"/>
                <a:cs typeface="Francois One"/>
                <a:sym typeface="Francois One"/>
              </a:rPr>
              <a:t>3. GIẢI THÍCH DỮ LIỆU NGUỒN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86933" y="2096192"/>
            <a:ext cx="3110820" cy="471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b="1" spc="67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BẢNG GAMES &amp; IN-GAME ITEMS</a:t>
            </a:r>
          </a:p>
        </p:txBody>
      </p:sp>
      <p:sp>
        <p:nvSpPr>
          <p:cNvPr id="13" name="Freeform 13"/>
          <p:cNvSpPr/>
          <p:nvPr/>
        </p:nvSpPr>
        <p:spPr>
          <a:xfrm rot="-8410460">
            <a:off x="-2362813" y="7951956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ns3="http://schemas.openxmlformats.org/markup-compatibility/2006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45375" y="-3017573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36971" y="6545821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aphicFrame>
        <p:nvGraphicFramePr>
          <p:cNvPr id="7" name="Object 7"/>
          <p:cNvGraphicFramePr/>
          <p:nvPr/>
        </p:nvGraphicFramePr>
        <p:xfrm>
          <a:off x="834584" y="2614628"/>
          <a:ext cx="8758238" cy="3143250"/>
        </p:xfrm>
        <a:graphic>
          <a:graphicData uri="http://schemas.openxmlformats.org/presentationml/2006/ole">
            <ns3:AlternateContent>
              <ns3:Choice Requires="v">
                <p:oleObj name="Worksheet" r:id="rId4" imgW="10502900" imgH="4889500" progId="Excel.Sheet.12">
                  <p:embed/>
                </p:oleObj>
              </ns3:Choice>
              <ns3:Fallback>
                <p:oleObj name="Worksheet" r:id="rId4" imgW="10502900" imgH="4889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4584" y="2614628"/>
                        <a:ext cx="8758238" cy="3143250"/>
                      </a:xfrm>
                      <a:prstGeom prst="rect">
                        <a:avLst/>
                      </a:prstGeom>
                    </p:spPr>
                  </p:pic>
                </p:oleObj>
              </ns3:Fallback>
            </ns3:AlternateContent>
          </a:graphicData>
        </a:graphic>
      </p:graphicFrame>
      <p:graphicFrame>
        <p:nvGraphicFramePr>
          <p:cNvPr id="8" name="Object 8"/>
          <p:cNvGraphicFramePr/>
          <p:nvPr/>
        </p:nvGraphicFramePr>
        <p:xfrm>
          <a:off x="8912046" y="2614628"/>
          <a:ext cx="6686550" cy="4400550"/>
        </p:xfrm>
        <a:graphic>
          <a:graphicData uri="http://schemas.openxmlformats.org/presentationml/2006/ole">
            <ns3:AlternateContent>
              <ns3:Choice Requires="v">
                <p:oleObj name="Worksheet" r:id="rId6" imgW="8013700" imgH="5727700" progId="Excel.Sheet.12">
                  <p:embed/>
                </p:oleObj>
              </ns3:Choice>
              <ns3:Fallback>
                <p:oleObj name="Worksheet" r:id="rId6" imgW="8013700" imgH="5727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912046" y="2614628"/>
                        <a:ext cx="6686550" cy="4400550"/>
                      </a:xfrm>
                      <a:prstGeom prst="rect">
                        <a:avLst/>
                      </a:prstGeom>
                    </p:spPr>
                  </p:pic>
                </p:oleObj>
              </ns3:Fallback>
            </ns3:AlternateContent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13188731" y="7844404"/>
            <a:ext cx="5954023" cy="3692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00"/>
              </a:lnSpc>
            </a:pPr>
            <a:r>
              <a:rPr lang="en-US" sz="28247" b="1" spc="-2259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4584" y="1866826"/>
            <a:ext cx="3110820" cy="471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b="1" spc="67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BẢNG ORDERS &amp; ITEM ORDERS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33334" y="660399"/>
            <a:ext cx="5865087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199">
                <a:solidFill>
                  <a:srgbClr val="000000"/>
                </a:solidFill>
                <a:latin typeface="Francois One"/>
                <a:ea typeface="Francois One"/>
                <a:cs typeface="Francois One"/>
                <a:sym typeface="Francois One"/>
              </a:rPr>
              <a:t>3. GIẢI THÍCH DỮ LIỆU NGUỒN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12046" y="1866826"/>
            <a:ext cx="3110820" cy="471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b="1" spc="67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TERRITORIES.XML &amp; CITIES.TXT</a:t>
            </a:r>
          </a:p>
        </p:txBody>
      </p:sp>
      <p:sp>
        <p:nvSpPr>
          <p:cNvPr id="13" name="Freeform 13"/>
          <p:cNvSpPr/>
          <p:nvPr/>
        </p:nvSpPr>
        <p:spPr>
          <a:xfrm rot="-8410460">
            <a:off x="-2362813" y="7722589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ns3="http://schemas.openxmlformats.org/markup-compatibility/2006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45375" y="-3017573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36971" y="6545821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8410460">
            <a:off x="-2362813" y="7722589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aphicFrame>
        <p:nvGraphicFramePr>
          <p:cNvPr id="8" name="Object 8"/>
          <p:cNvGraphicFramePr/>
          <p:nvPr/>
        </p:nvGraphicFramePr>
        <p:xfrm>
          <a:off x="1324409" y="1946143"/>
          <a:ext cx="10272712" cy="5114639"/>
        </p:xfrm>
        <a:graphic>
          <a:graphicData uri="http://schemas.openxmlformats.org/presentationml/2006/ole">
            <ns3:AlternateContent>
              <ns3:Choice Requires="v">
                <p:oleObj name="Worksheet" r:id="rId5" imgW="12319000" imgH="7162800" progId="Excel.Sheet.12">
                  <p:embed/>
                </p:oleObj>
              </ns3:Choice>
              <ns3:Fallback>
                <p:oleObj name="Worksheet" r:id="rId5" imgW="12319000" imgH="7162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24409" y="1946143"/>
                        <a:ext cx="10272712" cy="5114639"/>
                      </a:xfrm>
                      <a:prstGeom prst="rect">
                        <a:avLst/>
                      </a:prstGeom>
                    </p:spPr>
                  </p:pic>
                </p:oleObj>
              </ns3:Fallback>
            </ns3:AlternateContent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5017540" y="660399"/>
            <a:ext cx="8252920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u="none" strike="noStrike" spc="199">
                <a:solidFill>
                  <a:srgbClr val="000000"/>
                </a:solidFill>
                <a:latin typeface="Francois One"/>
                <a:ea typeface="Francois One"/>
                <a:cs typeface="Francois One"/>
                <a:sym typeface="Francois One"/>
              </a:rPr>
              <a:t>4. ĐÁNH GIÁ DỮ LIỆU &amp; MÔ HÌNH MULTIDIM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426868" y="7829633"/>
            <a:ext cx="5797615" cy="3579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80"/>
              </a:lnSpc>
            </a:pPr>
            <a:r>
              <a:rPr lang="en-US" sz="27505" b="1" spc="-220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4366" y="-196806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6526798" cy="10418785"/>
            <a:chOff x="0" y="0"/>
            <a:chExt cx="1718992" cy="27440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18992" cy="2744042"/>
            </a:xfrm>
            <a:custGeom>
              <a:avLst/>
              <a:gdLst/>
              <a:ahLst/>
              <a:cxnLst/>
              <a:rect l="l" t="t" r="r" b="b"/>
              <a:pathLst>
                <a:path w="1718992" h="2744042">
                  <a:moveTo>
                    <a:pt x="0" y="0"/>
                  </a:moveTo>
                  <a:lnTo>
                    <a:pt x="1718992" y="0"/>
                  </a:lnTo>
                  <a:lnTo>
                    <a:pt x="1718992" y="2744042"/>
                  </a:lnTo>
                  <a:lnTo>
                    <a:pt x="0" y="2744042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18992" cy="2791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526798" y="1779051"/>
            <a:ext cx="11761202" cy="6860683"/>
          </a:xfrm>
          <a:custGeom>
            <a:avLst/>
            <a:gdLst/>
            <a:ahLst/>
            <a:cxnLst/>
            <a:rect l="l" t="t" r="r" b="b"/>
            <a:pathLst>
              <a:path w="11761202" h="6860683">
                <a:moveTo>
                  <a:pt x="0" y="0"/>
                </a:moveTo>
                <a:lnTo>
                  <a:pt x="11761202" y="0"/>
                </a:lnTo>
                <a:lnTo>
                  <a:pt x="11761202" y="6860683"/>
                </a:lnTo>
                <a:lnTo>
                  <a:pt x="0" y="68606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56" t="-2308" r="-2159" b="-230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56848" y="527334"/>
            <a:ext cx="8403819" cy="1212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879230" y="181238"/>
            <a:ext cx="6812215" cy="4217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49"/>
              </a:lnSpc>
            </a:pPr>
            <a:r>
              <a:rPr lang="en-US" sz="32319" b="1" spc="-2585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3278" y="4954050"/>
            <a:ext cx="6219206" cy="2785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Quy trình ETL thiết kế theo chuẩn BPMN 2.0 và triển khai trên SSIS/Kettle: tích hợp dữ liệu từ GameStoreOLTP, Territories.xml, Cities.txt và Time.csv vào kho dữ liệu GameStoreDW.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20312" flipH="1">
            <a:off x="-1006073" y="8630736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84353" y="371530"/>
            <a:ext cx="6923012" cy="6204749"/>
          </a:xfrm>
          <a:custGeom>
            <a:avLst/>
            <a:gdLst/>
            <a:ahLst/>
            <a:cxnLst/>
            <a:rect l="l" t="t" r="r" b="b"/>
            <a:pathLst>
              <a:path w="6923012" h="6204749">
                <a:moveTo>
                  <a:pt x="0" y="0"/>
                </a:moveTo>
                <a:lnTo>
                  <a:pt x="6923011" y="0"/>
                </a:lnTo>
                <a:lnTo>
                  <a:pt x="6923011" y="6204750"/>
                </a:lnTo>
                <a:lnTo>
                  <a:pt x="0" y="6204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463885" y="639522"/>
            <a:ext cx="8132545" cy="5936758"/>
          </a:xfrm>
          <a:custGeom>
            <a:avLst/>
            <a:gdLst/>
            <a:ahLst/>
            <a:cxnLst/>
            <a:rect l="l" t="t" r="r" b="b"/>
            <a:pathLst>
              <a:path w="8132545" h="5936758">
                <a:moveTo>
                  <a:pt x="0" y="0"/>
                </a:moveTo>
                <a:lnTo>
                  <a:pt x="8132545" y="0"/>
                </a:lnTo>
                <a:lnTo>
                  <a:pt x="8132545" y="5936758"/>
                </a:lnTo>
                <a:lnTo>
                  <a:pt x="0" y="5936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658458" y="6803233"/>
            <a:ext cx="3514844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XML Source &amp; Data Conversion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89383" y="7043581"/>
            <a:ext cx="3789045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Nạp phân cấp Continent → Country → State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20312" flipH="1">
            <a:off x="-996548" y="8630736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73007" y="234540"/>
            <a:ext cx="6945703" cy="6199040"/>
          </a:xfrm>
          <a:custGeom>
            <a:avLst/>
            <a:gdLst/>
            <a:ahLst/>
            <a:cxnLst/>
            <a:rect l="l" t="t" r="r" b="b"/>
            <a:pathLst>
              <a:path w="6945703" h="6199040">
                <a:moveTo>
                  <a:pt x="0" y="0"/>
                </a:moveTo>
                <a:lnTo>
                  <a:pt x="6945703" y="0"/>
                </a:lnTo>
                <a:lnTo>
                  <a:pt x="6945703" y="6199040"/>
                </a:lnTo>
                <a:lnTo>
                  <a:pt x="0" y="61990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300043" y="385320"/>
            <a:ext cx="8153550" cy="5473071"/>
          </a:xfrm>
          <a:custGeom>
            <a:avLst/>
            <a:gdLst/>
            <a:ahLst/>
            <a:cxnLst/>
            <a:rect l="l" t="t" r="r" b="b"/>
            <a:pathLst>
              <a:path w="8153550" h="5473071">
                <a:moveTo>
                  <a:pt x="0" y="0"/>
                </a:moveTo>
                <a:lnTo>
                  <a:pt x="8153550" y="0"/>
                </a:lnTo>
                <a:lnTo>
                  <a:pt x="8153550" y="5473070"/>
                </a:lnTo>
                <a:lnTo>
                  <a:pt x="0" y="5473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17080" y="8593568"/>
            <a:ext cx="838865" cy="250134"/>
          </a:xfrm>
          <a:custGeom>
            <a:avLst/>
            <a:gdLst/>
            <a:ahLst/>
            <a:cxnLst/>
            <a:rect l="l" t="t" r="r" b="b"/>
            <a:pathLst>
              <a:path w="838865" h="250134">
                <a:moveTo>
                  <a:pt x="0" y="0"/>
                </a:moveTo>
                <a:lnTo>
                  <a:pt x="838865" y="0"/>
                </a:lnTo>
                <a:lnTo>
                  <a:pt x="838865" y="250134"/>
                </a:lnTo>
                <a:lnTo>
                  <a:pt x="0" y="250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ns3:svgBlip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404743" y="6652979"/>
            <a:ext cx="3869531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Conversion (Time.csv &amp; Cities.txt)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09509" y="6172283"/>
            <a:ext cx="3870365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Conversion (Territories.xml)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44324" y="7990925"/>
            <a:ext cx="14606618" cy="1407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Conversion chuẩn hóa chuỗi Unicode từ file XML (DT_WSTR 255) và Flat File về đúng kiểu dữ liệu và độ dài của bảng đích trong SQL Server.</a:t>
            </a:r>
            <a:r>
              <a:rPr lang="en-US" sz="2699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20312" flipH="1">
            <a:off x="-1006073" y="8630736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4"/>
                </a:lnTo>
                <a:lnTo>
                  <a:pt x="12760102" y="5407094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18670" y="8191210"/>
            <a:ext cx="838865" cy="250134"/>
          </a:xfrm>
          <a:custGeom>
            <a:avLst/>
            <a:gdLst/>
            <a:ahLst/>
            <a:cxnLst/>
            <a:rect l="l" t="t" r="r" b="b"/>
            <a:pathLst>
              <a:path w="838865" h="250134">
                <a:moveTo>
                  <a:pt x="0" y="0"/>
                </a:moveTo>
                <a:lnTo>
                  <a:pt x="838865" y="0"/>
                </a:lnTo>
                <a:lnTo>
                  <a:pt x="838865" y="250134"/>
                </a:lnTo>
                <a:lnTo>
                  <a:pt x="0" y="2501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ns3:svgBlip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737768" y="1028700"/>
            <a:ext cx="11301259" cy="6229819"/>
          </a:xfrm>
          <a:custGeom>
            <a:avLst/>
            <a:gdLst/>
            <a:ahLst/>
            <a:cxnLst/>
            <a:rect l="l" t="t" r="r" b="b"/>
            <a:pathLst>
              <a:path w="11301259" h="6229819">
                <a:moveTo>
                  <a:pt x="0" y="0"/>
                </a:moveTo>
                <a:lnTo>
                  <a:pt x="11301259" y="0"/>
                </a:lnTo>
                <a:lnTo>
                  <a:pt x="11301259" y="6229819"/>
                </a:lnTo>
                <a:lnTo>
                  <a:pt x="0" y="622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247505" y="7520939"/>
            <a:ext cx="15226053" cy="154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Derived Column &amp; Conditional Split giúp TRIM khoảng trắng thừa ở bảng cầu nối BridgeGameGenre, tính GrossSalesAmount = UnitPrice * (1 - Discount) * Quantity và tách luồng dữ liệu khuyết Bang (State IS NULL).</a:t>
            </a:r>
            <a:r>
              <a:rPr lang="en-US" sz="2999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>Các bản ghi lỗi khóa ngoại hoặc không khớp địa lý được đẩy ra BadCities.txt, BadPlayers.txt và BadSales.txt.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00184" y="228423"/>
            <a:ext cx="11301259" cy="6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Derived Column &amp; Conditional Split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4366" y="-196806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7146" y="-392510"/>
            <a:ext cx="19062293" cy="11072020"/>
            <a:chOff x="0" y="0"/>
            <a:chExt cx="5020522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20521" cy="2916088"/>
            </a:xfrm>
            <a:custGeom>
              <a:avLst/>
              <a:gdLst/>
              <a:ahLst/>
              <a:cxnLst/>
              <a:rect l="l" t="t" r="r" b="b"/>
              <a:pathLst>
                <a:path w="5020521" h="2916088">
                  <a:moveTo>
                    <a:pt x="0" y="0"/>
                  </a:moveTo>
                  <a:lnTo>
                    <a:pt x="5020521" y="0"/>
                  </a:lnTo>
                  <a:lnTo>
                    <a:pt x="5020521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020522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6079" y="290148"/>
            <a:ext cx="5482879" cy="5497212"/>
          </a:xfrm>
          <a:custGeom>
            <a:avLst/>
            <a:gdLst/>
            <a:ahLst/>
            <a:cxnLst/>
            <a:rect l="l" t="t" r="r" b="b"/>
            <a:pathLst>
              <a:path w="5482879" h="5497212">
                <a:moveTo>
                  <a:pt x="0" y="0"/>
                </a:moveTo>
                <a:lnTo>
                  <a:pt x="5482879" y="0"/>
                </a:lnTo>
                <a:lnTo>
                  <a:pt x="5482879" y="5497212"/>
                </a:lnTo>
                <a:lnTo>
                  <a:pt x="0" y="54972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6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213780" y="323789"/>
            <a:ext cx="5675891" cy="5610568"/>
          </a:xfrm>
          <a:custGeom>
            <a:avLst/>
            <a:gdLst/>
            <a:ahLst/>
            <a:cxnLst/>
            <a:rect l="l" t="t" r="r" b="b"/>
            <a:pathLst>
              <a:path w="5675891" h="5610568">
                <a:moveTo>
                  <a:pt x="0" y="0"/>
                </a:moveTo>
                <a:lnTo>
                  <a:pt x="5675891" y="0"/>
                </a:lnTo>
                <a:lnTo>
                  <a:pt x="5675891" y="5610568"/>
                </a:lnTo>
                <a:lnTo>
                  <a:pt x="0" y="56105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886644" y="4490516"/>
            <a:ext cx="5755546" cy="5623065"/>
          </a:xfrm>
          <a:custGeom>
            <a:avLst/>
            <a:gdLst/>
            <a:ahLst/>
            <a:cxnLst/>
            <a:rect l="l" t="t" r="r" b="b"/>
            <a:pathLst>
              <a:path w="5755546" h="5623065">
                <a:moveTo>
                  <a:pt x="0" y="0"/>
                </a:moveTo>
                <a:lnTo>
                  <a:pt x="5755546" y="0"/>
                </a:lnTo>
                <a:lnTo>
                  <a:pt x="5755546" y="5623065"/>
                </a:lnTo>
                <a:lnTo>
                  <a:pt x="0" y="56230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24365" y="6100185"/>
            <a:ext cx="2729865" cy="629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Merge Join &amp; Cascading Lookups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82192" y="6100185"/>
            <a:ext cx="3047047" cy="629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Merge Join (Country &amp; Continent)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98074" y="3616475"/>
            <a:ext cx="3140035" cy="629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Chuỗi 5 Cascading Lookups + Union All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4366" y="-196806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8865" y="-392510"/>
            <a:ext cx="5754326" cy="11072020"/>
            <a:chOff x="0" y="0"/>
            <a:chExt cx="1515543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15543" cy="2916088"/>
            </a:xfrm>
            <a:custGeom>
              <a:avLst/>
              <a:gdLst/>
              <a:ahLst/>
              <a:cxnLst/>
              <a:rect l="l" t="t" r="r" b="b"/>
              <a:pathLst>
                <a:path w="1515543" h="2916088">
                  <a:moveTo>
                    <a:pt x="0" y="0"/>
                  </a:moveTo>
                  <a:lnTo>
                    <a:pt x="1515543" y="0"/>
                  </a:lnTo>
                  <a:lnTo>
                    <a:pt x="1515543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515543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431877" y="633234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652759" y="176875"/>
            <a:ext cx="7269432" cy="6715138"/>
          </a:xfrm>
          <a:custGeom>
            <a:avLst/>
            <a:gdLst/>
            <a:ahLst/>
            <a:cxnLst/>
            <a:rect l="l" t="t" r="r" b="b"/>
            <a:pathLst>
              <a:path w="7269432" h="6715138">
                <a:moveTo>
                  <a:pt x="0" y="0"/>
                </a:moveTo>
                <a:lnTo>
                  <a:pt x="7269432" y="0"/>
                </a:lnTo>
                <a:lnTo>
                  <a:pt x="7269432" y="6715138"/>
                </a:lnTo>
                <a:lnTo>
                  <a:pt x="0" y="6715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437083" y="7649250"/>
            <a:ext cx="11704995" cy="203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OLE DB Destination ánh xạ dữ liệu đã làm sạch vào các bảng Dimension (giữ lại Alternate Key và sinh Surrogate Key tự tăng) cùng 2 bảng Fact trong GameStoreDW.</a:t>
            </a:r>
            <a:r>
              <a:rPr lang="en-US" sz="2899">
                <a:solidFill>
                  <a:srgbClr val="164B82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232" y="4480559"/>
            <a:ext cx="5145405" cy="66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OLE DB Destination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565348" flipH="1">
            <a:off x="-1362223" y="-2212276"/>
            <a:ext cx="10441422" cy="4424552"/>
          </a:xfrm>
          <a:custGeom>
            <a:avLst/>
            <a:gdLst/>
            <a:ahLst/>
            <a:cxnLst/>
            <a:rect l="l" t="t" r="r" b="b"/>
            <a:pathLst>
              <a:path w="10441422" h="4424552">
                <a:moveTo>
                  <a:pt x="10441421" y="0"/>
                </a:moveTo>
                <a:lnTo>
                  <a:pt x="0" y="0"/>
                </a:lnTo>
                <a:lnTo>
                  <a:pt x="0" y="4424552"/>
                </a:lnTo>
                <a:lnTo>
                  <a:pt x="10441421" y="4424552"/>
                </a:lnTo>
                <a:lnTo>
                  <a:pt x="1044142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8250927">
            <a:off x="5486162" y="7645079"/>
            <a:ext cx="7735476" cy="4631616"/>
          </a:xfrm>
          <a:custGeom>
            <a:avLst/>
            <a:gdLst/>
            <a:ahLst/>
            <a:cxnLst/>
            <a:rect l="l" t="t" r="r" b="b"/>
            <a:pathLst>
              <a:path w="7735476" h="4631616">
                <a:moveTo>
                  <a:pt x="0" y="0"/>
                </a:moveTo>
                <a:lnTo>
                  <a:pt x="7735475" y="0"/>
                </a:lnTo>
                <a:lnTo>
                  <a:pt x="7735475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5400000">
            <a:off x="14969335" y="1122741"/>
            <a:ext cx="643045" cy="7706253"/>
            <a:chOff x="0" y="0"/>
            <a:chExt cx="169362" cy="202963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9362" cy="2029631"/>
            </a:xfrm>
            <a:custGeom>
              <a:avLst/>
              <a:gdLst/>
              <a:ahLst/>
              <a:cxnLst/>
              <a:rect l="l" t="t" r="r" b="b"/>
              <a:pathLst>
                <a:path w="169362" h="2029631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1944950"/>
                  </a:lnTo>
                  <a:cubicBezTo>
                    <a:pt x="169362" y="1967409"/>
                    <a:pt x="160440" y="1988947"/>
                    <a:pt x="144559" y="2004828"/>
                  </a:cubicBezTo>
                  <a:cubicBezTo>
                    <a:pt x="128678" y="2020709"/>
                    <a:pt x="107140" y="2029631"/>
                    <a:pt x="84681" y="2029631"/>
                  </a:cubicBezTo>
                  <a:lnTo>
                    <a:pt x="84681" y="2029631"/>
                  </a:lnTo>
                  <a:cubicBezTo>
                    <a:pt x="37913" y="2029631"/>
                    <a:pt x="0" y="1991718"/>
                    <a:pt x="0" y="1944950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F2F7FA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69362" cy="2077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8661255" y="3351832"/>
            <a:ext cx="9137621" cy="6609055"/>
          </a:xfrm>
          <a:custGeom>
            <a:avLst/>
            <a:gdLst/>
            <a:ahLst/>
            <a:cxnLst/>
            <a:rect l="l" t="t" r="r" b="b"/>
            <a:pathLst>
              <a:path w="9137621" h="6609055">
                <a:moveTo>
                  <a:pt x="0" y="0"/>
                </a:moveTo>
                <a:lnTo>
                  <a:pt x="9137621" y="0"/>
                </a:lnTo>
                <a:lnTo>
                  <a:pt x="9137621" y="6609055"/>
                </a:lnTo>
                <a:lnTo>
                  <a:pt x="0" y="66090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028076" y="4795210"/>
            <a:ext cx="279803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826108" y="4795210"/>
            <a:ext cx="204272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Project.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90520"/>
            <a:ext cx="9445915" cy="236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ETL TO </a:t>
            </a:r>
          </a:p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CONSTELLATION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74615" y="2322178"/>
            <a:ext cx="8283000" cy="505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TỪ OLTP 3NF ĐẾN CONSTELLATION SCHEMA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2591" y="3689131"/>
            <a:ext cx="7817645" cy="6420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97"/>
              </a:lnSpc>
            </a:pPr>
            <a:r>
              <a:rPr lang="en-US" sz="2599" spc="1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Từ CSDL tác nghiệp chuẩn 3NF và các file XML/TXT/CSV rời rạc, đồ án chuyển đổi sang mô hình Constellation Schema (2 bảng Fact dùng chung các Conformed Dimensions) hỗ trợ đầy đủ 6 loại Hierarchy và SCD Type 2/6.</a:t>
            </a:r>
          </a:p>
          <a:p>
            <a:pPr algn="l">
              <a:lnSpc>
                <a:spcPts val="4905"/>
              </a:lnSpc>
            </a:pPr>
            <a:endParaRPr lang="en-US" sz="2599" spc="171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149531" y="144609"/>
            <a:ext cx="3395880" cy="2111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27"/>
              </a:lnSpc>
            </a:pPr>
            <a:r>
              <a:rPr lang="en-US" sz="16110" b="1" spc="-1288">
                <a:gradFill>
                  <a:gsLst>
                    <a:gs pos="0">
                      <a:srgbClr val="E4B795">
                        <a:alpha val="100000"/>
                      </a:srgbClr>
                    </a:gs>
                    <a:gs pos="50000">
                      <a:srgbClr val="699ACD">
                        <a:alpha val="100000"/>
                      </a:srgbClr>
                    </a:gs>
                    <a:gs pos="100000">
                      <a:srgbClr val="2F679F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0746103" y="6497230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8410460">
            <a:off x="1935723" y="-5126712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9" y="0"/>
                </a:lnTo>
                <a:lnTo>
                  <a:pt x="11976399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1028700"/>
            <a:ext cx="5473709" cy="2431846"/>
            <a:chOff x="0" y="0"/>
            <a:chExt cx="1441635" cy="64048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41635" cy="640486"/>
            </a:xfrm>
            <a:custGeom>
              <a:avLst/>
              <a:gdLst/>
              <a:ahLst/>
              <a:cxnLst/>
              <a:rect l="l" t="t" r="r" b="b"/>
              <a:pathLst>
                <a:path w="1441635" h="640486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441635" cy="688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3655775"/>
            <a:ext cx="5473709" cy="2431846"/>
            <a:chOff x="0" y="0"/>
            <a:chExt cx="1441635" cy="64048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41635" cy="640486"/>
            </a:xfrm>
            <a:custGeom>
              <a:avLst/>
              <a:gdLst/>
              <a:ahLst/>
              <a:cxnLst/>
              <a:rect l="l" t="t" r="r" b="b"/>
              <a:pathLst>
                <a:path w="1441635" h="640486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441635" cy="688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785591" y="3655775"/>
            <a:ext cx="5473709" cy="2431846"/>
            <a:chOff x="0" y="0"/>
            <a:chExt cx="1441635" cy="64048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41635" cy="640486"/>
            </a:xfrm>
            <a:custGeom>
              <a:avLst/>
              <a:gdLst/>
              <a:ahLst/>
              <a:cxnLst/>
              <a:rect l="l" t="t" r="r" b="b"/>
              <a:pathLst>
                <a:path w="1441635" h="640486">
                  <a:moveTo>
                    <a:pt x="45260" y="0"/>
                  </a:moveTo>
                  <a:lnTo>
                    <a:pt x="1396375" y="0"/>
                  </a:lnTo>
                  <a:cubicBezTo>
                    <a:pt x="1421372" y="0"/>
                    <a:pt x="1441635" y="20264"/>
                    <a:pt x="1441635" y="45260"/>
                  </a:cubicBezTo>
                  <a:lnTo>
                    <a:pt x="1441635" y="595226"/>
                  </a:lnTo>
                  <a:cubicBezTo>
                    <a:pt x="1441635" y="620223"/>
                    <a:pt x="1421372" y="640486"/>
                    <a:pt x="1396375" y="640486"/>
                  </a:cubicBezTo>
                  <a:lnTo>
                    <a:pt x="45260" y="640486"/>
                  </a:lnTo>
                  <a:cubicBezTo>
                    <a:pt x="20264" y="640486"/>
                    <a:pt x="0" y="620223"/>
                    <a:pt x="0" y="595226"/>
                  </a:cubicBezTo>
                  <a:lnTo>
                    <a:pt x="0" y="45260"/>
                  </a:lnTo>
                  <a:cubicBezTo>
                    <a:pt x="0" y="20264"/>
                    <a:pt x="20264" y="0"/>
                    <a:pt x="452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441635" cy="688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79269" y="1920454"/>
            <a:ext cx="4572570" cy="85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4"/>
              </a:lnSpc>
            </a:pPr>
            <a:r>
              <a:rPr lang="en-US" sz="6582" b="1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GAME &amp; ITEM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591555" y="3945293"/>
            <a:ext cx="5009307" cy="1757905"/>
            <a:chOff x="0" y="0"/>
            <a:chExt cx="6679077" cy="2343873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76200"/>
              <a:ext cx="6679077" cy="19377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996"/>
                </a:lnSpc>
              </a:pPr>
              <a:r>
                <a:rPr lang="en-US" sz="4283" b="1">
                  <a:solidFill>
                    <a:srgbClr val="3434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XÂY DỰNG CÁC BẢNG CHIỀU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828750"/>
              <a:ext cx="6679077" cy="5151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9"/>
                </a:lnSpc>
                <a:spcBef>
                  <a:spcPct val="0"/>
                </a:spcBef>
              </a:pPr>
              <a:r>
                <a:rPr lang="en-US" sz="2320" spc="55">
                  <a:solidFill>
                    <a:srgbClr val="34343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DIMENSION TABLES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9119065" y="2244623"/>
            <a:ext cx="2666526" cy="1572403"/>
          </a:xfrm>
          <a:custGeom>
            <a:avLst/>
            <a:gdLst/>
            <a:ahLst/>
            <a:cxnLst/>
            <a:rect l="l" t="t" r="r" b="b"/>
            <a:pathLst>
              <a:path w="2666526" h="1572403">
                <a:moveTo>
                  <a:pt x="0" y="1572403"/>
                </a:moveTo>
                <a:lnTo>
                  <a:pt x="0" y="1513981"/>
                </a:lnTo>
                <a:cubicBezTo>
                  <a:pt x="0" y="1481715"/>
                  <a:pt x="26157" y="1455558"/>
                  <a:pt x="58423" y="1455558"/>
                </a:cubicBezTo>
                <a:lnTo>
                  <a:pt x="1293469" y="1455558"/>
                </a:lnTo>
                <a:cubicBezTo>
                  <a:pt x="1419721" y="1455558"/>
                  <a:pt x="1522069" y="1353210"/>
                  <a:pt x="1522069" y="1226958"/>
                </a:cubicBezTo>
                <a:lnTo>
                  <a:pt x="1522069" y="228600"/>
                </a:lnTo>
                <a:cubicBezTo>
                  <a:pt x="1522069" y="102348"/>
                  <a:pt x="1624417" y="0"/>
                  <a:pt x="1750669" y="0"/>
                </a:cubicBezTo>
                <a:lnTo>
                  <a:pt x="2666526" y="0"/>
                </a:lnTo>
              </a:path>
            </a:pathLst>
          </a:custGeom>
          <a:ln w="19050" cap="flat">
            <a:solidFill>
              <a:srgbClr val="164B82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18" name="Freeform 18"/>
          <p:cNvSpPr/>
          <p:nvPr/>
        </p:nvSpPr>
        <p:spPr>
          <a:xfrm>
            <a:off x="6502409" y="5655624"/>
            <a:ext cx="2307376" cy="1847051"/>
          </a:xfrm>
          <a:custGeom>
            <a:avLst/>
            <a:gdLst/>
            <a:ahLst/>
            <a:cxnLst/>
            <a:rect l="l" t="t" r="r" b="b"/>
            <a:pathLst>
              <a:path w="2307376" h="1847051">
                <a:moveTo>
                  <a:pt x="0" y="1847051"/>
                </a:moveTo>
                <a:lnTo>
                  <a:pt x="719602" y="1847051"/>
                </a:lnTo>
                <a:cubicBezTo>
                  <a:pt x="845854" y="1847051"/>
                  <a:pt x="948202" y="1744703"/>
                  <a:pt x="948202" y="1618451"/>
                </a:cubicBezTo>
                <a:lnTo>
                  <a:pt x="948202" y="687264"/>
                </a:lnTo>
                <a:cubicBezTo>
                  <a:pt x="948202" y="626636"/>
                  <a:pt x="972287" y="568490"/>
                  <a:pt x="1015158" y="525619"/>
                </a:cubicBezTo>
                <a:cubicBezTo>
                  <a:pt x="1058028" y="482749"/>
                  <a:pt x="1116173" y="458664"/>
                  <a:pt x="1176802" y="458664"/>
                </a:cubicBezTo>
                <a:lnTo>
                  <a:pt x="2078777" y="458664"/>
                </a:lnTo>
                <a:cubicBezTo>
                  <a:pt x="2139405" y="458664"/>
                  <a:pt x="2197551" y="434579"/>
                  <a:pt x="2240421" y="391709"/>
                </a:cubicBezTo>
                <a:cubicBezTo>
                  <a:pt x="2283292" y="348838"/>
                  <a:pt x="2307377" y="290693"/>
                  <a:pt x="2307377" y="230064"/>
                </a:cubicBezTo>
                <a:lnTo>
                  <a:pt x="2307377" y="0"/>
                </a:lnTo>
              </a:path>
            </a:pathLst>
          </a:custGeom>
          <a:ln w="19050" cap="flat">
            <a:solidFill>
              <a:srgbClr val="164B82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19" name="AutoShape 19"/>
          <p:cNvSpPr/>
          <p:nvPr/>
        </p:nvSpPr>
        <p:spPr>
          <a:xfrm>
            <a:off x="6502409" y="4871699"/>
            <a:ext cx="446710" cy="0"/>
          </a:xfrm>
          <a:prstGeom prst="line">
            <a:avLst/>
          </a:prstGeom>
          <a:ln w="19050" cap="flat">
            <a:solidFill>
              <a:srgbClr val="164B82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20" name="AutoShape 20"/>
          <p:cNvSpPr/>
          <p:nvPr/>
        </p:nvSpPr>
        <p:spPr>
          <a:xfrm flipV="1">
            <a:off x="11338881" y="4871699"/>
            <a:ext cx="556730" cy="0"/>
          </a:xfrm>
          <a:prstGeom prst="line">
            <a:avLst/>
          </a:prstGeom>
          <a:ln w="19050" cap="flat">
            <a:solidFill>
              <a:srgbClr val="164B82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21" name="TextBox 21"/>
          <p:cNvSpPr txBox="1"/>
          <p:nvPr/>
        </p:nvSpPr>
        <p:spPr>
          <a:xfrm>
            <a:off x="1209149" y="4544176"/>
            <a:ext cx="5112286" cy="85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4"/>
              </a:lnSpc>
            </a:pPr>
            <a:r>
              <a:rPr lang="en-US" sz="6582" b="1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PLAYER (SCD2)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28700" y="6286752"/>
            <a:ext cx="5473709" cy="2431846"/>
            <a:chOff x="0" y="0"/>
            <a:chExt cx="7298279" cy="3242462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7298279" cy="3242462"/>
              <a:chOff x="0" y="0"/>
              <a:chExt cx="1441635" cy="64048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421030" y="1096175"/>
              <a:ext cx="6456220" cy="11929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84"/>
                </a:lnSpc>
              </a:pPr>
              <a:r>
                <a:rPr lang="en-US" sz="6582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GEOGRAPHY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785591" y="1028700"/>
            <a:ext cx="5473709" cy="2431846"/>
            <a:chOff x="0" y="0"/>
            <a:chExt cx="7298279" cy="3242462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7298279" cy="3242462"/>
              <a:chOff x="0" y="0"/>
              <a:chExt cx="1441635" cy="64048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683492" y="1141380"/>
              <a:ext cx="6096760" cy="11929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84"/>
                </a:lnSpc>
              </a:pPr>
              <a:r>
                <a:rPr lang="en-US" sz="6582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TIME (ROLES)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2298209" y="4544176"/>
            <a:ext cx="4572570" cy="85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4"/>
              </a:lnSpc>
            </a:pPr>
            <a:r>
              <a:rPr lang="en-US" sz="6582" b="1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PUBLISHER</a:t>
            </a:r>
          </a:p>
        </p:txBody>
      </p:sp>
      <p:sp>
        <p:nvSpPr>
          <p:cNvPr id="33" name="Freeform 33"/>
          <p:cNvSpPr/>
          <p:nvPr/>
        </p:nvSpPr>
        <p:spPr>
          <a:xfrm>
            <a:off x="9193068" y="5570564"/>
            <a:ext cx="2515479" cy="696124"/>
          </a:xfrm>
          <a:custGeom>
            <a:avLst/>
            <a:gdLst/>
            <a:ahLst/>
            <a:cxnLst/>
            <a:rect l="l" t="t" r="r" b="b"/>
            <a:pathLst>
              <a:path w="2515479" h="696124">
                <a:moveTo>
                  <a:pt x="2515479" y="0"/>
                </a:moveTo>
                <a:lnTo>
                  <a:pt x="1676666" y="0"/>
                </a:lnTo>
                <a:cubicBezTo>
                  <a:pt x="1550414" y="0"/>
                  <a:pt x="1448066" y="102348"/>
                  <a:pt x="1448066" y="228600"/>
                </a:cubicBezTo>
                <a:lnTo>
                  <a:pt x="1448066" y="467524"/>
                </a:lnTo>
                <a:cubicBezTo>
                  <a:pt x="1448066" y="593776"/>
                  <a:pt x="1345718" y="696124"/>
                  <a:pt x="1219466" y="696124"/>
                </a:cubicBezTo>
                <a:lnTo>
                  <a:pt x="228600" y="696124"/>
                </a:lnTo>
                <a:cubicBezTo>
                  <a:pt x="102348" y="696124"/>
                  <a:pt x="0" y="593776"/>
                  <a:pt x="0" y="467524"/>
                </a:cubicBezTo>
                <a:lnTo>
                  <a:pt x="0" y="237460"/>
                </a:lnTo>
              </a:path>
            </a:pathLst>
          </a:custGeom>
          <a:ln w="19050" cap="flat">
            <a:solidFill>
              <a:srgbClr val="164B82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34" name="Freeform 34"/>
          <p:cNvSpPr/>
          <p:nvPr/>
        </p:nvSpPr>
        <p:spPr>
          <a:xfrm>
            <a:off x="6395316" y="2343282"/>
            <a:ext cx="2720708" cy="1532631"/>
          </a:xfrm>
          <a:custGeom>
            <a:avLst/>
            <a:gdLst/>
            <a:ahLst/>
            <a:cxnLst/>
            <a:rect l="l" t="t" r="r" b="b"/>
            <a:pathLst>
              <a:path w="2720708" h="1532631">
                <a:moveTo>
                  <a:pt x="2720707" y="1532631"/>
                </a:moveTo>
                <a:lnTo>
                  <a:pt x="2720707" y="1338721"/>
                </a:lnTo>
                <a:cubicBezTo>
                  <a:pt x="2720707" y="1231628"/>
                  <a:pt x="2633891" y="1144811"/>
                  <a:pt x="2526798" y="1144811"/>
                </a:cubicBezTo>
                <a:lnTo>
                  <a:pt x="792893" y="1144811"/>
                </a:lnTo>
                <a:cubicBezTo>
                  <a:pt x="666641" y="1144811"/>
                  <a:pt x="564293" y="1042464"/>
                  <a:pt x="564293" y="916211"/>
                </a:cubicBezTo>
                <a:lnTo>
                  <a:pt x="564293" y="228600"/>
                </a:lnTo>
                <a:cubicBezTo>
                  <a:pt x="564293" y="102348"/>
                  <a:pt x="461945" y="0"/>
                  <a:pt x="335693" y="0"/>
                </a:cubicBezTo>
                <a:lnTo>
                  <a:pt x="0" y="0"/>
                </a:lnTo>
              </a:path>
            </a:pathLst>
          </a:custGeom>
          <a:ln w="19050" cap="flat">
            <a:solidFill>
              <a:srgbClr val="164B82"/>
            </a:solidFill>
            <a:prstDash val="sysDash"/>
            <a:headEnd type="oval" w="lg" len="lg"/>
            <a:tailEnd type="oval" w="lg" len="lg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699775" y="541284"/>
            <a:ext cx="3127612" cy="1389528"/>
            <a:chOff x="0" y="0"/>
            <a:chExt cx="4170149" cy="185270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170149" cy="1852704"/>
              <a:chOff x="0" y="0"/>
              <a:chExt cx="1441635" cy="64048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37475" y="653704"/>
              <a:ext cx="3894798" cy="6775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8"/>
                </a:lnSpc>
              </a:pPr>
              <a:r>
                <a:rPr lang="en-US" sz="37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DIM_PLAYER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933631" y="2407725"/>
            <a:ext cx="6324517" cy="6257325"/>
          </a:xfrm>
          <a:custGeom>
            <a:avLst/>
            <a:gdLst/>
            <a:ahLst/>
            <a:cxnLst/>
            <a:rect l="l" t="t" r="r" b="b"/>
            <a:pathLst>
              <a:path w="6324517" h="6257325">
                <a:moveTo>
                  <a:pt x="0" y="0"/>
                </a:moveTo>
                <a:lnTo>
                  <a:pt x="6324518" y="0"/>
                </a:lnTo>
                <a:lnTo>
                  <a:pt x="6324518" y="6257324"/>
                </a:lnTo>
                <a:lnTo>
                  <a:pt x="0" y="6257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853897" y="2407725"/>
            <a:ext cx="6819367" cy="6231196"/>
          </a:xfrm>
          <a:custGeom>
            <a:avLst/>
            <a:gdLst/>
            <a:ahLst/>
            <a:cxnLst/>
            <a:rect l="l" t="t" r="r" b="b"/>
            <a:pathLst>
              <a:path w="6819367" h="6231196">
                <a:moveTo>
                  <a:pt x="0" y="0"/>
                </a:moveTo>
                <a:lnTo>
                  <a:pt x="6819367" y="0"/>
                </a:lnTo>
                <a:lnTo>
                  <a:pt x="6819367" y="6231196"/>
                </a:lnTo>
                <a:lnTo>
                  <a:pt x="0" y="6231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2532084" y="541284"/>
            <a:ext cx="3127612" cy="1389528"/>
            <a:chOff x="0" y="0"/>
            <a:chExt cx="4170149" cy="1852704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4170149" cy="1852704"/>
              <a:chOff x="0" y="0"/>
              <a:chExt cx="1441635" cy="64048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79211" y="0"/>
                    </a:moveTo>
                    <a:lnTo>
                      <a:pt x="1362424" y="0"/>
                    </a:lnTo>
                    <a:cubicBezTo>
                      <a:pt x="1406171" y="0"/>
                      <a:pt x="1441635" y="35464"/>
                      <a:pt x="1441635" y="79211"/>
                    </a:cubicBezTo>
                    <a:lnTo>
                      <a:pt x="1441635" y="561275"/>
                    </a:lnTo>
                    <a:cubicBezTo>
                      <a:pt x="1441635" y="605022"/>
                      <a:pt x="1406171" y="640486"/>
                      <a:pt x="1362424" y="640486"/>
                    </a:cubicBezTo>
                    <a:lnTo>
                      <a:pt x="79211" y="640486"/>
                    </a:lnTo>
                    <a:cubicBezTo>
                      <a:pt x="35464" y="640486"/>
                      <a:pt x="0" y="605022"/>
                      <a:pt x="0" y="561275"/>
                    </a:cubicBezTo>
                    <a:lnTo>
                      <a:pt x="0" y="79211"/>
                    </a:lnTo>
                    <a:cubicBezTo>
                      <a:pt x="0" y="35464"/>
                      <a:pt x="35464" y="0"/>
                      <a:pt x="79211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343267" y="656259"/>
              <a:ext cx="3483615" cy="6775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8"/>
                </a:lnSpc>
              </a:pPr>
              <a:r>
                <a:rPr lang="en-US" sz="37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DIM_GAME &amp; ITEM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6" name="Freeform 16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8" name="Freeform 18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20" name="Freeform 20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22" name="Freeform 22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0050780" y="7147560"/>
            <a:ext cx="1983105" cy="782002"/>
            <a:chOff x="0" y="0"/>
            <a:chExt cx="2644140" cy="1042670"/>
          </a:xfrm>
        </p:grpSpPr>
        <p:sp>
          <p:nvSpPr>
            <p:cNvPr id="24" name="Freeform 24"/>
            <p:cNvSpPr/>
            <p:nvPr/>
          </p:nvSpPr>
          <p:spPr>
            <a:xfrm>
              <a:off x="50800" y="46465"/>
              <a:ext cx="2542920" cy="944661"/>
            </a:xfrm>
            <a:custGeom>
              <a:avLst/>
              <a:gdLst/>
              <a:ahLst/>
              <a:cxnLst/>
              <a:rect l="l" t="t" r="r" b="b"/>
              <a:pathLst>
                <a:path w="2542920" h="944661">
                  <a:moveTo>
                    <a:pt x="0" y="566945"/>
                  </a:moveTo>
                  <a:cubicBezTo>
                    <a:pt x="1270" y="391685"/>
                    <a:pt x="0" y="342155"/>
                    <a:pt x="6350" y="306595"/>
                  </a:cubicBezTo>
                  <a:cubicBezTo>
                    <a:pt x="11430" y="281195"/>
                    <a:pt x="26670" y="251985"/>
                    <a:pt x="26670" y="244365"/>
                  </a:cubicBezTo>
                  <a:cubicBezTo>
                    <a:pt x="26670" y="243095"/>
                    <a:pt x="25400" y="243095"/>
                    <a:pt x="25400" y="241825"/>
                  </a:cubicBezTo>
                  <a:cubicBezTo>
                    <a:pt x="25400" y="226585"/>
                    <a:pt x="33020" y="66565"/>
                    <a:pt x="73660" y="29735"/>
                  </a:cubicBezTo>
                  <a:cubicBezTo>
                    <a:pt x="107950" y="-745"/>
                    <a:pt x="194310" y="-2015"/>
                    <a:pt x="231140" y="10685"/>
                  </a:cubicBezTo>
                  <a:cubicBezTo>
                    <a:pt x="255270" y="18305"/>
                    <a:pt x="261620" y="52595"/>
                    <a:pt x="281940" y="58945"/>
                  </a:cubicBezTo>
                  <a:cubicBezTo>
                    <a:pt x="302260" y="66565"/>
                    <a:pt x="326390" y="52595"/>
                    <a:pt x="355600" y="50055"/>
                  </a:cubicBezTo>
                  <a:cubicBezTo>
                    <a:pt x="394970" y="47515"/>
                    <a:pt x="448310" y="48785"/>
                    <a:pt x="497840" y="46245"/>
                  </a:cubicBezTo>
                  <a:cubicBezTo>
                    <a:pt x="547370" y="43705"/>
                    <a:pt x="601980" y="37355"/>
                    <a:pt x="652780" y="33545"/>
                  </a:cubicBezTo>
                  <a:cubicBezTo>
                    <a:pt x="701040" y="29735"/>
                    <a:pt x="746760" y="23385"/>
                    <a:pt x="793750" y="23385"/>
                  </a:cubicBezTo>
                  <a:cubicBezTo>
                    <a:pt x="839470" y="23385"/>
                    <a:pt x="885190" y="27195"/>
                    <a:pt x="930910" y="36085"/>
                  </a:cubicBezTo>
                  <a:cubicBezTo>
                    <a:pt x="979170" y="46245"/>
                    <a:pt x="1075690" y="81805"/>
                    <a:pt x="1075690" y="81805"/>
                  </a:cubicBezTo>
                  <a:cubicBezTo>
                    <a:pt x="1075690" y="81805"/>
                    <a:pt x="1088390" y="83075"/>
                    <a:pt x="1093470" y="84345"/>
                  </a:cubicBezTo>
                  <a:cubicBezTo>
                    <a:pt x="1099820" y="84345"/>
                    <a:pt x="1111250" y="85615"/>
                    <a:pt x="1111250" y="85615"/>
                  </a:cubicBezTo>
                  <a:cubicBezTo>
                    <a:pt x="1112520" y="85615"/>
                    <a:pt x="1122680" y="90695"/>
                    <a:pt x="1129030" y="91965"/>
                  </a:cubicBezTo>
                  <a:cubicBezTo>
                    <a:pt x="1134110" y="94505"/>
                    <a:pt x="1145540" y="98315"/>
                    <a:pt x="1145540" y="98315"/>
                  </a:cubicBezTo>
                  <a:cubicBezTo>
                    <a:pt x="1145540" y="98315"/>
                    <a:pt x="1155700" y="105935"/>
                    <a:pt x="1160780" y="108475"/>
                  </a:cubicBezTo>
                  <a:cubicBezTo>
                    <a:pt x="1165860" y="112285"/>
                    <a:pt x="1174750" y="118635"/>
                    <a:pt x="1174750" y="118635"/>
                  </a:cubicBezTo>
                  <a:cubicBezTo>
                    <a:pt x="1176020" y="119905"/>
                    <a:pt x="1183640" y="128795"/>
                    <a:pt x="1187450" y="132605"/>
                  </a:cubicBezTo>
                  <a:cubicBezTo>
                    <a:pt x="1191260" y="137685"/>
                    <a:pt x="1198880" y="146575"/>
                    <a:pt x="1198880" y="146575"/>
                  </a:cubicBezTo>
                  <a:cubicBezTo>
                    <a:pt x="1198880" y="146575"/>
                    <a:pt x="1200150" y="147845"/>
                    <a:pt x="1200150" y="149115"/>
                  </a:cubicBezTo>
                  <a:cubicBezTo>
                    <a:pt x="1202690" y="150385"/>
                    <a:pt x="1206500" y="147845"/>
                    <a:pt x="1214120" y="147845"/>
                  </a:cubicBezTo>
                  <a:cubicBezTo>
                    <a:pt x="1243330" y="142765"/>
                    <a:pt x="1372870" y="123715"/>
                    <a:pt x="1451610" y="111015"/>
                  </a:cubicBezTo>
                  <a:cubicBezTo>
                    <a:pt x="1529080" y="97045"/>
                    <a:pt x="1612900" y="80535"/>
                    <a:pt x="1682750" y="66565"/>
                  </a:cubicBezTo>
                  <a:cubicBezTo>
                    <a:pt x="1739900" y="55135"/>
                    <a:pt x="1786890" y="42435"/>
                    <a:pt x="1841500" y="33545"/>
                  </a:cubicBezTo>
                  <a:cubicBezTo>
                    <a:pt x="1899920" y="24655"/>
                    <a:pt x="1967230" y="17035"/>
                    <a:pt x="2025650" y="11955"/>
                  </a:cubicBezTo>
                  <a:cubicBezTo>
                    <a:pt x="2078990" y="8145"/>
                    <a:pt x="2124710" y="4335"/>
                    <a:pt x="2180590" y="4335"/>
                  </a:cubicBezTo>
                  <a:cubicBezTo>
                    <a:pt x="2246630" y="4335"/>
                    <a:pt x="2331720" y="-10905"/>
                    <a:pt x="2392680" y="15765"/>
                  </a:cubicBezTo>
                  <a:cubicBezTo>
                    <a:pt x="2452370" y="42435"/>
                    <a:pt x="2536190" y="116095"/>
                    <a:pt x="2542540" y="165625"/>
                  </a:cubicBezTo>
                  <a:cubicBezTo>
                    <a:pt x="2547620" y="206265"/>
                    <a:pt x="2500630" y="254525"/>
                    <a:pt x="2470150" y="287545"/>
                  </a:cubicBezTo>
                  <a:cubicBezTo>
                    <a:pt x="2438400" y="319295"/>
                    <a:pt x="2382520" y="347235"/>
                    <a:pt x="2355850" y="362475"/>
                  </a:cubicBezTo>
                  <a:cubicBezTo>
                    <a:pt x="2343150" y="370095"/>
                    <a:pt x="2334260" y="373905"/>
                    <a:pt x="2325370" y="378985"/>
                  </a:cubicBezTo>
                  <a:cubicBezTo>
                    <a:pt x="2319020" y="382795"/>
                    <a:pt x="2313940" y="387875"/>
                    <a:pt x="2308860" y="390415"/>
                  </a:cubicBezTo>
                  <a:cubicBezTo>
                    <a:pt x="2306320" y="391685"/>
                    <a:pt x="2303780" y="391685"/>
                    <a:pt x="2301240" y="391685"/>
                  </a:cubicBezTo>
                  <a:cubicBezTo>
                    <a:pt x="2299970" y="392955"/>
                    <a:pt x="2298700" y="394225"/>
                    <a:pt x="2296160" y="395495"/>
                  </a:cubicBezTo>
                  <a:cubicBezTo>
                    <a:pt x="2292350" y="396765"/>
                    <a:pt x="2287270" y="395495"/>
                    <a:pt x="2283460" y="396765"/>
                  </a:cubicBezTo>
                  <a:cubicBezTo>
                    <a:pt x="2278380" y="398035"/>
                    <a:pt x="2273300" y="400575"/>
                    <a:pt x="2269490" y="400575"/>
                  </a:cubicBezTo>
                  <a:cubicBezTo>
                    <a:pt x="2266950" y="400575"/>
                    <a:pt x="2265680" y="399305"/>
                    <a:pt x="2263140" y="399305"/>
                  </a:cubicBezTo>
                  <a:cubicBezTo>
                    <a:pt x="2260600" y="399305"/>
                    <a:pt x="2259330" y="400575"/>
                    <a:pt x="2256790" y="400575"/>
                  </a:cubicBezTo>
                  <a:cubicBezTo>
                    <a:pt x="2252980" y="400575"/>
                    <a:pt x="2247900" y="399305"/>
                    <a:pt x="2242820" y="398035"/>
                  </a:cubicBezTo>
                  <a:cubicBezTo>
                    <a:pt x="2239010" y="398035"/>
                    <a:pt x="2233930" y="398035"/>
                    <a:pt x="2230120" y="398035"/>
                  </a:cubicBezTo>
                  <a:cubicBezTo>
                    <a:pt x="2227580" y="396765"/>
                    <a:pt x="2226310" y="395495"/>
                    <a:pt x="2223770" y="394225"/>
                  </a:cubicBezTo>
                  <a:cubicBezTo>
                    <a:pt x="2221230" y="394225"/>
                    <a:pt x="2219960" y="394225"/>
                    <a:pt x="2217420" y="394225"/>
                  </a:cubicBezTo>
                  <a:cubicBezTo>
                    <a:pt x="2213610" y="392955"/>
                    <a:pt x="2209800" y="389145"/>
                    <a:pt x="2205990" y="386605"/>
                  </a:cubicBezTo>
                  <a:cubicBezTo>
                    <a:pt x="2200910" y="385335"/>
                    <a:pt x="2195830" y="384065"/>
                    <a:pt x="2193290" y="381525"/>
                  </a:cubicBezTo>
                  <a:cubicBezTo>
                    <a:pt x="2190750" y="380255"/>
                    <a:pt x="2189480" y="378985"/>
                    <a:pt x="2188210" y="377715"/>
                  </a:cubicBezTo>
                  <a:cubicBezTo>
                    <a:pt x="2185670" y="376445"/>
                    <a:pt x="2184400" y="376445"/>
                    <a:pt x="2181860" y="373905"/>
                  </a:cubicBezTo>
                  <a:cubicBezTo>
                    <a:pt x="2179320" y="371365"/>
                    <a:pt x="2176780" y="367555"/>
                    <a:pt x="2172970" y="363745"/>
                  </a:cubicBezTo>
                  <a:cubicBezTo>
                    <a:pt x="2170430" y="361205"/>
                    <a:pt x="2165350" y="358665"/>
                    <a:pt x="2162810" y="354855"/>
                  </a:cubicBezTo>
                  <a:cubicBezTo>
                    <a:pt x="2161540" y="353585"/>
                    <a:pt x="2161540" y="351045"/>
                    <a:pt x="2159000" y="349775"/>
                  </a:cubicBezTo>
                  <a:cubicBezTo>
                    <a:pt x="2157730" y="347235"/>
                    <a:pt x="2156460" y="347235"/>
                    <a:pt x="2155190" y="344695"/>
                  </a:cubicBezTo>
                  <a:cubicBezTo>
                    <a:pt x="2152650" y="342155"/>
                    <a:pt x="2151380" y="335805"/>
                    <a:pt x="2150110" y="331995"/>
                  </a:cubicBezTo>
                  <a:cubicBezTo>
                    <a:pt x="2147570" y="328185"/>
                    <a:pt x="2143760" y="324375"/>
                    <a:pt x="2142490" y="320565"/>
                  </a:cubicBezTo>
                  <a:cubicBezTo>
                    <a:pt x="2142490" y="318025"/>
                    <a:pt x="2142490" y="316755"/>
                    <a:pt x="2141220" y="314215"/>
                  </a:cubicBezTo>
                  <a:cubicBezTo>
                    <a:pt x="2141220" y="311675"/>
                    <a:pt x="2139950" y="310405"/>
                    <a:pt x="2138680" y="307865"/>
                  </a:cubicBezTo>
                  <a:cubicBezTo>
                    <a:pt x="2137410" y="304055"/>
                    <a:pt x="2138680" y="298975"/>
                    <a:pt x="2137410" y="295165"/>
                  </a:cubicBezTo>
                  <a:cubicBezTo>
                    <a:pt x="2137410" y="290085"/>
                    <a:pt x="2134870" y="285005"/>
                    <a:pt x="2134870" y="281195"/>
                  </a:cubicBezTo>
                  <a:cubicBezTo>
                    <a:pt x="2134870" y="278655"/>
                    <a:pt x="2136140" y="277385"/>
                    <a:pt x="2136140" y="274845"/>
                  </a:cubicBezTo>
                  <a:cubicBezTo>
                    <a:pt x="2136140" y="272305"/>
                    <a:pt x="2134870" y="271035"/>
                    <a:pt x="2134870" y="268495"/>
                  </a:cubicBezTo>
                  <a:cubicBezTo>
                    <a:pt x="2136140" y="264685"/>
                    <a:pt x="2137410" y="259605"/>
                    <a:pt x="2138680" y="254525"/>
                  </a:cubicBezTo>
                  <a:cubicBezTo>
                    <a:pt x="2138680" y="250715"/>
                    <a:pt x="2138680" y="245635"/>
                    <a:pt x="2139950" y="241825"/>
                  </a:cubicBezTo>
                  <a:cubicBezTo>
                    <a:pt x="2141220" y="239285"/>
                    <a:pt x="2142490" y="238015"/>
                    <a:pt x="2142490" y="235475"/>
                  </a:cubicBezTo>
                  <a:cubicBezTo>
                    <a:pt x="2143760" y="232935"/>
                    <a:pt x="2143760" y="230395"/>
                    <a:pt x="2145030" y="229125"/>
                  </a:cubicBezTo>
                  <a:cubicBezTo>
                    <a:pt x="2145030" y="227855"/>
                    <a:pt x="2147570" y="226585"/>
                    <a:pt x="2146300" y="225315"/>
                  </a:cubicBezTo>
                  <a:cubicBezTo>
                    <a:pt x="2143760" y="221505"/>
                    <a:pt x="2085340" y="225315"/>
                    <a:pt x="2048510" y="226585"/>
                  </a:cubicBezTo>
                  <a:cubicBezTo>
                    <a:pt x="2000250" y="229125"/>
                    <a:pt x="1935480" y="235475"/>
                    <a:pt x="1880870" y="243095"/>
                  </a:cubicBezTo>
                  <a:cubicBezTo>
                    <a:pt x="1827530" y="250715"/>
                    <a:pt x="1778000" y="259605"/>
                    <a:pt x="1723390" y="269765"/>
                  </a:cubicBezTo>
                  <a:cubicBezTo>
                    <a:pt x="1664970" y="281195"/>
                    <a:pt x="1544320" y="300245"/>
                    <a:pt x="1541780" y="307865"/>
                  </a:cubicBezTo>
                  <a:cubicBezTo>
                    <a:pt x="1540510" y="309135"/>
                    <a:pt x="1543050" y="310405"/>
                    <a:pt x="1544320" y="311675"/>
                  </a:cubicBezTo>
                  <a:cubicBezTo>
                    <a:pt x="1546860" y="314215"/>
                    <a:pt x="1555750" y="324375"/>
                    <a:pt x="1555750" y="324375"/>
                  </a:cubicBezTo>
                  <a:cubicBezTo>
                    <a:pt x="1555750" y="324375"/>
                    <a:pt x="1560830" y="334535"/>
                    <a:pt x="1563370" y="339615"/>
                  </a:cubicBezTo>
                  <a:cubicBezTo>
                    <a:pt x="1565910" y="344695"/>
                    <a:pt x="1572260" y="353585"/>
                    <a:pt x="1572260" y="354855"/>
                  </a:cubicBezTo>
                  <a:cubicBezTo>
                    <a:pt x="1572260" y="354855"/>
                    <a:pt x="1574800" y="365015"/>
                    <a:pt x="1576070" y="371365"/>
                  </a:cubicBezTo>
                  <a:cubicBezTo>
                    <a:pt x="1577340" y="376445"/>
                    <a:pt x="1579880" y="387875"/>
                    <a:pt x="1579880" y="387875"/>
                  </a:cubicBezTo>
                  <a:cubicBezTo>
                    <a:pt x="1579880" y="387875"/>
                    <a:pt x="1579880" y="399305"/>
                    <a:pt x="1579880" y="404385"/>
                  </a:cubicBezTo>
                  <a:cubicBezTo>
                    <a:pt x="1579880" y="410735"/>
                    <a:pt x="1579880" y="420895"/>
                    <a:pt x="1579880" y="422165"/>
                  </a:cubicBezTo>
                  <a:cubicBezTo>
                    <a:pt x="1579880" y="422165"/>
                    <a:pt x="1577340" y="432325"/>
                    <a:pt x="1576070" y="438675"/>
                  </a:cubicBezTo>
                  <a:cubicBezTo>
                    <a:pt x="1574800" y="443755"/>
                    <a:pt x="1572260" y="455185"/>
                    <a:pt x="1572260" y="455185"/>
                  </a:cubicBezTo>
                  <a:cubicBezTo>
                    <a:pt x="1572260" y="455185"/>
                    <a:pt x="1567180" y="465345"/>
                    <a:pt x="1564640" y="470425"/>
                  </a:cubicBezTo>
                  <a:cubicBezTo>
                    <a:pt x="1562100" y="475505"/>
                    <a:pt x="1557020" y="485665"/>
                    <a:pt x="1557020" y="485665"/>
                  </a:cubicBezTo>
                  <a:cubicBezTo>
                    <a:pt x="1557020" y="485665"/>
                    <a:pt x="1557020" y="485665"/>
                    <a:pt x="1555750" y="485665"/>
                  </a:cubicBezTo>
                  <a:cubicBezTo>
                    <a:pt x="1555750" y="485665"/>
                    <a:pt x="1549400" y="493285"/>
                    <a:pt x="1545590" y="498365"/>
                  </a:cubicBezTo>
                  <a:cubicBezTo>
                    <a:pt x="1541780" y="502175"/>
                    <a:pt x="1534160" y="511065"/>
                    <a:pt x="1534160" y="511065"/>
                  </a:cubicBezTo>
                  <a:cubicBezTo>
                    <a:pt x="1534160" y="511065"/>
                    <a:pt x="1524000" y="517415"/>
                    <a:pt x="1520190" y="521225"/>
                  </a:cubicBezTo>
                  <a:cubicBezTo>
                    <a:pt x="1515110" y="523765"/>
                    <a:pt x="1506220" y="530115"/>
                    <a:pt x="1506220" y="530115"/>
                  </a:cubicBezTo>
                  <a:cubicBezTo>
                    <a:pt x="1504950" y="530115"/>
                    <a:pt x="1494790" y="533925"/>
                    <a:pt x="1489710" y="536465"/>
                  </a:cubicBezTo>
                  <a:cubicBezTo>
                    <a:pt x="1484630" y="539005"/>
                    <a:pt x="1474470" y="542815"/>
                    <a:pt x="1474470" y="542815"/>
                  </a:cubicBezTo>
                  <a:cubicBezTo>
                    <a:pt x="1473200" y="542815"/>
                    <a:pt x="1463040" y="544085"/>
                    <a:pt x="1456690" y="545355"/>
                  </a:cubicBezTo>
                  <a:cubicBezTo>
                    <a:pt x="1451610" y="545355"/>
                    <a:pt x="1446530" y="546625"/>
                    <a:pt x="1440180" y="546625"/>
                  </a:cubicBezTo>
                  <a:cubicBezTo>
                    <a:pt x="1428750" y="547895"/>
                    <a:pt x="1413510" y="549165"/>
                    <a:pt x="1394460" y="549165"/>
                  </a:cubicBezTo>
                  <a:cubicBezTo>
                    <a:pt x="1360170" y="551705"/>
                    <a:pt x="1301750" y="551705"/>
                    <a:pt x="1254760" y="556785"/>
                  </a:cubicBezTo>
                  <a:cubicBezTo>
                    <a:pt x="1209040" y="561865"/>
                    <a:pt x="1126490" y="559325"/>
                    <a:pt x="1116330" y="579645"/>
                  </a:cubicBezTo>
                  <a:cubicBezTo>
                    <a:pt x="1108710" y="594885"/>
                    <a:pt x="1137920" y="621555"/>
                    <a:pt x="1151890" y="644415"/>
                  </a:cubicBezTo>
                  <a:cubicBezTo>
                    <a:pt x="1169670" y="674895"/>
                    <a:pt x="1202690" y="723155"/>
                    <a:pt x="1214120" y="747285"/>
                  </a:cubicBezTo>
                  <a:cubicBezTo>
                    <a:pt x="1221740" y="758715"/>
                    <a:pt x="1224280" y="765065"/>
                    <a:pt x="1228090" y="775225"/>
                  </a:cubicBezTo>
                  <a:cubicBezTo>
                    <a:pt x="1230630" y="785385"/>
                    <a:pt x="1233170" y="795545"/>
                    <a:pt x="1233170" y="806975"/>
                  </a:cubicBezTo>
                  <a:cubicBezTo>
                    <a:pt x="1234440" y="817135"/>
                    <a:pt x="1233170" y="827295"/>
                    <a:pt x="1231900" y="837455"/>
                  </a:cubicBezTo>
                  <a:cubicBezTo>
                    <a:pt x="1229360" y="847615"/>
                    <a:pt x="1226820" y="857775"/>
                    <a:pt x="1223010" y="867935"/>
                  </a:cubicBezTo>
                  <a:cubicBezTo>
                    <a:pt x="1217930" y="876825"/>
                    <a:pt x="1212850" y="885715"/>
                    <a:pt x="1206500" y="894605"/>
                  </a:cubicBezTo>
                  <a:cubicBezTo>
                    <a:pt x="1200150" y="902225"/>
                    <a:pt x="1192530" y="909845"/>
                    <a:pt x="1183640" y="916195"/>
                  </a:cubicBezTo>
                  <a:cubicBezTo>
                    <a:pt x="1176020" y="922545"/>
                    <a:pt x="1167130" y="928895"/>
                    <a:pt x="1156970" y="932705"/>
                  </a:cubicBezTo>
                  <a:cubicBezTo>
                    <a:pt x="1148080" y="937785"/>
                    <a:pt x="1137920" y="940325"/>
                    <a:pt x="1127760" y="942865"/>
                  </a:cubicBezTo>
                  <a:cubicBezTo>
                    <a:pt x="1117600" y="944135"/>
                    <a:pt x="1106170" y="945405"/>
                    <a:pt x="1096010" y="944135"/>
                  </a:cubicBezTo>
                  <a:cubicBezTo>
                    <a:pt x="1085850" y="944135"/>
                    <a:pt x="1075690" y="941595"/>
                    <a:pt x="1065530" y="939055"/>
                  </a:cubicBezTo>
                  <a:cubicBezTo>
                    <a:pt x="1055370" y="935245"/>
                    <a:pt x="1045210" y="931435"/>
                    <a:pt x="1036320" y="926355"/>
                  </a:cubicBezTo>
                  <a:cubicBezTo>
                    <a:pt x="1027430" y="921275"/>
                    <a:pt x="1019810" y="913655"/>
                    <a:pt x="1012190" y="907305"/>
                  </a:cubicBezTo>
                  <a:cubicBezTo>
                    <a:pt x="1004570" y="899685"/>
                    <a:pt x="1000760" y="893335"/>
                    <a:pt x="993140" y="881905"/>
                  </a:cubicBezTo>
                  <a:cubicBezTo>
                    <a:pt x="977900" y="860315"/>
                    <a:pt x="957580" y="812055"/>
                    <a:pt x="930910" y="780305"/>
                  </a:cubicBezTo>
                  <a:cubicBezTo>
                    <a:pt x="901700" y="746015"/>
                    <a:pt x="866140" y="701565"/>
                    <a:pt x="824230" y="686325"/>
                  </a:cubicBezTo>
                  <a:cubicBezTo>
                    <a:pt x="783590" y="671085"/>
                    <a:pt x="720090" y="690135"/>
                    <a:pt x="681990" y="688865"/>
                  </a:cubicBezTo>
                  <a:cubicBezTo>
                    <a:pt x="657860" y="688865"/>
                    <a:pt x="635000" y="687595"/>
                    <a:pt x="619760" y="687595"/>
                  </a:cubicBezTo>
                  <a:cubicBezTo>
                    <a:pt x="613410" y="686325"/>
                    <a:pt x="609600" y="685055"/>
                    <a:pt x="603250" y="685055"/>
                  </a:cubicBezTo>
                  <a:cubicBezTo>
                    <a:pt x="598170" y="683785"/>
                    <a:pt x="586740" y="682515"/>
                    <a:pt x="586740" y="682515"/>
                  </a:cubicBezTo>
                  <a:cubicBezTo>
                    <a:pt x="586740" y="682515"/>
                    <a:pt x="576580" y="678705"/>
                    <a:pt x="571500" y="677435"/>
                  </a:cubicBezTo>
                  <a:cubicBezTo>
                    <a:pt x="566420" y="674895"/>
                    <a:pt x="556260" y="671085"/>
                    <a:pt x="554990" y="671085"/>
                  </a:cubicBezTo>
                  <a:cubicBezTo>
                    <a:pt x="554990" y="671085"/>
                    <a:pt x="546100" y="664735"/>
                    <a:pt x="542290" y="662195"/>
                  </a:cubicBezTo>
                  <a:cubicBezTo>
                    <a:pt x="537210" y="658385"/>
                    <a:pt x="528320" y="652035"/>
                    <a:pt x="528320" y="652035"/>
                  </a:cubicBezTo>
                  <a:cubicBezTo>
                    <a:pt x="528320" y="652035"/>
                    <a:pt x="520700" y="643145"/>
                    <a:pt x="516890" y="639335"/>
                  </a:cubicBezTo>
                  <a:cubicBezTo>
                    <a:pt x="513080" y="635525"/>
                    <a:pt x="505460" y="626635"/>
                    <a:pt x="505460" y="626635"/>
                  </a:cubicBezTo>
                  <a:cubicBezTo>
                    <a:pt x="505460" y="626635"/>
                    <a:pt x="500380" y="616475"/>
                    <a:pt x="497840" y="612665"/>
                  </a:cubicBezTo>
                  <a:cubicBezTo>
                    <a:pt x="495300" y="607585"/>
                    <a:pt x="490220" y="597425"/>
                    <a:pt x="490220" y="597425"/>
                  </a:cubicBezTo>
                  <a:cubicBezTo>
                    <a:pt x="490220" y="597425"/>
                    <a:pt x="490220" y="588535"/>
                    <a:pt x="487680" y="587265"/>
                  </a:cubicBezTo>
                  <a:cubicBezTo>
                    <a:pt x="476250" y="582185"/>
                    <a:pt x="406400" y="627905"/>
                    <a:pt x="364490" y="654575"/>
                  </a:cubicBezTo>
                  <a:cubicBezTo>
                    <a:pt x="316230" y="685055"/>
                    <a:pt x="270510" y="752365"/>
                    <a:pt x="218440" y="759985"/>
                  </a:cubicBezTo>
                  <a:cubicBezTo>
                    <a:pt x="167640" y="767605"/>
                    <a:pt x="93980" y="735855"/>
                    <a:pt x="57150" y="701565"/>
                  </a:cubicBezTo>
                  <a:cubicBezTo>
                    <a:pt x="24130" y="669815"/>
                    <a:pt x="0" y="566945"/>
                    <a:pt x="0" y="566945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0788968" y="7168515"/>
            <a:ext cx="2784158" cy="834390"/>
            <a:chOff x="0" y="0"/>
            <a:chExt cx="3712210" cy="1112520"/>
          </a:xfrm>
        </p:grpSpPr>
        <p:sp>
          <p:nvSpPr>
            <p:cNvPr id="26" name="Freeform 26"/>
            <p:cNvSpPr/>
            <p:nvPr/>
          </p:nvSpPr>
          <p:spPr>
            <a:xfrm>
              <a:off x="50693" y="49855"/>
              <a:ext cx="3610717" cy="1013001"/>
            </a:xfrm>
            <a:custGeom>
              <a:avLst/>
              <a:gdLst/>
              <a:ahLst/>
              <a:cxnLst/>
              <a:rect l="l" t="t" r="r" b="b"/>
              <a:pathLst>
                <a:path w="3610717" h="1013001">
                  <a:moveTo>
                    <a:pt x="2433427" y="641025"/>
                  </a:moveTo>
                  <a:cubicBezTo>
                    <a:pt x="1497437" y="604195"/>
                    <a:pt x="941177" y="503865"/>
                    <a:pt x="845927" y="533075"/>
                  </a:cubicBezTo>
                  <a:cubicBezTo>
                    <a:pt x="825607" y="539425"/>
                    <a:pt x="828147" y="553395"/>
                    <a:pt x="814177" y="558475"/>
                  </a:cubicBezTo>
                  <a:cubicBezTo>
                    <a:pt x="798937" y="564825"/>
                    <a:pt x="774807" y="566095"/>
                    <a:pt x="755757" y="561015"/>
                  </a:cubicBezTo>
                  <a:cubicBezTo>
                    <a:pt x="731627" y="554665"/>
                    <a:pt x="698607" y="536885"/>
                    <a:pt x="682097" y="515295"/>
                  </a:cubicBezTo>
                  <a:cubicBezTo>
                    <a:pt x="665587" y="492435"/>
                    <a:pt x="655427" y="458145"/>
                    <a:pt x="657967" y="431475"/>
                  </a:cubicBezTo>
                  <a:cubicBezTo>
                    <a:pt x="659237" y="403535"/>
                    <a:pt x="678287" y="370515"/>
                    <a:pt x="694797" y="351465"/>
                  </a:cubicBezTo>
                  <a:cubicBezTo>
                    <a:pt x="708767" y="337495"/>
                    <a:pt x="718927" y="329875"/>
                    <a:pt x="745597" y="322255"/>
                  </a:cubicBezTo>
                  <a:cubicBezTo>
                    <a:pt x="817987" y="303205"/>
                    <a:pt x="1023727" y="320985"/>
                    <a:pt x="1171047" y="326065"/>
                  </a:cubicBezTo>
                  <a:cubicBezTo>
                    <a:pt x="1327257" y="332415"/>
                    <a:pt x="1493627" y="354005"/>
                    <a:pt x="1658727" y="359085"/>
                  </a:cubicBezTo>
                  <a:cubicBezTo>
                    <a:pt x="1827637" y="365435"/>
                    <a:pt x="2047347" y="346385"/>
                    <a:pt x="2173077" y="360355"/>
                  </a:cubicBezTo>
                  <a:cubicBezTo>
                    <a:pt x="2246737" y="367975"/>
                    <a:pt x="2284837" y="389565"/>
                    <a:pt x="2345797" y="395915"/>
                  </a:cubicBezTo>
                  <a:cubicBezTo>
                    <a:pt x="2409297" y="403535"/>
                    <a:pt x="2500737" y="389565"/>
                    <a:pt x="2545187" y="398455"/>
                  </a:cubicBezTo>
                  <a:cubicBezTo>
                    <a:pt x="2568047" y="403535"/>
                    <a:pt x="2582017" y="407345"/>
                    <a:pt x="2595987" y="420045"/>
                  </a:cubicBezTo>
                  <a:cubicBezTo>
                    <a:pt x="2613767" y="435285"/>
                    <a:pt x="2634087" y="465765"/>
                    <a:pt x="2640437" y="488625"/>
                  </a:cubicBezTo>
                  <a:cubicBezTo>
                    <a:pt x="2645517" y="507675"/>
                    <a:pt x="2644247" y="526725"/>
                    <a:pt x="2639167" y="544505"/>
                  </a:cubicBezTo>
                  <a:cubicBezTo>
                    <a:pt x="2634087" y="561015"/>
                    <a:pt x="2625197" y="578795"/>
                    <a:pt x="2611227" y="592765"/>
                  </a:cubicBezTo>
                  <a:cubicBezTo>
                    <a:pt x="2594717" y="608005"/>
                    <a:pt x="2573127" y="618165"/>
                    <a:pt x="2537567" y="628325"/>
                  </a:cubicBezTo>
                  <a:cubicBezTo>
                    <a:pt x="2453747" y="651185"/>
                    <a:pt x="2289917" y="642295"/>
                    <a:pt x="2104497" y="666425"/>
                  </a:cubicBezTo>
                  <a:cubicBezTo>
                    <a:pt x="1770487" y="708335"/>
                    <a:pt x="997057" y="859465"/>
                    <a:pt x="707497" y="900105"/>
                  </a:cubicBezTo>
                  <a:cubicBezTo>
                    <a:pt x="577957" y="917885"/>
                    <a:pt x="518267" y="914075"/>
                    <a:pt x="424287" y="931855"/>
                  </a:cubicBezTo>
                  <a:cubicBezTo>
                    <a:pt x="327767" y="950905"/>
                    <a:pt x="196957" y="1004245"/>
                    <a:pt x="137267" y="1010595"/>
                  </a:cubicBezTo>
                  <a:cubicBezTo>
                    <a:pt x="109327" y="1013135"/>
                    <a:pt x="95357" y="1011865"/>
                    <a:pt x="77577" y="1006785"/>
                  </a:cubicBezTo>
                  <a:cubicBezTo>
                    <a:pt x="59797" y="1001705"/>
                    <a:pt x="44557" y="991545"/>
                    <a:pt x="31857" y="980115"/>
                  </a:cubicBezTo>
                  <a:cubicBezTo>
                    <a:pt x="20427" y="968685"/>
                    <a:pt x="10267" y="952175"/>
                    <a:pt x="5187" y="935665"/>
                  </a:cubicBezTo>
                  <a:cubicBezTo>
                    <a:pt x="107" y="919155"/>
                    <a:pt x="-1163" y="900105"/>
                    <a:pt x="1377" y="883595"/>
                  </a:cubicBezTo>
                  <a:cubicBezTo>
                    <a:pt x="5187" y="867085"/>
                    <a:pt x="7727" y="855655"/>
                    <a:pt x="22967" y="836605"/>
                  </a:cubicBezTo>
                  <a:cubicBezTo>
                    <a:pt x="63607" y="784535"/>
                    <a:pt x="210927" y="667695"/>
                    <a:pt x="318877" y="605465"/>
                  </a:cubicBezTo>
                  <a:cubicBezTo>
                    <a:pt x="428097" y="541965"/>
                    <a:pt x="562717" y="494975"/>
                    <a:pt x="674477" y="459415"/>
                  </a:cubicBezTo>
                  <a:cubicBezTo>
                    <a:pt x="769727" y="428935"/>
                    <a:pt x="886567" y="400995"/>
                    <a:pt x="943717" y="397185"/>
                  </a:cubicBezTo>
                  <a:cubicBezTo>
                    <a:pt x="969117" y="394645"/>
                    <a:pt x="981817" y="395915"/>
                    <a:pt x="999597" y="402265"/>
                  </a:cubicBezTo>
                  <a:cubicBezTo>
                    <a:pt x="1017377" y="408615"/>
                    <a:pt x="1033887" y="420045"/>
                    <a:pt x="1046587" y="432745"/>
                  </a:cubicBezTo>
                  <a:cubicBezTo>
                    <a:pt x="1059287" y="446715"/>
                    <a:pt x="1069447" y="464495"/>
                    <a:pt x="1074527" y="482275"/>
                  </a:cubicBezTo>
                  <a:cubicBezTo>
                    <a:pt x="1079607" y="500055"/>
                    <a:pt x="1080877" y="520375"/>
                    <a:pt x="1075797" y="539425"/>
                  </a:cubicBezTo>
                  <a:cubicBezTo>
                    <a:pt x="1069447" y="562285"/>
                    <a:pt x="1049127" y="594035"/>
                    <a:pt x="1030077" y="609275"/>
                  </a:cubicBezTo>
                  <a:cubicBezTo>
                    <a:pt x="1014837" y="621975"/>
                    <a:pt x="1004677" y="628325"/>
                    <a:pt x="978007" y="630865"/>
                  </a:cubicBezTo>
                  <a:cubicBezTo>
                    <a:pt x="892917" y="639755"/>
                    <a:pt x="561447" y="517835"/>
                    <a:pt x="439527" y="526725"/>
                  </a:cubicBezTo>
                  <a:cubicBezTo>
                    <a:pt x="374757" y="531805"/>
                    <a:pt x="332847" y="571175"/>
                    <a:pt x="294747" y="577525"/>
                  </a:cubicBezTo>
                  <a:cubicBezTo>
                    <a:pt x="270617" y="580065"/>
                    <a:pt x="254107" y="581335"/>
                    <a:pt x="233787" y="574985"/>
                  </a:cubicBezTo>
                  <a:cubicBezTo>
                    <a:pt x="209657" y="566095"/>
                    <a:pt x="177907" y="541965"/>
                    <a:pt x="162667" y="520375"/>
                  </a:cubicBezTo>
                  <a:cubicBezTo>
                    <a:pt x="151237" y="503865"/>
                    <a:pt x="144887" y="484815"/>
                    <a:pt x="143617" y="463225"/>
                  </a:cubicBezTo>
                  <a:cubicBezTo>
                    <a:pt x="143617" y="437825"/>
                    <a:pt x="155047" y="399725"/>
                    <a:pt x="169017" y="378135"/>
                  </a:cubicBezTo>
                  <a:cubicBezTo>
                    <a:pt x="180447" y="360355"/>
                    <a:pt x="190607" y="347655"/>
                    <a:pt x="216007" y="340035"/>
                  </a:cubicBezTo>
                  <a:cubicBezTo>
                    <a:pt x="278237" y="322255"/>
                    <a:pt x="464927" y="364165"/>
                    <a:pt x="575417" y="383215"/>
                  </a:cubicBezTo>
                  <a:cubicBezTo>
                    <a:pt x="674477" y="402265"/>
                    <a:pt x="791317" y="422585"/>
                    <a:pt x="852277" y="450525"/>
                  </a:cubicBezTo>
                  <a:cubicBezTo>
                    <a:pt x="886567" y="467035"/>
                    <a:pt x="909427" y="483545"/>
                    <a:pt x="923397" y="505135"/>
                  </a:cubicBezTo>
                  <a:cubicBezTo>
                    <a:pt x="936097" y="521645"/>
                    <a:pt x="942447" y="540695"/>
                    <a:pt x="943717" y="562285"/>
                  </a:cubicBezTo>
                  <a:cubicBezTo>
                    <a:pt x="943717" y="587685"/>
                    <a:pt x="934827" y="625785"/>
                    <a:pt x="918317" y="648645"/>
                  </a:cubicBezTo>
                  <a:cubicBezTo>
                    <a:pt x="901807" y="670235"/>
                    <a:pt x="876407" y="686745"/>
                    <a:pt x="842117" y="696905"/>
                  </a:cubicBezTo>
                  <a:cubicBezTo>
                    <a:pt x="791317" y="712145"/>
                    <a:pt x="712577" y="708335"/>
                    <a:pt x="632567" y="700715"/>
                  </a:cubicBezTo>
                  <a:cubicBezTo>
                    <a:pt x="523347" y="691825"/>
                    <a:pt x="339197" y="661345"/>
                    <a:pt x="251567" y="624515"/>
                  </a:cubicBezTo>
                  <a:cubicBezTo>
                    <a:pt x="199497" y="602925"/>
                    <a:pt x="158857" y="586415"/>
                    <a:pt x="135997" y="548315"/>
                  </a:cubicBezTo>
                  <a:cubicBezTo>
                    <a:pt x="111867" y="505135"/>
                    <a:pt x="105517" y="417505"/>
                    <a:pt x="128377" y="366705"/>
                  </a:cubicBezTo>
                  <a:cubicBezTo>
                    <a:pt x="149967" y="314635"/>
                    <a:pt x="219817" y="277805"/>
                    <a:pt x="271887" y="244785"/>
                  </a:cubicBezTo>
                  <a:cubicBezTo>
                    <a:pt x="322687" y="213035"/>
                    <a:pt x="382377" y="186365"/>
                    <a:pt x="436987" y="169855"/>
                  </a:cubicBezTo>
                  <a:cubicBezTo>
                    <a:pt x="486517" y="154615"/>
                    <a:pt x="514457" y="149535"/>
                    <a:pt x="588117" y="144455"/>
                  </a:cubicBezTo>
                  <a:cubicBezTo>
                    <a:pt x="774807" y="127945"/>
                    <a:pt x="1361547" y="134295"/>
                    <a:pt x="1602847" y="141915"/>
                  </a:cubicBezTo>
                  <a:cubicBezTo>
                    <a:pt x="1734927" y="146995"/>
                    <a:pt x="1807317" y="173665"/>
                    <a:pt x="1910187" y="163505"/>
                  </a:cubicBezTo>
                  <a:cubicBezTo>
                    <a:pt x="2019407" y="152075"/>
                    <a:pt x="2148947" y="89845"/>
                    <a:pt x="2239117" y="72065"/>
                  </a:cubicBezTo>
                  <a:cubicBezTo>
                    <a:pt x="2300077" y="59365"/>
                    <a:pt x="2324207" y="53015"/>
                    <a:pt x="2396597" y="50475"/>
                  </a:cubicBezTo>
                  <a:cubicBezTo>
                    <a:pt x="2551537" y="44125"/>
                    <a:pt x="2938887" y="101275"/>
                    <a:pt x="3137007" y="88575"/>
                  </a:cubicBezTo>
                  <a:cubicBezTo>
                    <a:pt x="3274167" y="79685"/>
                    <a:pt x="3402437" y="12375"/>
                    <a:pt x="3478637" y="23805"/>
                  </a:cubicBezTo>
                  <a:cubicBezTo>
                    <a:pt x="3521817" y="30155"/>
                    <a:pt x="3551027" y="47935"/>
                    <a:pt x="3572617" y="72065"/>
                  </a:cubicBezTo>
                  <a:cubicBezTo>
                    <a:pt x="3595477" y="97465"/>
                    <a:pt x="3610717" y="138105"/>
                    <a:pt x="3610717" y="171125"/>
                  </a:cubicBezTo>
                  <a:cubicBezTo>
                    <a:pt x="3610717" y="204145"/>
                    <a:pt x="3595477" y="244785"/>
                    <a:pt x="3573887" y="270185"/>
                  </a:cubicBezTo>
                  <a:cubicBezTo>
                    <a:pt x="3552297" y="294315"/>
                    <a:pt x="3528167" y="308285"/>
                    <a:pt x="3481177" y="319715"/>
                  </a:cubicBezTo>
                  <a:cubicBezTo>
                    <a:pt x="3357987" y="348925"/>
                    <a:pt x="2929997" y="295585"/>
                    <a:pt x="2780137" y="303205"/>
                  </a:cubicBezTo>
                  <a:cubicBezTo>
                    <a:pt x="2709017" y="307015"/>
                    <a:pt x="2682347" y="322255"/>
                    <a:pt x="2623927" y="323525"/>
                  </a:cubicBezTo>
                  <a:cubicBezTo>
                    <a:pt x="2548997" y="324795"/>
                    <a:pt x="2430887" y="324795"/>
                    <a:pt x="2369927" y="303205"/>
                  </a:cubicBezTo>
                  <a:cubicBezTo>
                    <a:pt x="2330557" y="289235"/>
                    <a:pt x="2301347" y="266375"/>
                    <a:pt x="2282297" y="242245"/>
                  </a:cubicBezTo>
                  <a:cubicBezTo>
                    <a:pt x="2265787" y="221925"/>
                    <a:pt x="2259437" y="197795"/>
                    <a:pt x="2256897" y="173665"/>
                  </a:cubicBezTo>
                  <a:cubicBezTo>
                    <a:pt x="2253087" y="150805"/>
                    <a:pt x="2256897" y="124135"/>
                    <a:pt x="2264517" y="102545"/>
                  </a:cubicBezTo>
                  <a:cubicBezTo>
                    <a:pt x="2273407" y="79685"/>
                    <a:pt x="2288647" y="58095"/>
                    <a:pt x="2306427" y="42855"/>
                  </a:cubicBezTo>
                  <a:cubicBezTo>
                    <a:pt x="2324207" y="26345"/>
                    <a:pt x="2339447" y="16185"/>
                    <a:pt x="2371197" y="8565"/>
                  </a:cubicBezTo>
                  <a:cubicBezTo>
                    <a:pt x="2442317" y="-7945"/>
                    <a:pt x="2604877" y="19995"/>
                    <a:pt x="2740767" y="19995"/>
                  </a:cubicBezTo>
                  <a:cubicBezTo>
                    <a:pt x="2910947" y="19995"/>
                    <a:pt x="3224637" y="-4135"/>
                    <a:pt x="3309727" y="945"/>
                  </a:cubicBezTo>
                  <a:cubicBezTo>
                    <a:pt x="3335127" y="3485"/>
                    <a:pt x="3341477" y="2215"/>
                    <a:pt x="3357987" y="9835"/>
                  </a:cubicBezTo>
                  <a:cubicBezTo>
                    <a:pt x="3382117" y="19995"/>
                    <a:pt x="3417677" y="42855"/>
                    <a:pt x="3434187" y="68255"/>
                  </a:cubicBezTo>
                  <a:cubicBezTo>
                    <a:pt x="3451967" y="92385"/>
                    <a:pt x="3462127" y="130485"/>
                    <a:pt x="3460857" y="160965"/>
                  </a:cubicBezTo>
                  <a:cubicBezTo>
                    <a:pt x="3459587" y="191445"/>
                    <a:pt x="3444347" y="227005"/>
                    <a:pt x="3425297" y="249865"/>
                  </a:cubicBezTo>
                  <a:cubicBezTo>
                    <a:pt x="3404977" y="273995"/>
                    <a:pt x="3366877" y="291775"/>
                    <a:pt x="3342747" y="299395"/>
                  </a:cubicBezTo>
                  <a:cubicBezTo>
                    <a:pt x="3324967" y="305745"/>
                    <a:pt x="3312267" y="305745"/>
                    <a:pt x="3293217" y="303205"/>
                  </a:cubicBezTo>
                  <a:cubicBezTo>
                    <a:pt x="3267817" y="298125"/>
                    <a:pt x="3228447" y="282885"/>
                    <a:pt x="3205587" y="262565"/>
                  </a:cubicBezTo>
                  <a:cubicBezTo>
                    <a:pt x="3183997" y="240975"/>
                    <a:pt x="3166217" y="206685"/>
                    <a:pt x="3161137" y="177475"/>
                  </a:cubicBezTo>
                  <a:cubicBezTo>
                    <a:pt x="3156057" y="146995"/>
                    <a:pt x="3166217" y="105085"/>
                    <a:pt x="3176377" y="82225"/>
                  </a:cubicBezTo>
                  <a:cubicBezTo>
                    <a:pt x="3183997" y="64445"/>
                    <a:pt x="3191617" y="54285"/>
                    <a:pt x="3205587" y="42855"/>
                  </a:cubicBezTo>
                  <a:cubicBezTo>
                    <a:pt x="3225907" y="26345"/>
                    <a:pt x="3267817" y="7295"/>
                    <a:pt x="3293217" y="2215"/>
                  </a:cubicBezTo>
                  <a:cubicBezTo>
                    <a:pt x="3310997" y="-1595"/>
                    <a:pt x="3324967" y="-325"/>
                    <a:pt x="3342747" y="4755"/>
                  </a:cubicBezTo>
                  <a:cubicBezTo>
                    <a:pt x="3366877" y="12375"/>
                    <a:pt x="3404977" y="31425"/>
                    <a:pt x="3425297" y="54285"/>
                  </a:cubicBezTo>
                  <a:cubicBezTo>
                    <a:pt x="3444347" y="78415"/>
                    <a:pt x="3459587" y="113975"/>
                    <a:pt x="3460857" y="144455"/>
                  </a:cubicBezTo>
                  <a:cubicBezTo>
                    <a:pt x="3462127" y="174935"/>
                    <a:pt x="3448157" y="214305"/>
                    <a:pt x="3435457" y="237165"/>
                  </a:cubicBezTo>
                  <a:cubicBezTo>
                    <a:pt x="3425297" y="253675"/>
                    <a:pt x="3416407" y="262565"/>
                    <a:pt x="3401167" y="272725"/>
                  </a:cubicBezTo>
                  <a:cubicBezTo>
                    <a:pt x="3379577" y="286695"/>
                    <a:pt x="3352907" y="295585"/>
                    <a:pt x="3309727" y="303205"/>
                  </a:cubicBezTo>
                  <a:cubicBezTo>
                    <a:pt x="3215747" y="320985"/>
                    <a:pt x="2999847" y="318445"/>
                    <a:pt x="2843637" y="318445"/>
                  </a:cubicBezTo>
                  <a:cubicBezTo>
                    <a:pt x="2687427" y="318445"/>
                    <a:pt x="2462637" y="333685"/>
                    <a:pt x="2369927" y="303205"/>
                  </a:cubicBezTo>
                  <a:cubicBezTo>
                    <a:pt x="2325477" y="287965"/>
                    <a:pt x="2301347" y="268915"/>
                    <a:pt x="2282297" y="242245"/>
                  </a:cubicBezTo>
                  <a:cubicBezTo>
                    <a:pt x="2263247" y="214305"/>
                    <a:pt x="2251817" y="171125"/>
                    <a:pt x="2256897" y="136835"/>
                  </a:cubicBezTo>
                  <a:cubicBezTo>
                    <a:pt x="2260707" y="103815"/>
                    <a:pt x="2281027" y="64445"/>
                    <a:pt x="2306427" y="42855"/>
                  </a:cubicBezTo>
                  <a:cubicBezTo>
                    <a:pt x="2331827" y="19995"/>
                    <a:pt x="2366117" y="11105"/>
                    <a:pt x="2406757" y="4755"/>
                  </a:cubicBezTo>
                  <a:cubicBezTo>
                    <a:pt x="2465177" y="-4135"/>
                    <a:pt x="2547727" y="16185"/>
                    <a:pt x="2625197" y="16185"/>
                  </a:cubicBezTo>
                  <a:cubicBezTo>
                    <a:pt x="2712827" y="17455"/>
                    <a:pt x="2795377" y="2215"/>
                    <a:pt x="2907137" y="2215"/>
                  </a:cubicBezTo>
                  <a:cubicBezTo>
                    <a:pt x="3070967" y="2215"/>
                    <a:pt x="3420217" y="945"/>
                    <a:pt x="3514197" y="32695"/>
                  </a:cubicBezTo>
                  <a:cubicBezTo>
                    <a:pt x="3545947" y="42855"/>
                    <a:pt x="3557377" y="55555"/>
                    <a:pt x="3572617" y="72065"/>
                  </a:cubicBezTo>
                  <a:cubicBezTo>
                    <a:pt x="3587857" y="89845"/>
                    <a:pt x="3600557" y="112705"/>
                    <a:pt x="3606907" y="135565"/>
                  </a:cubicBezTo>
                  <a:cubicBezTo>
                    <a:pt x="3611987" y="157155"/>
                    <a:pt x="3611987" y="183825"/>
                    <a:pt x="3606907" y="206685"/>
                  </a:cubicBezTo>
                  <a:cubicBezTo>
                    <a:pt x="3601827" y="229545"/>
                    <a:pt x="3589127" y="252405"/>
                    <a:pt x="3573887" y="270185"/>
                  </a:cubicBezTo>
                  <a:cubicBezTo>
                    <a:pt x="3558647" y="286695"/>
                    <a:pt x="3543407" y="298125"/>
                    <a:pt x="3515467" y="310825"/>
                  </a:cubicBezTo>
                  <a:cubicBezTo>
                    <a:pt x="3458317" y="336225"/>
                    <a:pt x="3316077" y="366705"/>
                    <a:pt x="3234797" y="376865"/>
                  </a:cubicBezTo>
                  <a:cubicBezTo>
                    <a:pt x="3172567" y="385755"/>
                    <a:pt x="3143357" y="383215"/>
                    <a:pt x="3069697" y="381945"/>
                  </a:cubicBezTo>
                  <a:cubicBezTo>
                    <a:pt x="2923647" y="378135"/>
                    <a:pt x="2607417" y="317175"/>
                    <a:pt x="2410567" y="333685"/>
                  </a:cubicBezTo>
                  <a:cubicBezTo>
                    <a:pt x="2249277" y="346385"/>
                    <a:pt x="2082907" y="423855"/>
                    <a:pt x="1974957" y="437825"/>
                  </a:cubicBezTo>
                  <a:cubicBezTo>
                    <a:pt x="1912727" y="445445"/>
                    <a:pt x="1874627" y="442905"/>
                    <a:pt x="1825097" y="440365"/>
                  </a:cubicBezTo>
                  <a:cubicBezTo>
                    <a:pt x="1775567" y="437825"/>
                    <a:pt x="1746357" y="428935"/>
                    <a:pt x="1677777" y="423855"/>
                  </a:cubicBezTo>
                  <a:cubicBezTo>
                    <a:pt x="1513947" y="412425"/>
                    <a:pt x="1046587" y="407345"/>
                    <a:pt x="853547" y="407345"/>
                  </a:cubicBezTo>
                  <a:cubicBezTo>
                    <a:pt x="748137" y="407345"/>
                    <a:pt x="680827" y="404805"/>
                    <a:pt x="610977" y="409885"/>
                  </a:cubicBezTo>
                  <a:cubicBezTo>
                    <a:pt x="556367" y="413695"/>
                    <a:pt x="515727" y="434015"/>
                    <a:pt x="468737" y="430205"/>
                  </a:cubicBezTo>
                  <a:cubicBezTo>
                    <a:pt x="419207" y="425125"/>
                    <a:pt x="318877" y="384485"/>
                    <a:pt x="318877" y="381945"/>
                  </a:cubicBezTo>
                  <a:cubicBezTo>
                    <a:pt x="320147" y="376865"/>
                    <a:pt x="542397" y="439095"/>
                    <a:pt x="638917" y="449255"/>
                  </a:cubicBezTo>
                  <a:cubicBezTo>
                    <a:pt x="716387" y="458145"/>
                    <a:pt x="814177" y="442905"/>
                    <a:pt x="852277" y="450525"/>
                  </a:cubicBezTo>
                  <a:cubicBezTo>
                    <a:pt x="866247" y="453065"/>
                    <a:pt x="870057" y="455605"/>
                    <a:pt x="880217" y="463225"/>
                  </a:cubicBezTo>
                  <a:cubicBezTo>
                    <a:pt x="894187" y="472115"/>
                    <a:pt x="913237" y="486085"/>
                    <a:pt x="923397" y="505135"/>
                  </a:cubicBezTo>
                  <a:cubicBezTo>
                    <a:pt x="936097" y="526725"/>
                    <a:pt x="946257" y="564825"/>
                    <a:pt x="942447" y="592765"/>
                  </a:cubicBezTo>
                  <a:cubicBezTo>
                    <a:pt x="937367" y="620705"/>
                    <a:pt x="915777" y="652455"/>
                    <a:pt x="897997" y="670235"/>
                  </a:cubicBezTo>
                  <a:cubicBezTo>
                    <a:pt x="881487" y="685475"/>
                    <a:pt x="862437" y="693095"/>
                    <a:pt x="842117" y="696905"/>
                  </a:cubicBezTo>
                  <a:cubicBezTo>
                    <a:pt x="823067" y="700715"/>
                    <a:pt x="811637" y="698175"/>
                    <a:pt x="782427" y="694365"/>
                  </a:cubicBezTo>
                  <a:cubicBezTo>
                    <a:pt x="699877" y="681665"/>
                    <a:pt x="403967" y="569905"/>
                    <a:pt x="322687" y="567365"/>
                  </a:cubicBezTo>
                  <a:cubicBezTo>
                    <a:pt x="294747" y="566095"/>
                    <a:pt x="283317" y="580065"/>
                    <a:pt x="264267" y="578795"/>
                  </a:cubicBezTo>
                  <a:cubicBezTo>
                    <a:pt x="245217" y="578795"/>
                    <a:pt x="223627" y="572445"/>
                    <a:pt x="205847" y="562285"/>
                  </a:cubicBezTo>
                  <a:cubicBezTo>
                    <a:pt x="189337" y="552125"/>
                    <a:pt x="172827" y="536885"/>
                    <a:pt x="162667" y="520375"/>
                  </a:cubicBezTo>
                  <a:cubicBezTo>
                    <a:pt x="152507" y="503865"/>
                    <a:pt x="146157" y="483545"/>
                    <a:pt x="143617" y="463225"/>
                  </a:cubicBezTo>
                  <a:cubicBezTo>
                    <a:pt x="142347" y="444175"/>
                    <a:pt x="146157" y="422585"/>
                    <a:pt x="153777" y="404805"/>
                  </a:cubicBezTo>
                  <a:cubicBezTo>
                    <a:pt x="161397" y="387025"/>
                    <a:pt x="172827" y="370515"/>
                    <a:pt x="190607" y="356545"/>
                  </a:cubicBezTo>
                  <a:cubicBezTo>
                    <a:pt x="216007" y="336225"/>
                    <a:pt x="257917" y="315905"/>
                    <a:pt x="301097" y="304475"/>
                  </a:cubicBezTo>
                  <a:cubicBezTo>
                    <a:pt x="355707" y="291775"/>
                    <a:pt x="412857" y="285425"/>
                    <a:pt x="490327" y="290505"/>
                  </a:cubicBezTo>
                  <a:cubicBezTo>
                    <a:pt x="619867" y="299395"/>
                    <a:pt x="913237" y="359085"/>
                    <a:pt x="999597" y="402265"/>
                  </a:cubicBezTo>
                  <a:cubicBezTo>
                    <a:pt x="1033887" y="420045"/>
                    <a:pt x="1051667" y="434015"/>
                    <a:pt x="1064367" y="456875"/>
                  </a:cubicBezTo>
                  <a:cubicBezTo>
                    <a:pt x="1077067" y="479735"/>
                    <a:pt x="1079607" y="515295"/>
                    <a:pt x="1075797" y="539425"/>
                  </a:cubicBezTo>
                  <a:cubicBezTo>
                    <a:pt x="1073257" y="558475"/>
                    <a:pt x="1063097" y="576255"/>
                    <a:pt x="1050397" y="590225"/>
                  </a:cubicBezTo>
                  <a:cubicBezTo>
                    <a:pt x="1038967" y="604195"/>
                    <a:pt x="1028807" y="613085"/>
                    <a:pt x="1004677" y="623245"/>
                  </a:cubicBezTo>
                  <a:cubicBezTo>
                    <a:pt x="955147" y="644835"/>
                    <a:pt x="834497" y="646105"/>
                    <a:pt x="746867" y="671505"/>
                  </a:cubicBezTo>
                  <a:cubicBezTo>
                    <a:pt x="649077" y="698175"/>
                    <a:pt x="543667" y="733735"/>
                    <a:pt x="444607" y="785805"/>
                  </a:cubicBezTo>
                  <a:cubicBezTo>
                    <a:pt x="336657" y="842955"/>
                    <a:pt x="176637" y="992815"/>
                    <a:pt x="128377" y="1009325"/>
                  </a:cubicBezTo>
                  <a:cubicBezTo>
                    <a:pt x="116947" y="1014405"/>
                    <a:pt x="113137" y="1013135"/>
                    <a:pt x="102977" y="1011865"/>
                  </a:cubicBezTo>
                  <a:cubicBezTo>
                    <a:pt x="85197" y="1008055"/>
                    <a:pt x="49637" y="996625"/>
                    <a:pt x="31857" y="980115"/>
                  </a:cubicBezTo>
                  <a:cubicBezTo>
                    <a:pt x="15347" y="963605"/>
                    <a:pt x="2647" y="934395"/>
                    <a:pt x="107" y="910265"/>
                  </a:cubicBezTo>
                  <a:cubicBezTo>
                    <a:pt x="-1163" y="886135"/>
                    <a:pt x="8997" y="855655"/>
                    <a:pt x="22967" y="836605"/>
                  </a:cubicBezTo>
                  <a:cubicBezTo>
                    <a:pt x="38207" y="817555"/>
                    <a:pt x="49637" y="811205"/>
                    <a:pt x="89007" y="795965"/>
                  </a:cubicBezTo>
                  <a:cubicBezTo>
                    <a:pt x="290937" y="719765"/>
                    <a:pt x="1651107" y="503865"/>
                    <a:pt x="2082907" y="444175"/>
                  </a:cubicBezTo>
                  <a:cubicBezTo>
                    <a:pt x="2289917" y="414965"/>
                    <a:pt x="2468987" y="387025"/>
                    <a:pt x="2545187" y="398455"/>
                  </a:cubicBezTo>
                  <a:cubicBezTo>
                    <a:pt x="2571857" y="402265"/>
                    <a:pt x="2582017" y="408615"/>
                    <a:pt x="2595987" y="420045"/>
                  </a:cubicBezTo>
                  <a:cubicBezTo>
                    <a:pt x="2611227" y="430205"/>
                    <a:pt x="2623927" y="446715"/>
                    <a:pt x="2631547" y="461955"/>
                  </a:cubicBezTo>
                  <a:cubicBezTo>
                    <a:pt x="2639167" y="478465"/>
                    <a:pt x="2644247" y="497515"/>
                    <a:pt x="2642977" y="516565"/>
                  </a:cubicBezTo>
                  <a:cubicBezTo>
                    <a:pt x="2640437" y="539425"/>
                    <a:pt x="2626467" y="573715"/>
                    <a:pt x="2611227" y="592765"/>
                  </a:cubicBezTo>
                  <a:cubicBezTo>
                    <a:pt x="2598527" y="606735"/>
                    <a:pt x="2580747" y="615625"/>
                    <a:pt x="2565507" y="621975"/>
                  </a:cubicBezTo>
                  <a:cubicBezTo>
                    <a:pt x="2550267" y="627055"/>
                    <a:pt x="2538837" y="627055"/>
                    <a:pt x="2519787" y="628325"/>
                  </a:cubicBezTo>
                  <a:cubicBezTo>
                    <a:pt x="2488037" y="630865"/>
                    <a:pt x="2439777" y="633405"/>
                    <a:pt x="2392787" y="627055"/>
                  </a:cubicBezTo>
                  <a:cubicBezTo>
                    <a:pt x="2329287" y="618165"/>
                    <a:pt x="2265787" y="582605"/>
                    <a:pt x="2178157" y="571175"/>
                  </a:cubicBezTo>
                  <a:cubicBezTo>
                    <a:pt x="2040997" y="555935"/>
                    <a:pt x="1817477" y="582605"/>
                    <a:pt x="1646027" y="580065"/>
                  </a:cubicBezTo>
                  <a:cubicBezTo>
                    <a:pt x="1484737" y="578795"/>
                    <a:pt x="1329797" y="563555"/>
                    <a:pt x="1177397" y="559745"/>
                  </a:cubicBezTo>
                  <a:cubicBezTo>
                    <a:pt x="1032617" y="557205"/>
                    <a:pt x="837037" y="585145"/>
                    <a:pt x="755757" y="561015"/>
                  </a:cubicBezTo>
                  <a:cubicBezTo>
                    <a:pt x="718927" y="550855"/>
                    <a:pt x="698607" y="534345"/>
                    <a:pt x="682097" y="515295"/>
                  </a:cubicBezTo>
                  <a:cubicBezTo>
                    <a:pt x="668127" y="498785"/>
                    <a:pt x="661777" y="479735"/>
                    <a:pt x="659237" y="460685"/>
                  </a:cubicBezTo>
                  <a:cubicBezTo>
                    <a:pt x="655427" y="441635"/>
                    <a:pt x="655427" y="421315"/>
                    <a:pt x="663047" y="402265"/>
                  </a:cubicBezTo>
                  <a:cubicBezTo>
                    <a:pt x="673207" y="378135"/>
                    <a:pt x="692257" y="351465"/>
                    <a:pt x="718927" y="333685"/>
                  </a:cubicBezTo>
                  <a:cubicBezTo>
                    <a:pt x="754487" y="310825"/>
                    <a:pt x="800207" y="300665"/>
                    <a:pt x="873867" y="294315"/>
                  </a:cubicBezTo>
                  <a:cubicBezTo>
                    <a:pt x="1050397" y="282885"/>
                    <a:pt x="1505057" y="376865"/>
                    <a:pt x="1786997" y="393375"/>
                  </a:cubicBezTo>
                  <a:cubicBezTo>
                    <a:pt x="2028297" y="408615"/>
                    <a:pt x="2354687" y="367975"/>
                    <a:pt x="2461367" y="402265"/>
                  </a:cubicBezTo>
                  <a:cubicBezTo>
                    <a:pt x="2500737" y="414965"/>
                    <a:pt x="2517247" y="428935"/>
                    <a:pt x="2532487" y="451795"/>
                  </a:cubicBezTo>
                  <a:cubicBezTo>
                    <a:pt x="2547727" y="473385"/>
                    <a:pt x="2556617" y="507675"/>
                    <a:pt x="2552807" y="534345"/>
                  </a:cubicBezTo>
                  <a:cubicBezTo>
                    <a:pt x="2550267" y="561015"/>
                    <a:pt x="2533757" y="592765"/>
                    <a:pt x="2513437" y="610545"/>
                  </a:cubicBezTo>
                  <a:cubicBezTo>
                    <a:pt x="2493117" y="628325"/>
                    <a:pt x="2433427" y="641025"/>
                    <a:pt x="2433427" y="641025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2011978" y="7116128"/>
            <a:ext cx="3164205" cy="780098"/>
            <a:chOff x="0" y="0"/>
            <a:chExt cx="4218940" cy="1040130"/>
          </a:xfrm>
        </p:grpSpPr>
        <p:sp>
          <p:nvSpPr>
            <p:cNvPr id="28" name="Freeform 28"/>
            <p:cNvSpPr/>
            <p:nvPr/>
          </p:nvSpPr>
          <p:spPr>
            <a:xfrm>
              <a:off x="47625" y="42787"/>
              <a:ext cx="4121338" cy="948469"/>
            </a:xfrm>
            <a:custGeom>
              <a:avLst/>
              <a:gdLst/>
              <a:ahLst/>
              <a:cxnLst/>
              <a:rect l="l" t="t" r="r" b="b"/>
              <a:pathLst>
                <a:path w="4121338" h="948469">
                  <a:moveTo>
                    <a:pt x="1561465" y="504583"/>
                  </a:moveTo>
                  <a:cubicBezTo>
                    <a:pt x="880745" y="470293"/>
                    <a:pt x="789305" y="452513"/>
                    <a:pt x="672465" y="444893"/>
                  </a:cubicBezTo>
                  <a:cubicBezTo>
                    <a:pt x="546735" y="436003"/>
                    <a:pt x="349885" y="463943"/>
                    <a:pt x="274955" y="434733"/>
                  </a:cubicBezTo>
                  <a:cubicBezTo>
                    <a:pt x="239395" y="420763"/>
                    <a:pt x="220345" y="399173"/>
                    <a:pt x="207645" y="375043"/>
                  </a:cubicBezTo>
                  <a:cubicBezTo>
                    <a:pt x="194945" y="349643"/>
                    <a:pt x="191135" y="312813"/>
                    <a:pt x="197485" y="286143"/>
                  </a:cubicBezTo>
                  <a:cubicBezTo>
                    <a:pt x="203835" y="258203"/>
                    <a:pt x="225425" y="227723"/>
                    <a:pt x="248285" y="211213"/>
                  </a:cubicBezTo>
                  <a:cubicBezTo>
                    <a:pt x="271145" y="195973"/>
                    <a:pt x="290195" y="193433"/>
                    <a:pt x="335915" y="190893"/>
                  </a:cubicBezTo>
                  <a:cubicBezTo>
                    <a:pt x="501015" y="178193"/>
                    <a:pt x="1128395" y="253123"/>
                    <a:pt x="1478915" y="295033"/>
                  </a:cubicBezTo>
                  <a:cubicBezTo>
                    <a:pt x="1779905" y="329323"/>
                    <a:pt x="2087245" y="375043"/>
                    <a:pt x="2315845" y="414413"/>
                  </a:cubicBezTo>
                  <a:cubicBezTo>
                    <a:pt x="2477135" y="441083"/>
                    <a:pt x="2610485" y="474103"/>
                    <a:pt x="2724785" y="493153"/>
                  </a:cubicBezTo>
                  <a:cubicBezTo>
                    <a:pt x="2806065" y="505853"/>
                    <a:pt x="2868295" y="514743"/>
                    <a:pt x="2936875" y="519823"/>
                  </a:cubicBezTo>
                  <a:cubicBezTo>
                    <a:pt x="2999105" y="524903"/>
                    <a:pt x="3075305" y="512203"/>
                    <a:pt x="3114675" y="523633"/>
                  </a:cubicBezTo>
                  <a:cubicBezTo>
                    <a:pt x="3137535" y="528713"/>
                    <a:pt x="3151505" y="536333"/>
                    <a:pt x="3164205" y="550303"/>
                  </a:cubicBezTo>
                  <a:cubicBezTo>
                    <a:pt x="3180715" y="568083"/>
                    <a:pt x="3199765" y="599833"/>
                    <a:pt x="3202305" y="625233"/>
                  </a:cubicBezTo>
                  <a:cubicBezTo>
                    <a:pt x="3204845" y="651903"/>
                    <a:pt x="3194685" y="686193"/>
                    <a:pt x="3179445" y="706513"/>
                  </a:cubicBezTo>
                  <a:cubicBezTo>
                    <a:pt x="3164205" y="728103"/>
                    <a:pt x="3141345" y="745883"/>
                    <a:pt x="3109595" y="752233"/>
                  </a:cubicBezTo>
                  <a:cubicBezTo>
                    <a:pt x="3060065" y="763663"/>
                    <a:pt x="2987675" y="731913"/>
                    <a:pt x="2905125" y="724293"/>
                  </a:cubicBezTo>
                  <a:cubicBezTo>
                    <a:pt x="2783205" y="712863"/>
                    <a:pt x="2638425" y="698893"/>
                    <a:pt x="2446655" y="700163"/>
                  </a:cubicBezTo>
                  <a:cubicBezTo>
                    <a:pt x="2126615" y="703973"/>
                    <a:pt x="1487805" y="766203"/>
                    <a:pt x="1160145" y="795413"/>
                  </a:cubicBezTo>
                  <a:cubicBezTo>
                    <a:pt x="958215" y="814463"/>
                    <a:pt x="837565" y="825893"/>
                    <a:pt x="671195" y="850023"/>
                  </a:cubicBezTo>
                  <a:cubicBezTo>
                    <a:pt x="493395" y="875423"/>
                    <a:pt x="221615" y="947813"/>
                    <a:pt x="122555" y="945273"/>
                  </a:cubicBezTo>
                  <a:cubicBezTo>
                    <a:pt x="86995" y="944003"/>
                    <a:pt x="69215" y="941463"/>
                    <a:pt x="48895" y="928763"/>
                  </a:cubicBezTo>
                  <a:cubicBezTo>
                    <a:pt x="29845" y="916063"/>
                    <a:pt x="12065" y="888123"/>
                    <a:pt x="4445" y="867803"/>
                  </a:cubicBezTo>
                  <a:cubicBezTo>
                    <a:pt x="-1905" y="851293"/>
                    <a:pt x="-635" y="833513"/>
                    <a:pt x="3175" y="817003"/>
                  </a:cubicBezTo>
                  <a:cubicBezTo>
                    <a:pt x="6985" y="800493"/>
                    <a:pt x="14605" y="783983"/>
                    <a:pt x="26035" y="771283"/>
                  </a:cubicBezTo>
                  <a:cubicBezTo>
                    <a:pt x="36195" y="758583"/>
                    <a:pt x="46355" y="749693"/>
                    <a:pt x="66675" y="740803"/>
                  </a:cubicBezTo>
                  <a:cubicBezTo>
                    <a:pt x="108585" y="724293"/>
                    <a:pt x="183515" y="733183"/>
                    <a:pt x="274955" y="717943"/>
                  </a:cubicBezTo>
                  <a:cubicBezTo>
                    <a:pt x="456565" y="684923"/>
                    <a:pt x="840105" y="589673"/>
                    <a:pt x="1078865" y="522363"/>
                  </a:cubicBezTo>
                  <a:cubicBezTo>
                    <a:pt x="1274445" y="467753"/>
                    <a:pt x="1454785" y="408063"/>
                    <a:pt x="1608455" y="352183"/>
                  </a:cubicBezTo>
                  <a:cubicBezTo>
                    <a:pt x="1730375" y="309003"/>
                    <a:pt x="1856105" y="245503"/>
                    <a:pt x="1933575" y="223913"/>
                  </a:cubicBezTo>
                  <a:cubicBezTo>
                    <a:pt x="1974215" y="211213"/>
                    <a:pt x="2000885" y="203593"/>
                    <a:pt x="2030095" y="206133"/>
                  </a:cubicBezTo>
                  <a:cubicBezTo>
                    <a:pt x="2056765" y="209943"/>
                    <a:pt x="2087245" y="221373"/>
                    <a:pt x="2105025" y="239153"/>
                  </a:cubicBezTo>
                  <a:cubicBezTo>
                    <a:pt x="2122805" y="256933"/>
                    <a:pt x="2138045" y="287413"/>
                    <a:pt x="2139315" y="312813"/>
                  </a:cubicBezTo>
                  <a:cubicBezTo>
                    <a:pt x="2140585" y="338213"/>
                    <a:pt x="2131695" y="371233"/>
                    <a:pt x="2116455" y="391553"/>
                  </a:cubicBezTo>
                  <a:cubicBezTo>
                    <a:pt x="2099945" y="411873"/>
                    <a:pt x="2075815" y="423303"/>
                    <a:pt x="2046605" y="434733"/>
                  </a:cubicBezTo>
                  <a:cubicBezTo>
                    <a:pt x="2003425" y="449973"/>
                    <a:pt x="1947545" y="443623"/>
                    <a:pt x="1876425" y="456323"/>
                  </a:cubicBezTo>
                  <a:cubicBezTo>
                    <a:pt x="1751965" y="476643"/>
                    <a:pt x="1555115" y="519823"/>
                    <a:pt x="1367155" y="561733"/>
                  </a:cubicBezTo>
                  <a:cubicBezTo>
                    <a:pt x="1130935" y="615073"/>
                    <a:pt x="785495" y="700163"/>
                    <a:pt x="572135" y="757313"/>
                  </a:cubicBezTo>
                  <a:cubicBezTo>
                    <a:pt x="428625" y="795413"/>
                    <a:pt x="296545" y="856373"/>
                    <a:pt x="212725" y="861453"/>
                  </a:cubicBezTo>
                  <a:cubicBezTo>
                    <a:pt x="168275" y="863993"/>
                    <a:pt x="136525" y="857643"/>
                    <a:pt x="109855" y="846213"/>
                  </a:cubicBezTo>
                  <a:cubicBezTo>
                    <a:pt x="92075" y="838593"/>
                    <a:pt x="78105" y="827163"/>
                    <a:pt x="67945" y="814463"/>
                  </a:cubicBezTo>
                  <a:cubicBezTo>
                    <a:pt x="56515" y="800493"/>
                    <a:pt x="47625" y="785253"/>
                    <a:pt x="45085" y="766203"/>
                  </a:cubicBezTo>
                  <a:cubicBezTo>
                    <a:pt x="41275" y="743343"/>
                    <a:pt x="45085" y="709053"/>
                    <a:pt x="57785" y="688733"/>
                  </a:cubicBezTo>
                  <a:cubicBezTo>
                    <a:pt x="70485" y="667143"/>
                    <a:pt x="98425" y="646823"/>
                    <a:pt x="118745" y="637933"/>
                  </a:cubicBezTo>
                  <a:cubicBezTo>
                    <a:pt x="136525" y="631583"/>
                    <a:pt x="147955" y="640473"/>
                    <a:pt x="172085" y="634123"/>
                  </a:cubicBezTo>
                  <a:cubicBezTo>
                    <a:pt x="233045" y="617613"/>
                    <a:pt x="389255" y="523633"/>
                    <a:pt x="484505" y="489343"/>
                  </a:cubicBezTo>
                  <a:cubicBezTo>
                    <a:pt x="558165" y="461403"/>
                    <a:pt x="620395" y="447433"/>
                    <a:pt x="686435" y="430923"/>
                  </a:cubicBezTo>
                  <a:cubicBezTo>
                    <a:pt x="749935" y="414413"/>
                    <a:pt x="798195" y="401713"/>
                    <a:pt x="874395" y="390283"/>
                  </a:cubicBezTo>
                  <a:cubicBezTo>
                    <a:pt x="989965" y="372503"/>
                    <a:pt x="1190625" y="353453"/>
                    <a:pt x="1313815" y="348373"/>
                  </a:cubicBezTo>
                  <a:cubicBezTo>
                    <a:pt x="1405255" y="345833"/>
                    <a:pt x="1462405" y="348373"/>
                    <a:pt x="1551305" y="353453"/>
                  </a:cubicBezTo>
                  <a:cubicBezTo>
                    <a:pt x="1665605" y="359803"/>
                    <a:pt x="1798955" y="372503"/>
                    <a:pt x="1942465" y="390283"/>
                  </a:cubicBezTo>
                  <a:cubicBezTo>
                    <a:pt x="2120265" y="413143"/>
                    <a:pt x="2392045" y="476643"/>
                    <a:pt x="2534285" y="482993"/>
                  </a:cubicBezTo>
                  <a:cubicBezTo>
                    <a:pt x="2613025" y="485533"/>
                    <a:pt x="2657475" y="479183"/>
                    <a:pt x="2719705" y="469023"/>
                  </a:cubicBezTo>
                  <a:cubicBezTo>
                    <a:pt x="2783205" y="458863"/>
                    <a:pt x="2845435" y="436003"/>
                    <a:pt x="2911475" y="423303"/>
                  </a:cubicBezTo>
                  <a:cubicBezTo>
                    <a:pt x="2983865" y="410603"/>
                    <a:pt x="3046095" y="409333"/>
                    <a:pt x="3134995" y="394093"/>
                  </a:cubicBezTo>
                  <a:cubicBezTo>
                    <a:pt x="3270885" y="372503"/>
                    <a:pt x="3561715" y="287413"/>
                    <a:pt x="3646805" y="296303"/>
                  </a:cubicBezTo>
                  <a:cubicBezTo>
                    <a:pt x="3674745" y="298843"/>
                    <a:pt x="3686175" y="306463"/>
                    <a:pt x="3702685" y="320433"/>
                  </a:cubicBezTo>
                  <a:cubicBezTo>
                    <a:pt x="3723005" y="338213"/>
                    <a:pt x="3745865" y="369963"/>
                    <a:pt x="3750945" y="397903"/>
                  </a:cubicBezTo>
                  <a:cubicBezTo>
                    <a:pt x="3757295" y="425843"/>
                    <a:pt x="3750945" y="463943"/>
                    <a:pt x="3736975" y="488073"/>
                  </a:cubicBezTo>
                  <a:cubicBezTo>
                    <a:pt x="3721735" y="513473"/>
                    <a:pt x="3701415" y="529983"/>
                    <a:pt x="3664585" y="546493"/>
                  </a:cubicBezTo>
                  <a:cubicBezTo>
                    <a:pt x="3594735" y="578243"/>
                    <a:pt x="3446145" y="594753"/>
                    <a:pt x="3317875" y="611263"/>
                  </a:cubicBezTo>
                  <a:cubicBezTo>
                    <a:pt x="3157855" y="631583"/>
                    <a:pt x="2978785" y="639203"/>
                    <a:pt x="2779395" y="648093"/>
                  </a:cubicBezTo>
                  <a:cubicBezTo>
                    <a:pt x="2531745" y="659523"/>
                    <a:pt x="2164715" y="677303"/>
                    <a:pt x="1945005" y="670953"/>
                  </a:cubicBezTo>
                  <a:cubicBezTo>
                    <a:pt x="1801495" y="667143"/>
                    <a:pt x="1682115" y="659523"/>
                    <a:pt x="1590675" y="643013"/>
                  </a:cubicBezTo>
                  <a:cubicBezTo>
                    <a:pt x="1529715" y="631583"/>
                    <a:pt x="1487805" y="618883"/>
                    <a:pt x="1443355" y="598563"/>
                  </a:cubicBezTo>
                  <a:cubicBezTo>
                    <a:pt x="1402715" y="579513"/>
                    <a:pt x="1348105" y="563003"/>
                    <a:pt x="1331595" y="524903"/>
                  </a:cubicBezTo>
                  <a:cubicBezTo>
                    <a:pt x="1310005" y="477913"/>
                    <a:pt x="1329055" y="369963"/>
                    <a:pt x="1360805" y="321703"/>
                  </a:cubicBezTo>
                  <a:cubicBezTo>
                    <a:pt x="1388745" y="277253"/>
                    <a:pt x="1440815" y="262013"/>
                    <a:pt x="1495425" y="234073"/>
                  </a:cubicBezTo>
                  <a:cubicBezTo>
                    <a:pt x="1574165" y="194703"/>
                    <a:pt x="1683385" y="148983"/>
                    <a:pt x="1793875" y="119773"/>
                  </a:cubicBezTo>
                  <a:cubicBezTo>
                    <a:pt x="1923415" y="85483"/>
                    <a:pt x="2080895" y="55003"/>
                    <a:pt x="2228215" y="55003"/>
                  </a:cubicBezTo>
                  <a:cubicBezTo>
                    <a:pt x="2380615" y="55003"/>
                    <a:pt x="2571115" y="112153"/>
                    <a:pt x="2690495" y="123583"/>
                  </a:cubicBezTo>
                  <a:cubicBezTo>
                    <a:pt x="2765425" y="131203"/>
                    <a:pt x="2820035" y="124853"/>
                    <a:pt x="2873375" y="132473"/>
                  </a:cubicBezTo>
                  <a:cubicBezTo>
                    <a:pt x="2914015" y="138823"/>
                    <a:pt x="2953385" y="146443"/>
                    <a:pt x="2982595" y="157873"/>
                  </a:cubicBezTo>
                  <a:cubicBezTo>
                    <a:pt x="3004185" y="168033"/>
                    <a:pt x="3021965" y="176923"/>
                    <a:pt x="3035935" y="192163"/>
                  </a:cubicBezTo>
                  <a:cubicBezTo>
                    <a:pt x="3049905" y="207403"/>
                    <a:pt x="3062605" y="227723"/>
                    <a:pt x="3067685" y="248043"/>
                  </a:cubicBezTo>
                  <a:cubicBezTo>
                    <a:pt x="3074035" y="268363"/>
                    <a:pt x="3075305" y="291223"/>
                    <a:pt x="3070225" y="311543"/>
                  </a:cubicBezTo>
                  <a:cubicBezTo>
                    <a:pt x="3066415" y="331863"/>
                    <a:pt x="3056255" y="353453"/>
                    <a:pt x="3043555" y="369963"/>
                  </a:cubicBezTo>
                  <a:cubicBezTo>
                    <a:pt x="3029585" y="385203"/>
                    <a:pt x="3013075" y="400443"/>
                    <a:pt x="2991485" y="408063"/>
                  </a:cubicBezTo>
                  <a:cubicBezTo>
                    <a:pt x="2966085" y="416953"/>
                    <a:pt x="2936875" y="406793"/>
                    <a:pt x="2897505" y="411873"/>
                  </a:cubicBezTo>
                  <a:cubicBezTo>
                    <a:pt x="2831465" y="420763"/>
                    <a:pt x="2732405" y="458863"/>
                    <a:pt x="2632075" y="475373"/>
                  </a:cubicBezTo>
                  <a:cubicBezTo>
                    <a:pt x="2506345" y="494423"/>
                    <a:pt x="2341245" y="503313"/>
                    <a:pt x="2202815" y="508393"/>
                  </a:cubicBezTo>
                  <a:cubicBezTo>
                    <a:pt x="2072005" y="512203"/>
                    <a:pt x="1899285" y="517283"/>
                    <a:pt x="1823085" y="502043"/>
                  </a:cubicBezTo>
                  <a:cubicBezTo>
                    <a:pt x="1790065" y="495693"/>
                    <a:pt x="1772285" y="490613"/>
                    <a:pt x="1753235" y="474103"/>
                  </a:cubicBezTo>
                  <a:cubicBezTo>
                    <a:pt x="1731645" y="456323"/>
                    <a:pt x="1712595" y="420763"/>
                    <a:pt x="1706245" y="395363"/>
                  </a:cubicBezTo>
                  <a:cubicBezTo>
                    <a:pt x="1701165" y="373773"/>
                    <a:pt x="1704975" y="352183"/>
                    <a:pt x="1711325" y="333133"/>
                  </a:cubicBezTo>
                  <a:cubicBezTo>
                    <a:pt x="1717675" y="314083"/>
                    <a:pt x="1730375" y="293763"/>
                    <a:pt x="1744345" y="279793"/>
                  </a:cubicBezTo>
                  <a:cubicBezTo>
                    <a:pt x="1759585" y="265823"/>
                    <a:pt x="1772285" y="256933"/>
                    <a:pt x="1797685" y="249313"/>
                  </a:cubicBezTo>
                  <a:cubicBezTo>
                    <a:pt x="1847215" y="235343"/>
                    <a:pt x="1933575" y="250583"/>
                    <a:pt x="2027555" y="241693"/>
                  </a:cubicBezTo>
                  <a:cubicBezTo>
                    <a:pt x="2177415" y="226453"/>
                    <a:pt x="2437765" y="162953"/>
                    <a:pt x="2610485" y="143903"/>
                  </a:cubicBezTo>
                  <a:cubicBezTo>
                    <a:pt x="2747645" y="127393"/>
                    <a:pt x="2879725" y="131203"/>
                    <a:pt x="2981325" y="121043"/>
                  </a:cubicBezTo>
                  <a:cubicBezTo>
                    <a:pt x="3051175" y="113423"/>
                    <a:pt x="3101975" y="108343"/>
                    <a:pt x="3159125" y="96913"/>
                  </a:cubicBezTo>
                  <a:cubicBezTo>
                    <a:pt x="3216275" y="85483"/>
                    <a:pt x="3258185" y="65163"/>
                    <a:pt x="3322955" y="51193"/>
                  </a:cubicBezTo>
                  <a:cubicBezTo>
                    <a:pt x="3414395" y="33413"/>
                    <a:pt x="3565525" y="11823"/>
                    <a:pt x="3662045" y="8013"/>
                  </a:cubicBezTo>
                  <a:cubicBezTo>
                    <a:pt x="3733165" y="4203"/>
                    <a:pt x="3818255" y="-11037"/>
                    <a:pt x="3848735" y="14363"/>
                  </a:cubicBezTo>
                  <a:cubicBezTo>
                    <a:pt x="3870325" y="32143"/>
                    <a:pt x="3851275" y="95643"/>
                    <a:pt x="3866515" y="101993"/>
                  </a:cubicBezTo>
                  <a:cubicBezTo>
                    <a:pt x="3880485" y="107073"/>
                    <a:pt x="3909695" y="56273"/>
                    <a:pt x="3936365" y="47383"/>
                  </a:cubicBezTo>
                  <a:cubicBezTo>
                    <a:pt x="3963035" y="37223"/>
                    <a:pt x="4001135" y="41033"/>
                    <a:pt x="4023995" y="46113"/>
                  </a:cubicBezTo>
                  <a:cubicBezTo>
                    <a:pt x="4040505" y="49923"/>
                    <a:pt x="4051935" y="55003"/>
                    <a:pt x="4064635" y="66433"/>
                  </a:cubicBezTo>
                  <a:cubicBezTo>
                    <a:pt x="4082415" y="81673"/>
                    <a:pt x="4107815" y="112153"/>
                    <a:pt x="4115435" y="138823"/>
                  </a:cubicBezTo>
                  <a:cubicBezTo>
                    <a:pt x="4123055" y="165493"/>
                    <a:pt x="4121785" y="201053"/>
                    <a:pt x="4111625" y="227723"/>
                  </a:cubicBezTo>
                  <a:cubicBezTo>
                    <a:pt x="4101465" y="253123"/>
                    <a:pt x="4073525" y="281063"/>
                    <a:pt x="4054475" y="295033"/>
                  </a:cubicBezTo>
                  <a:cubicBezTo>
                    <a:pt x="4041775" y="305193"/>
                    <a:pt x="4027805" y="309003"/>
                    <a:pt x="4013835" y="312813"/>
                  </a:cubicBezTo>
                  <a:cubicBezTo>
                    <a:pt x="3998595" y="315353"/>
                    <a:pt x="3985895" y="317893"/>
                    <a:pt x="3969385" y="315353"/>
                  </a:cubicBezTo>
                  <a:cubicBezTo>
                    <a:pt x="3945255" y="311543"/>
                    <a:pt x="3908425" y="298843"/>
                    <a:pt x="3888105" y="279793"/>
                  </a:cubicBezTo>
                  <a:cubicBezTo>
                    <a:pt x="3867785" y="260743"/>
                    <a:pt x="3850005" y="228993"/>
                    <a:pt x="3846195" y="202323"/>
                  </a:cubicBezTo>
                  <a:cubicBezTo>
                    <a:pt x="3841115" y="174383"/>
                    <a:pt x="3850005" y="136283"/>
                    <a:pt x="3858895" y="114693"/>
                  </a:cubicBezTo>
                  <a:cubicBezTo>
                    <a:pt x="3865245" y="98183"/>
                    <a:pt x="3872865" y="89293"/>
                    <a:pt x="3885565" y="77863"/>
                  </a:cubicBezTo>
                  <a:cubicBezTo>
                    <a:pt x="3903345" y="62623"/>
                    <a:pt x="3941445" y="44843"/>
                    <a:pt x="3965575" y="39763"/>
                  </a:cubicBezTo>
                  <a:cubicBezTo>
                    <a:pt x="3982085" y="37223"/>
                    <a:pt x="3993515" y="37223"/>
                    <a:pt x="4010025" y="42303"/>
                  </a:cubicBezTo>
                  <a:cubicBezTo>
                    <a:pt x="4032885" y="48653"/>
                    <a:pt x="4068445" y="65163"/>
                    <a:pt x="4086225" y="86753"/>
                  </a:cubicBezTo>
                  <a:cubicBezTo>
                    <a:pt x="4105275" y="108343"/>
                    <a:pt x="4116705" y="145173"/>
                    <a:pt x="4120515" y="168033"/>
                  </a:cubicBezTo>
                  <a:cubicBezTo>
                    <a:pt x="4123055" y="185813"/>
                    <a:pt x="4119245" y="198513"/>
                    <a:pt x="4115435" y="212483"/>
                  </a:cubicBezTo>
                  <a:cubicBezTo>
                    <a:pt x="4111625" y="227723"/>
                    <a:pt x="4111625" y="241693"/>
                    <a:pt x="4097655" y="254393"/>
                  </a:cubicBezTo>
                  <a:cubicBezTo>
                    <a:pt x="4069715" y="278523"/>
                    <a:pt x="3975735" y="303923"/>
                    <a:pt x="3919855" y="306463"/>
                  </a:cubicBezTo>
                  <a:cubicBezTo>
                    <a:pt x="3870325" y="307733"/>
                    <a:pt x="3833495" y="279793"/>
                    <a:pt x="3777615" y="275983"/>
                  </a:cubicBezTo>
                  <a:cubicBezTo>
                    <a:pt x="3697605" y="269633"/>
                    <a:pt x="3588385" y="277253"/>
                    <a:pt x="3481705" y="291223"/>
                  </a:cubicBezTo>
                  <a:cubicBezTo>
                    <a:pt x="3358515" y="307733"/>
                    <a:pt x="3207385" y="359803"/>
                    <a:pt x="3079115" y="375043"/>
                  </a:cubicBezTo>
                  <a:cubicBezTo>
                    <a:pt x="2966085" y="389013"/>
                    <a:pt x="2853055" y="381393"/>
                    <a:pt x="2756535" y="389013"/>
                  </a:cubicBezTo>
                  <a:cubicBezTo>
                    <a:pt x="2677795" y="395363"/>
                    <a:pt x="2628265" y="402983"/>
                    <a:pt x="2540635" y="415683"/>
                  </a:cubicBezTo>
                  <a:cubicBezTo>
                    <a:pt x="2406015" y="434733"/>
                    <a:pt x="2163445" y="491883"/>
                    <a:pt x="2027555" y="503313"/>
                  </a:cubicBezTo>
                  <a:cubicBezTo>
                    <a:pt x="1939925" y="509663"/>
                    <a:pt x="1857375" y="512203"/>
                    <a:pt x="1809115" y="500773"/>
                  </a:cubicBezTo>
                  <a:cubicBezTo>
                    <a:pt x="1783715" y="494423"/>
                    <a:pt x="1768475" y="489343"/>
                    <a:pt x="1753235" y="474103"/>
                  </a:cubicBezTo>
                  <a:cubicBezTo>
                    <a:pt x="1732915" y="456323"/>
                    <a:pt x="1711325" y="423303"/>
                    <a:pt x="1706245" y="395363"/>
                  </a:cubicBezTo>
                  <a:cubicBezTo>
                    <a:pt x="1702435" y="366153"/>
                    <a:pt x="1710055" y="329323"/>
                    <a:pt x="1725295" y="305193"/>
                  </a:cubicBezTo>
                  <a:cubicBezTo>
                    <a:pt x="1740535" y="279793"/>
                    <a:pt x="1760855" y="260743"/>
                    <a:pt x="1797685" y="249313"/>
                  </a:cubicBezTo>
                  <a:cubicBezTo>
                    <a:pt x="1875155" y="223913"/>
                    <a:pt x="2059305" y="260743"/>
                    <a:pt x="2191385" y="256933"/>
                  </a:cubicBezTo>
                  <a:cubicBezTo>
                    <a:pt x="2326005" y="253123"/>
                    <a:pt x="2463165" y="240423"/>
                    <a:pt x="2596515" y="223913"/>
                  </a:cubicBezTo>
                  <a:cubicBezTo>
                    <a:pt x="2727325" y="207403"/>
                    <a:pt x="2912745" y="143903"/>
                    <a:pt x="2982595" y="157873"/>
                  </a:cubicBezTo>
                  <a:cubicBezTo>
                    <a:pt x="3009265" y="164223"/>
                    <a:pt x="3021965" y="175653"/>
                    <a:pt x="3035935" y="192163"/>
                  </a:cubicBezTo>
                  <a:cubicBezTo>
                    <a:pt x="3053715" y="213753"/>
                    <a:pt x="3071495" y="250583"/>
                    <a:pt x="3072765" y="279793"/>
                  </a:cubicBezTo>
                  <a:cubicBezTo>
                    <a:pt x="3074035" y="309003"/>
                    <a:pt x="3061335" y="347103"/>
                    <a:pt x="3043555" y="369963"/>
                  </a:cubicBezTo>
                  <a:cubicBezTo>
                    <a:pt x="3024505" y="392823"/>
                    <a:pt x="2999105" y="409333"/>
                    <a:pt x="2961005" y="416953"/>
                  </a:cubicBezTo>
                  <a:cubicBezTo>
                    <a:pt x="2892425" y="430923"/>
                    <a:pt x="2755265" y="395363"/>
                    <a:pt x="2651125" y="378853"/>
                  </a:cubicBezTo>
                  <a:cubicBezTo>
                    <a:pt x="2545715" y="362343"/>
                    <a:pt x="2425065" y="328053"/>
                    <a:pt x="2332355" y="315353"/>
                  </a:cubicBezTo>
                  <a:cubicBezTo>
                    <a:pt x="2262505" y="306463"/>
                    <a:pt x="2214245" y="298843"/>
                    <a:pt x="2145665" y="302653"/>
                  </a:cubicBezTo>
                  <a:cubicBezTo>
                    <a:pt x="2061845" y="307733"/>
                    <a:pt x="1942465" y="338213"/>
                    <a:pt x="1870075" y="357263"/>
                  </a:cubicBezTo>
                  <a:cubicBezTo>
                    <a:pt x="1820545" y="369963"/>
                    <a:pt x="1793875" y="377583"/>
                    <a:pt x="1749425" y="395363"/>
                  </a:cubicBezTo>
                  <a:cubicBezTo>
                    <a:pt x="1687195" y="420763"/>
                    <a:pt x="1581785" y="514743"/>
                    <a:pt x="1538605" y="496963"/>
                  </a:cubicBezTo>
                  <a:cubicBezTo>
                    <a:pt x="1505585" y="484263"/>
                    <a:pt x="1475105" y="372503"/>
                    <a:pt x="1490345" y="358533"/>
                  </a:cubicBezTo>
                  <a:cubicBezTo>
                    <a:pt x="1504315" y="345833"/>
                    <a:pt x="1574165" y="397903"/>
                    <a:pt x="1617345" y="410603"/>
                  </a:cubicBezTo>
                  <a:cubicBezTo>
                    <a:pt x="1661795" y="424573"/>
                    <a:pt x="1697355" y="430923"/>
                    <a:pt x="1753235" y="437273"/>
                  </a:cubicBezTo>
                  <a:cubicBezTo>
                    <a:pt x="1842135" y="448703"/>
                    <a:pt x="1966595" y="456323"/>
                    <a:pt x="2099945" y="456323"/>
                  </a:cubicBezTo>
                  <a:cubicBezTo>
                    <a:pt x="2285365" y="456323"/>
                    <a:pt x="2554605" y="437273"/>
                    <a:pt x="2761615" y="422033"/>
                  </a:cubicBezTo>
                  <a:cubicBezTo>
                    <a:pt x="2944495" y="409333"/>
                    <a:pt x="3123565" y="397903"/>
                    <a:pt x="3281045" y="373773"/>
                  </a:cubicBezTo>
                  <a:cubicBezTo>
                    <a:pt x="3414395" y="353453"/>
                    <a:pt x="3570605" y="283603"/>
                    <a:pt x="3646805" y="296303"/>
                  </a:cubicBezTo>
                  <a:cubicBezTo>
                    <a:pt x="3683635" y="302653"/>
                    <a:pt x="3707765" y="322973"/>
                    <a:pt x="3725545" y="342023"/>
                  </a:cubicBezTo>
                  <a:cubicBezTo>
                    <a:pt x="3739515" y="358533"/>
                    <a:pt x="3748405" y="377583"/>
                    <a:pt x="3750945" y="397903"/>
                  </a:cubicBezTo>
                  <a:cubicBezTo>
                    <a:pt x="3754755" y="424573"/>
                    <a:pt x="3748405" y="465213"/>
                    <a:pt x="3736975" y="488073"/>
                  </a:cubicBezTo>
                  <a:cubicBezTo>
                    <a:pt x="3726815" y="508393"/>
                    <a:pt x="3719195" y="518553"/>
                    <a:pt x="3693795" y="532523"/>
                  </a:cubicBezTo>
                  <a:cubicBezTo>
                    <a:pt x="3618865" y="574433"/>
                    <a:pt x="3357245" y="608723"/>
                    <a:pt x="3184525" y="639203"/>
                  </a:cubicBezTo>
                  <a:cubicBezTo>
                    <a:pt x="3007995" y="670953"/>
                    <a:pt x="2800985" y="714133"/>
                    <a:pt x="2646045" y="717943"/>
                  </a:cubicBezTo>
                  <a:cubicBezTo>
                    <a:pt x="2529205" y="721753"/>
                    <a:pt x="2464435" y="705243"/>
                    <a:pt x="2337435" y="690003"/>
                  </a:cubicBezTo>
                  <a:cubicBezTo>
                    <a:pt x="2134235" y="664603"/>
                    <a:pt x="1771015" y="580783"/>
                    <a:pt x="1548765" y="565543"/>
                  </a:cubicBezTo>
                  <a:cubicBezTo>
                    <a:pt x="1387475" y="555383"/>
                    <a:pt x="1265555" y="563003"/>
                    <a:pt x="1129665" y="575703"/>
                  </a:cubicBezTo>
                  <a:cubicBezTo>
                    <a:pt x="998855" y="588403"/>
                    <a:pt x="882015" y="608723"/>
                    <a:pt x="747395" y="640473"/>
                  </a:cubicBezTo>
                  <a:cubicBezTo>
                    <a:pt x="593725" y="676033"/>
                    <a:pt x="366395" y="742073"/>
                    <a:pt x="259715" y="786523"/>
                  </a:cubicBezTo>
                  <a:cubicBezTo>
                    <a:pt x="203835" y="810653"/>
                    <a:pt x="168275" y="852563"/>
                    <a:pt x="136525" y="853833"/>
                  </a:cubicBezTo>
                  <a:cubicBezTo>
                    <a:pt x="116205" y="855103"/>
                    <a:pt x="100965" y="843673"/>
                    <a:pt x="86995" y="833513"/>
                  </a:cubicBezTo>
                  <a:cubicBezTo>
                    <a:pt x="73025" y="822083"/>
                    <a:pt x="60325" y="806843"/>
                    <a:pt x="53975" y="791603"/>
                  </a:cubicBezTo>
                  <a:cubicBezTo>
                    <a:pt x="46355" y="776363"/>
                    <a:pt x="42545" y="757313"/>
                    <a:pt x="42545" y="739533"/>
                  </a:cubicBezTo>
                  <a:cubicBezTo>
                    <a:pt x="43815" y="721753"/>
                    <a:pt x="47625" y="703973"/>
                    <a:pt x="57785" y="688733"/>
                  </a:cubicBezTo>
                  <a:cubicBezTo>
                    <a:pt x="70485" y="669683"/>
                    <a:pt x="98425" y="646823"/>
                    <a:pt x="118745" y="637933"/>
                  </a:cubicBezTo>
                  <a:cubicBezTo>
                    <a:pt x="136525" y="631583"/>
                    <a:pt x="165735" y="629043"/>
                    <a:pt x="172085" y="634123"/>
                  </a:cubicBezTo>
                  <a:cubicBezTo>
                    <a:pt x="174625" y="636663"/>
                    <a:pt x="169545" y="644283"/>
                    <a:pt x="173355" y="646823"/>
                  </a:cubicBezTo>
                  <a:cubicBezTo>
                    <a:pt x="184785" y="655713"/>
                    <a:pt x="249555" y="634123"/>
                    <a:pt x="320675" y="617613"/>
                  </a:cubicBezTo>
                  <a:cubicBezTo>
                    <a:pt x="504825" y="574433"/>
                    <a:pt x="1039495" y="416953"/>
                    <a:pt x="1320165" y="347103"/>
                  </a:cubicBezTo>
                  <a:cubicBezTo>
                    <a:pt x="1522095" y="296303"/>
                    <a:pt x="1712595" y="249313"/>
                    <a:pt x="1843405" y="227723"/>
                  </a:cubicBezTo>
                  <a:cubicBezTo>
                    <a:pt x="1920875" y="213753"/>
                    <a:pt x="1983105" y="199783"/>
                    <a:pt x="2030095" y="206133"/>
                  </a:cubicBezTo>
                  <a:cubicBezTo>
                    <a:pt x="2061845" y="211213"/>
                    <a:pt x="2087245" y="223913"/>
                    <a:pt x="2105025" y="239153"/>
                  </a:cubicBezTo>
                  <a:cubicBezTo>
                    <a:pt x="2118995" y="251853"/>
                    <a:pt x="2129155" y="267093"/>
                    <a:pt x="2134235" y="286143"/>
                  </a:cubicBezTo>
                  <a:cubicBezTo>
                    <a:pt x="2139315" y="309003"/>
                    <a:pt x="2140585" y="344563"/>
                    <a:pt x="2130425" y="367423"/>
                  </a:cubicBezTo>
                  <a:cubicBezTo>
                    <a:pt x="2120265" y="390283"/>
                    <a:pt x="2107565" y="404253"/>
                    <a:pt x="2073275" y="425843"/>
                  </a:cubicBezTo>
                  <a:cubicBezTo>
                    <a:pt x="1951355" y="500773"/>
                    <a:pt x="1433195" y="634123"/>
                    <a:pt x="1125855" y="720483"/>
                  </a:cubicBezTo>
                  <a:cubicBezTo>
                    <a:pt x="841375" y="800493"/>
                    <a:pt x="475615" y="903363"/>
                    <a:pt x="294005" y="932573"/>
                  </a:cubicBezTo>
                  <a:cubicBezTo>
                    <a:pt x="206375" y="946543"/>
                    <a:pt x="140335" y="951623"/>
                    <a:pt x="97155" y="946543"/>
                  </a:cubicBezTo>
                  <a:cubicBezTo>
                    <a:pt x="75565" y="942733"/>
                    <a:pt x="62865" y="937653"/>
                    <a:pt x="48895" y="928763"/>
                  </a:cubicBezTo>
                  <a:cubicBezTo>
                    <a:pt x="34925" y="919873"/>
                    <a:pt x="22225" y="908443"/>
                    <a:pt x="14605" y="891933"/>
                  </a:cubicBezTo>
                  <a:cubicBezTo>
                    <a:pt x="4445" y="872883"/>
                    <a:pt x="-635" y="838593"/>
                    <a:pt x="3175" y="817003"/>
                  </a:cubicBezTo>
                  <a:cubicBezTo>
                    <a:pt x="5715" y="799223"/>
                    <a:pt x="13335" y="783983"/>
                    <a:pt x="26035" y="771283"/>
                  </a:cubicBezTo>
                  <a:cubicBezTo>
                    <a:pt x="40005" y="756043"/>
                    <a:pt x="53975" y="747153"/>
                    <a:pt x="92075" y="734453"/>
                  </a:cubicBezTo>
                  <a:cubicBezTo>
                    <a:pt x="230505" y="687463"/>
                    <a:pt x="771525" y="630313"/>
                    <a:pt x="1142365" y="588403"/>
                  </a:cubicBezTo>
                  <a:cubicBezTo>
                    <a:pt x="1555115" y="541413"/>
                    <a:pt x="2124075" y="485533"/>
                    <a:pt x="2455545" y="476643"/>
                  </a:cubicBezTo>
                  <a:cubicBezTo>
                    <a:pt x="2657475" y="470293"/>
                    <a:pt x="2817495" y="474103"/>
                    <a:pt x="2943225" y="489343"/>
                  </a:cubicBezTo>
                  <a:cubicBezTo>
                    <a:pt x="3024505" y="499503"/>
                    <a:pt x="3101975" y="512203"/>
                    <a:pt x="3141345" y="533793"/>
                  </a:cubicBezTo>
                  <a:cubicBezTo>
                    <a:pt x="3162935" y="545223"/>
                    <a:pt x="3173095" y="555383"/>
                    <a:pt x="3183255" y="571893"/>
                  </a:cubicBezTo>
                  <a:cubicBezTo>
                    <a:pt x="3194685" y="593483"/>
                    <a:pt x="3203575" y="630313"/>
                    <a:pt x="3201035" y="654443"/>
                  </a:cubicBezTo>
                  <a:cubicBezTo>
                    <a:pt x="3199765" y="673493"/>
                    <a:pt x="3192145" y="691273"/>
                    <a:pt x="3179445" y="706513"/>
                  </a:cubicBezTo>
                  <a:cubicBezTo>
                    <a:pt x="3164205" y="725563"/>
                    <a:pt x="3138805" y="744613"/>
                    <a:pt x="3109595" y="752233"/>
                  </a:cubicBezTo>
                  <a:cubicBezTo>
                    <a:pt x="3070225" y="763663"/>
                    <a:pt x="3027045" y="757313"/>
                    <a:pt x="2959735" y="750963"/>
                  </a:cubicBezTo>
                  <a:cubicBezTo>
                    <a:pt x="2816225" y="735723"/>
                    <a:pt x="2525395" y="664603"/>
                    <a:pt x="2289175" y="626503"/>
                  </a:cubicBezTo>
                  <a:cubicBezTo>
                    <a:pt x="2027555" y="583323"/>
                    <a:pt x="1762125" y="538873"/>
                    <a:pt x="1459865" y="508393"/>
                  </a:cubicBezTo>
                  <a:cubicBezTo>
                    <a:pt x="1101725" y="471563"/>
                    <a:pt x="423545" y="496963"/>
                    <a:pt x="274955" y="434733"/>
                  </a:cubicBezTo>
                  <a:cubicBezTo>
                    <a:pt x="234315" y="418223"/>
                    <a:pt x="220345" y="399173"/>
                    <a:pt x="207645" y="375043"/>
                  </a:cubicBezTo>
                  <a:cubicBezTo>
                    <a:pt x="194945" y="349643"/>
                    <a:pt x="192405" y="311543"/>
                    <a:pt x="197485" y="286143"/>
                  </a:cubicBezTo>
                  <a:cubicBezTo>
                    <a:pt x="201295" y="264553"/>
                    <a:pt x="210185" y="246773"/>
                    <a:pt x="225425" y="231533"/>
                  </a:cubicBezTo>
                  <a:cubicBezTo>
                    <a:pt x="244475" y="213753"/>
                    <a:pt x="262255" y="199783"/>
                    <a:pt x="305435" y="190893"/>
                  </a:cubicBezTo>
                  <a:cubicBezTo>
                    <a:pt x="452755" y="159143"/>
                    <a:pt x="1109345" y="254393"/>
                    <a:pt x="1337945" y="260743"/>
                  </a:cubicBezTo>
                  <a:cubicBezTo>
                    <a:pt x="1450975" y="264553"/>
                    <a:pt x="1534795" y="241693"/>
                    <a:pt x="1591945" y="259473"/>
                  </a:cubicBezTo>
                  <a:cubicBezTo>
                    <a:pt x="1624965" y="269633"/>
                    <a:pt x="1649095" y="286143"/>
                    <a:pt x="1664335" y="309003"/>
                  </a:cubicBezTo>
                  <a:cubicBezTo>
                    <a:pt x="1679575" y="331863"/>
                    <a:pt x="1688465" y="367423"/>
                    <a:pt x="1685925" y="395363"/>
                  </a:cubicBezTo>
                  <a:cubicBezTo>
                    <a:pt x="1682115" y="422033"/>
                    <a:pt x="1665605" y="455053"/>
                    <a:pt x="1644015" y="472833"/>
                  </a:cubicBezTo>
                  <a:cubicBezTo>
                    <a:pt x="1623695" y="491883"/>
                    <a:pt x="1561465" y="504583"/>
                    <a:pt x="1561465" y="50458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1374446" y="8752521"/>
            <a:ext cx="16136420" cy="505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SỬ DỤNG SCD TYPE 2 &amp; TYPE 6 (StartDate, EndDate, IsCurrent) để theo dõi lịch sử nâng hạng VIPLevel của người chơi</a:t>
            </a:r>
            <a:r>
              <a:rPr lang="en-US" sz="2962" b="1" spc="7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699775" y="541284"/>
            <a:ext cx="3127612" cy="1389528"/>
            <a:chOff x="0" y="0"/>
            <a:chExt cx="4170149" cy="185270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170149" cy="1852704"/>
              <a:chOff x="0" y="0"/>
              <a:chExt cx="1441635" cy="64048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37475" y="653704"/>
              <a:ext cx="3894798" cy="6775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8"/>
                </a:lnSpc>
              </a:pPr>
              <a:r>
                <a:rPr lang="en-US" sz="37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SURROGATE KEY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532084" y="541284"/>
            <a:ext cx="3127612" cy="1389528"/>
            <a:chOff x="0" y="0"/>
            <a:chExt cx="4170149" cy="1852704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4170149" cy="1852704"/>
              <a:chOff x="0" y="0"/>
              <a:chExt cx="1441635" cy="64048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79211" y="0"/>
                    </a:moveTo>
                    <a:lnTo>
                      <a:pt x="1362424" y="0"/>
                    </a:lnTo>
                    <a:cubicBezTo>
                      <a:pt x="1406171" y="0"/>
                      <a:pt x="1441635" y="35464"/>
                      <a:pt x="1441635" y="79211"/>
                    </a:cubicBezTo>
                    <a:lnTo>
                      <a:pt x="1441635" y="561275"/>
                    </a:lnTo>
                    <a:cubicBezTo>
                      <a:pt x="1441635" y="605022"/>
                      <a:pt x="1406171" y="640486"/>
                      <a:pt x="1362424" y="640486"/>
                    </a:cubicBezTo>
                    <a:lnTo>
                      <a:pt x="79211" y="640486"/>
                    </a:lnTo>
                    <a:cubicBezTo>
                      <a:pt x="35464" y="640486"/>
                      <a:pt x="0" y="605022"/>
                      <a:pt x="0" y="561275"/>
                    </a:cubicBezTo>
                    <a:lnTo>
                      <a:pt x="0" y="79211"/>
                    </a:lnTo>
                    <a:cubicBezTo>
                      <a:pt x="0" y="35464"/>
                      <a:pt x="35464" y="0"/>
                      <a:pt x="79211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43267" y="656259"/>
              <a:ext cx="3483615" cy="6775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8"/>
                </a:lnSpc>
              </a:pPr>
              <a:r>
                <a:rPr lang="en-US" sz="37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ALTERNATE KEY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4" name="Freeform 14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6" name="Freeform 16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607504" y="2356227"/>
            <a:ext cx="7816263" cy="5154377"/>
          </a:xfrm>
          <a:custGeom>
            <a:avLst/>
            <a:gdLst/>
            <a:ahLst/>
            <a:cxnLst/>
            <a:rect l="l" t="t" r="r" b="b"/>
            <a:pathLst>
              <a:path w="7816263" h="5154377">
                <a:moveTo>
                  <a:pt x="0" y="0"/>
                </a:moveTo>
                <a:lnTo>
                  <a:pt x="7816263" y="0"/>
                </a:lnTo>
                <a:lnTo>
                  <a:pt x="7816263" y="5154378"/>
                </a:lnTo>
                <a:lnTo>
                  <a:pt x="0" y="5154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725226" y="2356227"/>
            <a:ext cx="7816263" cy="5154377"/>
          </a:xfrm>
          <a:custGeom>
            <a:avLst/>
            <a:gdLst/>
            <a:ahLst/>
            <a:cxnLst/>
            <a:rect l="l" t="t" r="r" b="b"/>
            <a:pathLst>
              <a:path w="7816263" h="5154377">
                <a:moveTo>
                  <a:pt x="0" y="0"/>
                </a:moveTo>
                <a:lnTo>
                  <a:pt x="7816262" y="0"/>
                </a:lnTo>
                <a:lnTo>
                  <a:pt x="7816262" y="5154378"/>
                </a:lnTo>
                <a:lnTo>
                  <a:pt x="0" y="5154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440814" y="7882080"/>
            <a:ext cx="15406371" cy="155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SỬ DỤNG KHÓA THAY THẾ TỰ TĂNG (Surrogate Key: INT IDENTITY) CHO MỌI BẢNG CHIỀU ĐỒNG THỜI GIỮ LẠI KHÓA NGHIỆP VỤ (Alternate Key: PlayerAltKey, GameAltKey).</a:t>
            </a:r>
          </a:p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=&gt;&gt; Đảm bảo tính độc lập với hệ thống nguồn, hỗ trợ SCD Type 2 và tối ưu tốc độ JOIN trên bảng Fact.</a:t>
            </a:r>
            <a:r>
              <a:rPr lang="en-US" sz="2962" b="1" spc="7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4" name="Freeform 4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6" name="Freeform 6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028700" y="1028700"/>
            <a:ext cx="3514184" cy="1561273"/>
            <a:chOff x="0" y="0"/>
            <a:chExt cx="4685578" cy="2081698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685578" cy="2081698"/>
              <a:chOff x="0" y="0"/>
              <a:chExt cx="1441635" cy="64048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270306" y="707279"/>
              <a:ext cx="4144967" cy="762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99"/>
                </a:lnSpc>
              </a:pPr>
              <a:r>
                <a:rPr lang="en-US" sz="4225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GEOGRAPHY (RAGGED)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239261" y="4008142"/>
            <a:ext cx="5285687" cy="5477396"/>
          </a:xfrm>
          <a:custGeom>
            <a:avLst/>
            <a:gdLst/>
            <a:ahLst/>
            <a:cxnLst/>
            <a:rect l="l" t="t" r="r" b="b"/>
            <a:pathLst>
              <a:path w="5285687" h="5477396">
                <a:moveTo>
                  <a:pt x="0" y="0"/>
                </a:moveTo>
                <a:lnTo>
                  <a:pt x="5285687" y="0"/>
                </a:lnTo>
                <a:lnTo>
                  <a:pt x="5285687" y="5477397"/>
                </a:lnTo>
                <a:lnTo>
                  <a:pt x="0" y="5477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698533" y="4087237"/>
            <a:ext cx="5413952" cy="5319207"/>
          </a:xfrm>
          <a:custGeom>
            <a:avLst/>
            <a:gdLst/>
            <a:ahLst/>
            <a:cxnLst/>
            <a:rect l="l" t="t" r="r" b="b"/>
            <a:pathLst>
              <a:path w="5413952" h="5319207">
                <a:moveTo>
                  <a:pt x="0" y="0"/>
                </a:moveTo>
                <a:lnTo>
                  <a:pt x="5413951" y="0"/>
                </a:lnTo>
                <a:lnTo>
                  <a:pt x="5413951" y="5319207"/>
                </a:lnTo>
                <a:lnTo>
                  <a:pt x="0" y="5319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286069" y="4099531"/>
            <a:ext cx="5726787" cy="1043969"/>
          </a:xfrm>
          <a:custGeom>
            <a:avLst/>
            <a:gdLst/>
            <a:ahLst/>
            <a:cxnLst/>
            <a:rect l="l" t="t" r="r" b="b"/>
            <a:pathLst>
              <a:path w="5726787" h="1043969">
                <a:moveTo>
                  <a:pt x="0" y="0"/>
                </a:moveTo>
                <a:lnTo>
                  <a:pt x="5726787" y="0"/>
                </a:lnTo>
                <a:lnTo>
                  <a:pt x="5726787" y="1043969"/>
                </a:lnTo>
                <a:lnTo>
                  <a:pt x="0" y="1043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681" r="-2260" b="-70617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286069" y="5476875"/>
            <a:ext cx="5726787" cy="2301465"/>
          </a:xfrm>
          <a:custGeom>
            <a:avLst/>
            <a:gdLst/>
            <a:ahLst/>
            <a:cxnLst/>
            <a:rect l="l" t="t" r="r" b="b"/>
            <a:pathLst>
              <a:path w="5726787" h="2301465">
                <a:moveTo>
                  <a:pt x="0" y="0"/>
                </a:moveTo>
                <a:lnTo>
                  <a:pt x="5726787" y="0"/>
                </a:lnTo>
                <a:lnTo>
                  <a:pt x="5726787" y="2301465"/>
                </a:lnTo>
                <a:lnTo>
                  <a:pt x="0" y="23014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8799" b="-23181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4777026" y="1003997"/>
            <a:ext cx="13510974" cy="1553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NHIỀU QUỐC GIA KHÔNG CÓ CẤP BANG (NHƯ VIỆT NAM, SINGAPORE, NHẬT BẢN, BA LAN) TẠO THÀNH CÂY PHÂN CẤP KHUYẾT (RAGGED / GENERALIZED HIERARCHY).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3117400"/>
            <a:ext cx="3514184" cy="555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6"/>
              </a:lnSpc>
            </a:pPr>
            <a:r>
              <a:rPr lang="en-US" sz="4233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GIẢI PHÁP: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77026" y="2740363"/>
            <a:ext cx="12482274" cy="102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Thiết kế DimCity có StateKey (0,1) và CountryKey (0,1) kèm ràng buộc CHECK CONSTRAINT loại trừ (XOR) và cấu hình HideMemberIf trên SSAS.</a:t>
            </a:r>
            <a:r>
              <a:rPr lang="en-US" sz="2962" b="1" spc="7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4" name="Freeform 4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6" name="Freeform 6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801007" y="499983"/>
            <a:ext cx="3389914" cy="1506063"/>
            <a:chOff x="0" y="0"/>
            <a:chExt cx="4519885" cy="200808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519885" cy="2008084"/>
              <a:chOff x="0" y="0"/>
              <a:chExt cx="1441635" cy="64048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423292" y="713632"/>
              <a:ext cx="3775775" cy="7320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54"/>
                </a:lnSpc>
              </a:pPr>
              <a:r>
                <a:rPr lang="en-US" sz="4076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TIME (ROLE-PLAYING)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801007" y="3437657"/>
            <a:ext cx="7050834" cy="6496276"/>
          </a:xfrm>
          <a:custGeom>
            <a:avLst/>
            <a:gdLst/>
            <a:ahLst/>
            <a:cxnLst/>
            <a:rect l="l" t="t" r="r" b="b"/>
            <a:pathLst>
              <a:path w="7050834" h="6496276">
                <a:moveTo>
                  <a:pt x="0" y="0"/>
                </a:moveTo>
                <a:lnTo>
                  <a:pt x="7050834" y="0"/>
                </a:lnTo>
                <a:lnTo>
                  <a:pt x="7050834" y="6496276"/>
                </a:lnTo>
                <a:lnTo>
                  <a:pt x="0" y="64962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0049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542884" y="709613"/>
            <a:ext cx="6617915" cy="102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BẢNG FACT CÓ 3 VAI TRÒ THỜI GIAN: PurchaseDate, ReleaseDate/SettlementDate và RefundDate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2241" y="2513451"/>
            <a:ext cx="3378681" cy="51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4008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GIẢI PHÁP: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10718" y="2046053"/>
            <a:ext cx="13233315" cy="102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XÂY DỰNG BẢNG DimTime DUY NHẤT ĐÓNG VAI TRÒ ROLE-PLAYING DIMENSION KÈM 2 NHÁNH ALTERNATIVE HIERARCHY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53275" y="4819123"/>
            <a:ext cx="8860056" cy="341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0"/>
              </a:lnSpc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Nhánh 1 (Calendar Hierarchy): Date → Month → Calendar Quarter → Calendar Semester → Calendar Year.</a:t>
            </a:r>
            <a:r>
              <a:rPr lang="en-US" sz="2962" b="1" spc="7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n-US" sz="2962" i="1" spc="71">
                <a:solidFill>
                  <a:srgbClr val="343434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/>
            </a: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127376" y="3969565"/>
            <a:ext cx="4418099" cy="664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5"/>
              </a:lnSpc>
            </a:pPr>
            <a:r>
              <a:rPr lang="en-US" sz="5139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CALENDAR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4" name="Freeform 4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6" name="Freeform 6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801007" y="499983"/>
            <a:ext cx="3389914" cy="1506063"/>
            <a:chOff x="0" y="0"/>
            <a:chExt cx="4519885" cy="200808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519885" cy="2008084"/>
              <a:chOff x="0" y="0"/>
              <a:chExt cx="1441635" cy="64048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423292" y="713632"/>
              <a:ext cx="3775775" cy="7320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54"/>
                </a:lnSpc>
              </a:pPr>
              <a:r>
                <a:rPr lang="en-US" sz="4076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TIME (ALTERNATIVE)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801007" y="3588565"/>
            <a:ext cx="6823141" cy="6388902"/>
          </a:xfrm>
          <a:custGeom>
            <a:avLst/>
            <a:gdLst/>
            <a:ahLst/>
            <a:cxnLst/>
            <a:rect l="l" t="t" r="r" b="b"/>
            <a:pathLst>
              <a:path w="6823141" h="6388902">
                <a:moveTo>
                  <a:pt x="0" y="0"/>
                </a:moveTo>
                <a:lnTo>
                  <a:pt x="6823141" y="0"/>
                </a:lnTo>
                <a:lnTo>
                  <a:pt x="6823141" y="6388902"/>
                </a:lnTo>
                <a:lnTo>
                  <a:pt x="0" y="6388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803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542884" y="709613"/>
            <a:ext cx="6617915" cy="102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BẢNG FACT CÓ 3 VAI TRÒ THỜI GIAN: PurchaseDate, ReleaseDate/SettlementDate và RefundDate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1007" y="2555161"/>
            <a:ext cx="3741876" cy="589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1"/>
              </a:lnSpc>
            </a:pPr>
            <a:r>
              <a:rPr lang="en-US" sz="4579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GIẢI PHÁP: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42884" y="2254111"/>
            <a:ext cx="13233315" cy="102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XÂY DỰNG BẢNG DimTime DUY NHẤT ĐÓNG VAI TRÒ ROLE-PLAYING DIMENSION KÈM 2 NHÁNH ALTERNATIVE HIERARCHY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30291" y="4819123"/>
            <a:ext cx="8506025" cy="341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0"/>
              </a:lnSpc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Nhánh 2 (Fiscal Hierarchy): Date → Month → Fiscal Quarter → Fiscal Semester → Fiscal Year (năm tài chính bắt đầu từ tháng 2).</a:t>
            </a:r>
            <a:r>
              <a:rPr lang="en-US" sz="2962" b="1" spc="7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n-US" sz="2962" i="1" spc="71">
                <a:solidFill>
                  <a:srgbClr val="343434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/>
            </a: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127376" y="3969565"/>
            <a:ext cx="4494660" cy="664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5"/>
              </a:lnSpc>
            </a:pPr>
            <a:r>
              <a:rPr lang="en-US" sz="5139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FISCAL TIME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4" name="Freeform 4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6" name="Freeform 6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801007" y="499983"/>
            <a:ext cx="3389914" cy="1506063"/>
            <a:chOff x="0" y="0"/>
            <a:chExt cx="4519885" cy="200808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519885" cy="2008084"/>
              <a:chOff x="0" y="0"/>
              <a:chExt cx="1441635" cy="64048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423292" y="713632"/>
              <a:ext cx="3775775" cy="7320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54"/>
                </a:lnSpc>
              </a:pPr>
              <a:r>
                <a:rPr lang="en-US" sz="4076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TIME (COMPOSITE KEY)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3493371" y="3510435"/>
            <a:ext cx="11301259" cy="5099693"/>
          </a:xfrm>
          <a:custGeom>
            <a:avLst/>
            <a:gdLst/>
            <a:ahLst/>
            <a:cxnLst/>
            <a:rect l="l" t="t" r="r" b="b"/>
            <a:pathLst>
              <a:path w="11301259" h="5099693">
                <a:moveTo>
                  <a:pt x="0" y="0"/>
                </a:moveTo>
                <a:lnTo>
                  <a:pt x="11301258" y="0"/>
                </a:lnTo>
                <a:lnTo>
                  <a:pt x="11301258" y="5099693"/>
                </a:lnTo>
                <a:lnTo>
                  <a:pt x="0" y="50996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542884" y="709613"/>
            <a:ext cx="6617915" cy="102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ĐẢM BẢO ĐIỀU KIỆN SUMMARIZABILITY KHI ROLL-UP TRÊN CHIỀU THỜI GIAN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1007" y="2542479"/>
            <a:ext cx="3389914" cy="526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2"/>
              </a:lnSpc>
            </a:pPr>
            <a:r>
              <a:rPr lang="en-US" sz="4105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GIẢI PHÁP: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42884" y="2254111"/>
            <a:ext cx="13233315" cy="102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THIẾT LẬP COMPOSITE KEYS (MonthNumber + Year, Quarter + Year) VÀ RIGID ATTRIBUTE RELATIONSHIPS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01755" y="9080571"/>
            <a:ext cx="14749157" cy="902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4"/>
              </a:lnSpc>
              <a:spcBef>
                <a:spcPct val="0"/>
              </a:spcBef>
            </a:pPr>
            <a:r>
              <a:rPr lang="en-US" sz="2602" spc="62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Kết hợp Named Calculations (FullMonth, FullQuarter, FullSemester) giúp mỗi thành viên tháng/quý thuộc duy nhất 1 năm.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4" name="Freeform 4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6" name="Freeform 6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028700" y="1028700"/>
            <a:ext cx="3514184" cy="1561273"/>
            <a:chOff x="0" y="0"/>
            <a:chExt cx="4685578" cy="2081698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685578" cy="2081698"/>
              <a:chOff x="0" y="0"/>
              <a:chExt cx="1441635" cy="64048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441635" cy="640486"/>
              </a:xfrm>
              <a:custGeom>
                <a:avLst/>
                <a:gdLst/>
                <a:ahLst/>
                <a:cxnLst/>
                <a:rect l="l" t="t" r="r" b="b"/>
                <a:pathLst>
                  <a:path w="1441635" h="640486">
                    <a:moveTo>
                      <a:pt x="45260" y="0"/>
                    </a:moveTo>
                    <a:lnTo>
                      <a:pt x="1396375" y="0"/>
                    </a:lnTo>
                    <a:cubicBezTo>
                      <a:pt x="1421372" y="0"/>
                      <a:pt x="1441635" y="20264"/>
                      <a:pt x="1441635" y="45260"/>
                    </a:cubicBezTo>
                    <a:lnTo>
                      <a:pt x="1441635" y="595226"/>
                    </a:lnTo>
                    <a:cubicBezTo>
                      <a:pt x="1441635" y="620223"/>
                      <a:pt x="1421372" y="640486"/>
                      <a:pt x="1396375" y="640486"/>
                    </a:cubicBezTo>
                    <a:lnTo>
                      <a:pt x="45260" y="640486"/>
                    </a:lnTo>
                    <a:cubicBezTo>
                      <a:pt x="20264" y="640486"/>
                      <a:pt x="0" y="620223"/>
                      <a:pt x="0" y="595226"/>
                    </a:cubicBezTo>
                    <a:lnTo>
                      <a:pt x="0" y="45260"/>
                    </a:lnTo>
                    <a:cubicBezTo>
                      <a:pt x="0" y="20264"/>
                      <a:pt x="20264" y="0"/>
                      <a:pt x="4526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1441635" cy="69763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270306" y="707279"/>
              <a:ext cx="4144967" cy="762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99"/>
                </a:lnSpc>
              </a:pPr>
              <a:r>
                <a:rPr lang="en-US" sz="4225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GENRE &amp; ORDER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239261" y="4008142"/>
            <a:ext cx="5285687" cy="5477396"/>
          </a:xfrm>
          <a:custGeom>
            <a:avLst/>
            <a:gdLst/>
            <a:ahLst/>
            <a:cxnLst/>
            <a:rect l="l" t="t" r="r" b="b"/>
            <a:pathLst>
              <a:path w="5285687" h="5477396">
                <a:moveTo>
                  <a:pt x="0" y="0"/>
                </a:moveTo>
                <a:lnTo>
                  <a:pt x="5285687" y="0"/>
                </a:lnTo>
                <a:lnTo>
                  <a:pt x="5285687" y="5477397"/>
                </a:lnTo>
                <a:lnTo>
                  <a:pt x="0" y="5477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698533" y="4087237"/>
            <a:ext cx="5413952" cy="5319207"/>
          </a:xfrm>
          <a:custGeom>
            <a:avLst/>
            <a:gdLst/>
            <a:ahLst/>
            <a:cxnLst/>
            <a:rect l="l" t="t" r="r" b="b"/>
            <a:pathLst>
              <a:path w="5413952" h="5319207">
                <a:moveTo>
                  <a:pt x="0" y="0"/>
                </a:moveTo>
                <a:lnTo>
                  <a:pt x="5413951" y="0"/>
                </a:lnTo>
                <a:lnTo>
                  <a:pt x="5413951" y="5319207"/>
                </a:lnTo>
                <a:lnTo>
                  <a:pt x="0" y="5319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286069" y="4099531"/>
            <a:ext cx="5726787" cy="1043969"/>
          </a:xfrm>
          <a:custGeom>
            <a:avLst/>
            <a:gdLst/>
            <a:ahLst/>
            <a:cxnLst/>
            <a:rect l="l" t="t" r="r" b="b"/>
            <a:pathLst>
              <a:path w="5726787" h="1043969">
                <a:moveTo>
                  <a:pt x="0" y="0"/>
                </a:moveTo>
                <a:lnTo>
                  <a:pt x="5726787" y="0"/>
                </a:lnTo>
                <a:lnTo>
                  <a:pt x="5726787" y="1043969"/>
                </a:lnTo>
                <a:lnTo>
                  <a:pt x="0" y="1043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681" r="-2260" b="-70617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286069" y="5476875"/>
            <a:ext cx="5726787" cy="2301465"/>
          </a:xfrm>
          <a:custGeom>
            <a:avLst/>
            <a:gdLst/>
            <a:ahLst/>
            <a:cxnLst/>
            <a:rect l="l" t="t" r="r" b="b"/>
            <a:pathLst>
              <a:path w="5726787" h="2301465">
                <a:moveTo>
                  <a:pt x="0" y="0"/>
                </a:moveTo>
                <a:lnTo>
                  <a:pt x="5726787" y="0"/>
                </a:lnTo>
                <a:lnTo>
                  <a:pt x="5726787" y="2301465"/>
                </a:lnTo>
                <a:lnTo>
                  <a:pt x="0" y="23014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8799" b="-23181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4777026" y="1265935"/>
            <a:ext cx="12720251" cy="102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MỘT TỰA GAME THUỘC NHIỀU THỂ LOẠI (MANY-TO-MANY) GÂY NGUY CƠ CỘNG TRÙNG DOANH THU (DOUBLE-COUNTING).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3120203"/>
            <a:ext cx="3514184" cy="552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9"/>
              </a:lnSpc>
            </a:pPr>
            <a:r>
              <a:rPr lang="en-US" sz="4278" b="1">
                <a:solidFill>
                  <a:srgbClr val="164B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GIẢI PHÁP: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86551" y="2740363"/>
            <a:ext cx="9099742" cy="102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  <a:spcBef>
                <a:spcPct val="0"/>
              </a:spcBef>
            </a:pP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Tạo bảng cầu nối BridgeGameGenre có trọng số WeightFactor (tổng = 1.0) và dùng ROW_NUMBER() OVER (PARTITION BY OrderID) tạo khóa Degenerate (OrderNo, OrderLineNo).</a:t>
            </a:r>
            <a:r>
              <a:rPr lang="en-US" sz="2962" b="1" spc="7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962" spc="7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0908625" y="6437857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8410460">
            <a:off x="1935723" y="-5126712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9" y="0"/>
                </a:lnTo>
                <a:lnTo>
                  <a:pt x="11976399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28763" y="479607"/>
            <a:ext cx="5970944" cy="3087985"/>
          </a:xfrm>
          <a:custGeom>
            <a:avLst/>
            <a:gdLst/>
            <a:ahLst/>
            <a:cxnLst/>
            <a:rect l="l" t="t" r="r" b="b"/>
            <a:pathLst>
              <a:path w="5970944" h="3087985">
                <a:moveTo>
                  <a:pt x="0" y="0"/>
                </a:moveTo>
                <a:lnTo>
                  <a:pt x="5970944" y="0"/>
                </a:lnTo>
                <a:lnTo>
                  <a:pt x="5970944" y="3087985"/>
                </a:lnTo>
                <a:lnTo>
                  <a:pt x="0" y="30879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4618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28763" y="4425841"/>
            <a:ext cx="5970944" cy="3816331"/>
          </a:xfrm>
          <a:custGeom>
            <a:avLst/>
            <a:gdLst/>
            <a:ahLst/>
            <a:cxnLst/>
            <a:rect l="l" t="t" r="r" b="b"/>
            <a:pathLst>
              <a:path w="5970944" h="3816331">
                <a:moveTo>
                  <a:pt x="0" y="0"/>
                </a:moveTo>
                <a:lnTo>
                  <a:pt x="5970944" y="0"/>
                </a:lnTo>
                <a:lnTo>
                  <a:pt x="5970944" y="3816331"/>
                </a:lnTo>
                <a:lnTo>
                  <a:pt x="0" y="38163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5293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312411" y="261990"/>
            <a:ext cx="5452410" cy="3523220"/>
          </a:xfrm>
          <a:custGeom>
            <a:avLst/>
            <a:gdLst/>
            <a:ahLst/>
            <a:cxnLst/>
            <a:rect l="l" t="t" r="r" b="b"/>
            <a:pathLst>
              <a:path w="5452410" h="3523220">
                <a:moveTo>
                  <a:pt x="0" y="0"/>
                </a:moveTo>
                <a:lnTo>
                  <a:pt x="5452411" y="0"/>
                </a:lnTo>
                <a:lnTo>
                  <a:pt x="5452411" y="3523220"/>
                </a:lnTo>
                <a:lnTo>
                  <a:pt x="0" y="35232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46770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273581" y="4263949"/>
            <a:ext cx="5491241" cy="3528599"/>
          </a:xfrm>
          <a:custGeom>
            <a:avLst/>
            <a:gdLst/>
            <a:ahLst/>
            <a:cxnLst/>
            <a:rect l="l" t="t" r="r" b="b"/>
            <a:pathLst>
              <a:path w="5491241" h="3528599">
                <a:moveTo>
                  <a:pt x="0" y="0"/>
                </a:moveTo>
                <a:lnTo>
                  <a:pt x="5491241" y="0"/>
                </a:lnTo>
                <a:lnTo>
                  <a:pt x="5491241" y="3528599"/>
                </a:lnTo>
                <a:lnTo>
                  <a:pt x="0" y="35285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52222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761888" y="6189830"/>
            <a:ext cx="5249512" cy="3357172"/>
          </a:xfrm>
          <a:custGeom>
            <a:avLst/>
            <a:gdLst/>
            <a:ahLst/>
            <a:cxnLst/>
            <a:rect l="l" t="t" r="r" b="b"/>
            <a:pathLst>
              <a:path w="5249512" h="3357172">
                <a:moveTo>
                  <a:pt x="0" y="0"/>
                </a:moveTo>
                <a:lnTo>
                  <a:pt x="5249512" y="0"/>
                </a:lnTo>
                <a:lnTo>
                  <a:pt x="5249512" y="3357172"/>
                </a:lnTo>
                <a:lnTo>
                  <a:pt x="0" y="33571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49382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6911235" y="3642302"/>
            <a:ext cx="4465530" cy="1567078"/>
            <a:chOff x="0" y="0"/>
            <a:chExt cx="5954040" cy="2089438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76200"/>
              <a:ext cx="5954040" cy="17356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45"/>
                </a:lnSpc>
              </a:pPr>
              <a:r>
                <a:rPr lang="en-US" sz="3818" b="1">
                  <a:solidFill>
                    <a:srgbClr val="3434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XÂY DỰNG 2 BẢNG SỰ KIỆN (CONSTELLATION)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644113"/>
              <a:ext cx="5954040" cy="4453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96"/>
                </a:lnSpc>
                <a:spcBef>
                  <a:spcPct val="0"/>
                </a:spcBef>
              </a:pPr>
              <a:r>
                <a:rPr lang="en-US" sz="2068" spc="49">
                  <a:solidFill>
                    <a:srgbClr val="34343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FACT TABLES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9928635" y="6707896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8410460">
            <a:off x="1935723" y="-5126712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9" y="0"/>
                </a:lnTo>
                <a:lnTo>
                  <a:pt x="11976399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2643008"/>
            <a:ext cx="6078841" cy="6356958"/>
          </a:xfrm>
          <a:custGeom>
            <a:avLst/>
            <a:gdLst/>
            <a:ahLst/>
            <a:cxnLst/>
            <a:rect l="l" t="t" r="r" b="b"/>
            <a:pathLst>
              <a:path w="6078841" h="6356958">
                <a:moveTo>
                  <a:pt x="0" y="0"/>
                </a:moveTo>
                <a:lnTo>
                  <a:pt x="6078841" y="0"/>
                </a:lnTo>
                <a:lnTo>
                  <a:pt x="6078841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805673" y="727042"/>
            <a:ext cx="5297994" cy="3831931"/>
          </a:xfrm>
          <a:custGeom>
            <a:avLst/>
            <a:gdLst/>
            <a:ahLst/>
            <a:cxnLst/>
            <a:rect l="l" t="t" r="r" b="b"/>
            <a:pathLst>
              <a:path w="5297994" h="3831931">
                <a:moveTo>
                  <a:pt x="0" y="0"/>
                </a:moveTo>
                <a:lnTo>
                  <a:pt x="5297994" y="0"/>
                </a:lnTo>
                <a:lnTo>
                  <a:pt x="5297994" y="3831932"/>
                </a:lnTo>
                <a:lnTo>
                  <a:pt x="0" y="38319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214307" y="4737445"/>
            <a:ext cx="4480725" cy="4452954"/>
          </a:xfrm>
          <a:custGeom>
            <a:avLst/>
            <a:gdLst/>
            <a:ahLst/>
            <a:cxnLst/>
            <a:rect l="l" t="t" r="r" b="b"/>
            <a:pathLst>
              <a:path w="4480725" h="4452954">
                <a:moveTo>
                  <a:pt x="0" y="0"/>
                </a:moveTo>
                <a:lnTo>
                  <a:pt x="4480726" y="0"/>
                </a:lnTo>
                <a:lnTo>
                  <a:pt x="4480726" y="4452954"/>
                </a:lnTo>
                <a:lnTo>
                  <a:pt x="0" y="44529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2984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35356" y="1670521"/>
            <a:ext cx="4465530" cy="650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5"/>
              </a:lnSpc>
            </a:pPr>
            <a:r>
              <a:rPr lang="en-US" sz="3818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FACT_GAMESALES &amp; FACT_ITEMTRANSACTIONS</a:t>
            </a:r>
          </a:p>
        </p:txBody>
      </p:sp>
      <p:sp>
        <p:nvSpPr>
          <p:cNvPr id="9" name="AutoShape 9"/>
          <p:cNvSpPr/>
          <p:nvPr/>
        </p:nvSpPr>
        <p:spPr>
          <a:xfrm>
            <a:off x="7923923" y="5143500"/>
            <a:ext cx="282300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58567" flipH="1">
            <a:off x="10758874" y="-1031087"/>
            <a:ext cx="10441422" cy="4424552"/>
          </a:xfrm>
          <a:custGeom>
            <a:avLst/>
            <a:gdLst/>
            <a:ahLst/>
            <a:cxnLst/>
            <a:rect l="l" t="t" r="r" b="b"/>
            <a:pathLst>
              <a:path w="10441422" h="4424552">
                <a:moveTo>
                  <a:pt x="10441422" y="0"/>
                </a:moveTo>
                <a:lnTo>
                  <a:pt x="0" y="0"/>
                </a:lnTo>
                <a:lnTo>
                  <a:pt x="0" y="4424553"/>
                </a:lnTo>
                <a:lnTo>
                  <a:pt x="10441422" y="4424553"/>
                </a:lnTo>
                <a:lnTo>
                  <a:pt x="1044142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125778">
            <a:off x="9642048" y="7442125"/>
            <a:ext cx="7735476" cy="4631616"/>
          </a:xfrm>
          <a:custGeom>
            <a:avLst/>
            <a:gdLst/>
            <a:ahLst/>
            <a:cxnLst/>
            <a:rect l="l" t="t" r="r" b="b"/>
            <a:pathLst>
              <a:path w="7735476" h="4631616">
                <a:moveTo>
                  <a:pt x="0" y="0"/>
                </a:moveTo>
                <a:lnTo>
                  <a:pt x="7735476" y="0"/>
                </a:lnTo>
                <a:lnTo>
                  <a:pt x="7735476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68477" y="-348153"/>
            <a:ext cx="8500415" cy="5587359"/>
            <a:chOff x="0" y="0"/>
            <a:chExt cx="2238793" cy="14715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38793" cy="1471568"/>
            </a:xfrm>
            <a:custGeom>
              <a:avLst/>
              <a:gdLst/>
              <a:ahLst/>
              <a:cxnLst/>
              <a:rect l="l" t="t" r="r" b="b"/>
              <a:pathLst>
                <a:path w="2238793" h="1471568">
                  <a:moveTo>
                    <a:pt x="0" y="0"/>
                  </a:moveTo>
                  <a:lnTo>
                    <a:pt x="2238793" y="0"/>
                  </a:lnTo>
                  <a:lnTo>
                    <a:pt x="2238793" y="1471568"/>
                  </a:lnTo>
                  <a:lnTo>
                    <a:pt x="0" y="147156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238793" cy="15191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-1332800" y="1407201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7755" y="5834886"/>
            <a:ext cx="9445915" cy="236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OLAP GAMESTORE CUBE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31572" y="3274461"/>
            <a:ext cx="8945318" cy="2731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7793" lvl="1" indent="-338897" algn="l">
              <a:lnSpc>
                <a:spcPts val="4395"/>
              </a:lnSpc>
              <a:buAutoNum type="arabicPeriod"/>
            </a:pPr>
            <a:r>
              <a:rPr lang="en-US" sz="3139" spc="156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Tạo Data Source View (DSV) &amp; Named Calculations</a:t>
            </a:r>
          </a:p>
          <a:p>
            <a:pPr marL="677793" lvl="1" indent="-338897" algn="l">
              <a:lnSpc>
                <a:spcPts val="4395"/>
              </a:lnSpc>
              <a:buAutoNum type="arabicPeriod"/>
            </a:pPr>
            <a:r>
              <a:rPr lang="en-US" sz="3139" spc="156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Cấu hình Hierarchies, Composite Keys &amp; Dimension Usage</a:t>
            </a:r>
          </a:p>
          <a:p>
            <a:pPr marL="677793" lvl="1" indent="-338897" algn="l">
              <a:lnSpc>
                <a:spcPts val="4395"/>
              </a:lnSpc>
              <a:buAutoNum type="arabicPeriod"/>
            </a:pPr>
            <a:r>
              <a:rPr lang="en-US" sz="3139" spc="156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Thiết kế Partitions (MOLAP/HOLAP/ROLAP) &amp; Aggregations</a:t>
            </a:r>
          </a:p>
          <a:p>
            <a:pPr marL="677793" lvl="1" indent="-338897" algn="l">
              <a:lnSpc>
                <a:spcPts val="4395"/>
              </a:lnSpc>
              <a:buAutoNum type="arabicPeriod"/>
            </a:pPr>
            <a:r>
              <a:rPr lang="en-US" sz="3139" spc="156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Thực hiện các phép toán OLAP trên SSAS &amp; Mondrian</a:t>
            </a:r>
          </a:p>
          <a:p>
            <a:pPr algn="l">
              <a:lnSpc>
                <a:spcPts val="4395"/>
              </a:lnSpc>
              <a:spcBef>
                <a:spcPct val="0"/>
              </a:spcBef>
            </a:pPr>
            <a:endParaRPr lang="en-US" sz="3139" spc="156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12855505" y="-2023414"/>
            <a:ext cx="643045" cy="8066054"/>
            <a:chOff x="0" y="0"/>
            <a:chExt cx="169362" cy="21243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9362" cy="2124393"/>
            </a:xfrm>
            <a:custGeom>
              <a:avLst/>
              <a:gdLst/>
              <a:ahLst/>
              <a:cxnLst/>
              <a:rect l="l" t="t" r="r" b="b"/>
              <a:pathLst>
                <a:path w="169362" h="2124393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039712"/>
                  </a:lnTo>
                  <a:cubicBezTo>
                    <a:pt x="169362" y="2086480"/>
                    <a:pt x="131449" y="2124393"/>
                    <a:pt x="84681" y="2124393"/>
                  </a:cubicBezTo>
                  <a:lnTo>
                    <a:pt x="84681" y="2124393"/>
                  </a:lnTo>
                  <a:cubicBezTo>
                    <a:pt x="62222" y="2124393"/>
                    <a:pt x="40683" y="2115471"/>
                    <a:pt x="24802" y="2099590"/>
                  </a:cubicBezTo>
                  <a:cubicBezTo>
                    <a:pt x="8922" y="2083710"/>
                    <a:pt x="0" y="2062171"/>
                    <a:pt x="0" y="2039712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69362" cy="2172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597275" y="1828956"/>
            <a:ext cx="249294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881498" y="1828956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2026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75862" y="1828956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Project.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-467361" y="-2757747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86204" y="6250419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021110" y="811312"/>
            <a:ext cx="249294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05333" y="811312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5641" y="811312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Project.</a:t>
            </a:r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11279340" y="-3711595"/>
            <a:ext cx="643045" cy="9407130"/>
            <a:chOff x="0" y="0"/>
            <a:chExt cx="169362" cy="24775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9362" cy="2477598"/>
            </a:xfrm>
            <a:custGeom>
              <a:avLst/>
              <a:gdLst/>
              <a:ahLst/>
              <a:cxnLst/>
              <a:rect l="l" t="t" r="r" b="b"/>
              <a:pathLst>
                <a:path w="169362" h="2477598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392917"/>
                  </a:lnTo>
                  <a:cubicBezTo>
                    <a:pt x="169362" y="2439685"/>
                    <a:pt x="131449" y="2477598"/>
                    <a:pt x="84681" y="2477598"/>
                  </a:cubicBezTo>
                  <a:lnTo>
                    <a:pt x="84681" y="2477598"/>
                  </a:lnTo>
                  <a:cubicBezTo>
                    <a:pt x="37913" y="2477598"/>
                    <a:pt x="0" y="2439685"/>
                    <a:pt x="0" y="239291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69362" cy="2525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456253" y="3323285"/>
            <a:ext cx="7687747" cy="5854268"/>
          </a:xfrm>
          <a:custGeom>
            <a:avLst/>
            <a:gdLst/>
            <a:ahLst/>
            <a:cxnLst/>
            <a:rect l="l" t="t" r="r" b="b"/>
            <a:pathLst>
              <a:path w="7687747" h="5854268">
                <a:moveTo>
                  <a:pt x="0" y="0"/>
                </a:moveTo>
                <a:lnTo>
                  <a:pt x="7687747" y="0"/>
                </a:lnTo>
                <a:lnTo>
                  <a:pt x="7687747" y="5854268"/>
                </a:lnTo>
                <a:lnTo>
                  <a:pt x="0" y="58542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041524" y="7129114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3686" y="1824130"/>
            <a:ext cx="17714314" cy="1884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8"/>
              </a:lnSpc>
            </a:pPr>
            <a:r>
              <a:rPr lang="en-US" sz="7462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 TẠO DATA SOURCE &amp; DATA SOURCE VIEW (DSV)</a:t>
            </a:r>
          </a:p>
          <a:p>
            <a:pPr algn="l">
              <a:lnSpc>
                <a:spcPts val="7238"/>
              </a:lnSpc>
            </a:pPr>
            <a:endParaRPr lang="en-US" sz="7462">
              <a:solidFill>
                <a:srgbClr val="343434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830795" y="4356136"/>
            <a:ext cx="6164876" cy="1180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Kết nối đến GameStoreDW và tạo các Named Calculations: FullName, FullMonth, FullQuarter, OrderLineDesc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-467361" y="-2757747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86204" y="6250419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021110" y="811312"/>
            <a:ext cx="249294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05333" y="811312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5641" y="811312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Project.</a:t>
            </a:r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11279340" y="-3711595"/>
            <a:ext cx="643045" cy="9407130"/>
            <a:chOff x="0" y="0"/>
            <a:chExt cx="169362" cy="24775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9362" cy="2477598"/>
            </a:xfrm>
            <a:custGeom>
              <a:avLst/>
              <a:gdLst/>
              <a:ahLst/>
              <a:cxnLst/>
              <a:rect l="l" t="t" r="r" b="b"/>
              <a:pathLst>
                <a:path w="169362" h="2477598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392917"/>
                  </a:lnTo>
                  <a:cubicBezTo>
                    <a:pt x="169362" y="2439685"/>
                    <a:pt x="131449" y="2477598"/>
                    <a:pt x="84681" y="2477598"/>
                  </a:cubicBezTo>
                  <a:lnTo>
                    <a:pt x="84681" y="2477598"/>
                  </a:lnTo>
                  <a:cubicBezTo>
                    <a:pt x="37913" y="2477598"/>
                    <a:pt x="0" y="2439685"/>
                    <a:pt x="0" y="239291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69362" cy="2525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3384852"/>
            <a:ext cx="7093516" cy="5467301"/>
          </a:xfrm>
          <a:custGeom>
            <a:avLst/>
            <a:gdLst/>
            <a:ahLst/>
            <a:cxnLst/>
            <a:rect l="l" t="t" r="r" b="b"/>
            <a:pathLst>
              <a:path w="7093516" h="5467301">
                <a:moveTo>
                  <a:pt x="0" y="0"/>
                </a:moveTo>
                <a:lnTo>
                  <a:pt x="7093516" y="0"/>
                </a:lnTo>
                <a:lnTo>
                  <a:pt x="7093516" y="5467301"/>
                </a:lnTo>
                <a:lnTo>
                  <a:pt x="0" y="54673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94" t="-4046" r="-3412" b="-4812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041524" y="7129114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3686" y="1824130"/>
            <a:ext cx="17714314" cy="1884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8"/>
              </a:lnSpc>
            </a:pPr>
            <a:r>
              <a:rPr lang="en-US" sz="7462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 CÁC BẢNG TRONG DATA SOURCE VIEW</a:t>
            </a:r>
          </a:p>
          <a:p>
            <a:pPr algn="l">
              <a:lnSpc>
                <a:spcPts val="7238"/>
              </a:lnSpc>
            </a:pPr>
            <a:endParaRPr lang="en-US" sz="7462">
              <a:solidFill>
                <a:srgbClr val="343434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267585" y="3994745"/>
            <a:ext cx="5294537" cy="4180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1" lvl="1" indent="-367026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FactGameSales &amp; FactItemTransactions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DimGame, DimItem, DimSubCategory, DimCategory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DimPlayer (SCD2/6) &amp; DimPlayerProfile (SCD4)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DimTime (Calendar &amp; Fiscal)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DimCity, DimState, DimCountry, DimContinent</a:t>
            </a:r>
          </a:p>
          <a:p>
            <a:pPr marL="734051" lvl="1" indent="-367026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DimPublisher (Parent-Child) &amp; BridgeGameGenre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9950507" y="7177426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784357">
            <a:off x="-575872" y="-575344"/>
            <a:ext cx="7735476" cy="4631616"/>
          </a:xfrm>
          <a:custGeom>
            <a:avLst/>
            <a:gdLst/>
            <a:ahLst/>
            <a:cxnLst/>
            <a:rect l="l" t="t" r="r" b="b"/>
            <a:pathLst>
              <a:path w="7735476" h="4631616">
                <a:moveTo>
                  <a:pt x="0" y="0"/>
                </a:moveTo>
                <a:lnTo>
                  <a:pt x="7735475" y="0"/>
                </a:lnTo>
                <a:lnTo>
                  <a:pt x="7735475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-392510"/>
            <a:ext cx="2222584" cy="11072020"/>
            <a:chOff x="0" y="0"/>
            <a:chExt cx="585372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5372" cy="2916088"/>
            </a:xfrm>
            <a:custGeom>
              <a:avLst/>
              <a:gdLst/>
              <a:ahLst/>
              <a:cxnLst/>
              <a:rect l="l" t="t" r="r" b="b"/>
              <a:pathLst>
                <a:path w="585372" h="2916088">
                  <a:moveTo>
                    <a:pt x="0" y="0"/>
                  </a:moveTo>
                  <a:lnTo>
                    <a:pt x="585372" y="0"/>
                  </a:lnTo>
                  <a:lnTo>
                    <a:pt x="585372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85372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59303" y="3524696"/>
            <a:ext cx="643045" cy="7154814"/>
            <a:chOff x="0" y="0"/>
            <a:chExt cx="169362" cy="188439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9362" cy="1884395"/>
            </a:xfrm>
            <a:custGeom>
              <a:avLst/>
              <a:gdLst/>
              <a:ahLst/>
              <a:cxnLst/>
              <a:rect l="l" t="t" r="r" b="b"/>
              <a:pathLst>
                <a:path w="169362" h="1884395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1799715"/>
                  </a:lnTo>
                  <a:cubicBezTo>
                    <a:pt x="169362" y="1846483"/>
                    <a:pt x="131449" y="1884395"/>
                    <a:pt x="84681" y="1884395"/>
                  </a:cubicBezTo>
                  <a:lnTo>
                    <a:pt x="84681" y="1884395"/>
                  </a:lnTo>
                  <a:cubicBezTo>
                    <a:pt x="62222" y="1884395"/>
                    <a:pt x="40683" y="1875474"/>
                    <a:pt x="24802" y="1859593"/>
                  </a:cubicBezTo>
                  <a:cubicBezTo>
                    <a:pt x="8922" y="1843712"/>
                    <a:pt x="0" y="1822173"/>
                    <a:pt x="0" y="1799715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F2F7FA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69362" cy="1932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4000" y="603285"/>
            <a:ext cx="8587059" cy="8148699"/>
          </a:xfrm>
          <a:custGeom>
            <a:avLst/>
            <a:gdLst/>
            <a:ahLst/>
            <a:cxnLst/>
            <a:rect l="l" t="t" r="r" b="b"/>
            <a:pathLst>
              <a:path w="8587059" h="8148699">
                <a:moveTo>
                  <a:pt x="0" y="0"/>
                </a:moveTo>
                <a:lnTo>
                  <a:pt x="8587059" y="0"/>
                </a:lnTo>
                <a:lnTo>
                  <a:pt x="8587059" y="8148699"/>
                </a:lnTo>
                <a:lnTo>
                  <a:pt x="0" y="81486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905" t="-1" r="-37470"/>
            </a:stretch>
          </a:blipFill>
        </p:spPr>
      </p:sp>
      <p:sp>
        <p:nvSpPr>
          <p:cNvPr id="11" name="TextBox 11"/>
          <p:cNvSpPr txBox="1"/>
          <p:nvPr/>
        </p:nvSpPr>
        <p:spPr>
          <a:xfrm rot="-5400000">
            <a:off x="315301" y="7574594"/>
            <a:ext cx="249294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sp>
        <p:nvSpPr>
          <p:cNvPr id="12" name="TextBox 12"/>
          <p:cNvSpPr txBox="1"/>
          <p:nvPr/>
        </p:nvSpPr>
        <p:spPr>
          <a:xfrm rot="-5400000">
            <a:off x="651776" y="4886539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Project.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1278709" y="-190248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440600" y="3596838"/>
            <a:ext cx="1184640" cy="365380"/>
            <a:chOff x="0" y="0"/>
            <a:chExt cx="1579520" cy="487173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444500" cy="444500"/>
              <a:chOff x="0" y="0"/>
              <a:chExt cx="87802" cy="8780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7802" cy="87802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87802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87802"/>
                    </a:lnTo>
                    <a:lnTo>
                      <a:pt x="0" y="8780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57150"/>
                <a:ext cx="87802" cy="1449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222250" y="57150"/>
              <a:ext cx="1357270" cy="430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2400" b="1">
                  <a:solidFill>
                    <a:srgbClr val="3434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498829" y="3532030"/>
            <a:ext cx="4992021" cy="1286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5"/>
              </a:lnSpc>
              <a:spcBef>
                <a:spcPct val="0"/>
              </a:spcBef>
            </a:pPr>
            <a:r>
              <a:rPr lang="en-US" sz="1853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DimGame &amp; DimItem: Phân cấp Balanced (SubCategory → Category → Department) và Parallel (Engine → EngineVendor).</a:t>
            </a:r>
            <a:r>
              <a:rPr lang="en-US" sz="18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  <a:p>
            <a:pPr algn="ctr">
              <a:lnSpc>
                <a:spcPts val="2595"/>
              </a:lnSpc>
              <a:spcBef>
                <a:spcPct val="0"/>
              </a:spcBef>
            </a:pPr>
            <a:endParaRPr lang="en-US" sz="185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2440600" y="5032052"/>
            <a:ext cx="1184640" cy="365380"/>
            <a:chOff x="0" y="0"/>
            <a:chExt cx="1579520" cy="487173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444500" cy="444500"/>
              <a:chOff x="0" y="0"/>
              <a:chExt cx="87802" cy="8780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7802" cy="87802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87802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87802"/>
                    </a:lnTo>
                    <a:lnTo>
                      <a:pt x="0" y="8780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57150"/>
                <a:ext cx="87802" cy="1449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222250" y="57150"/>
              <a:ext cx="1357270" cy="430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2400" b="1">
                  <a:solidFill>
                    <a:srgbClr val="3434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3498829" y="4894423"/>
            <a:ext cx="4992021" cy="962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5"/>
              </a:lnSpc>
              <a:spcBef>
                <a:spcPct val="0"/>
              </a:spcBef>
            </a:pPr>
            <a:r>
              <a:rPr lang="en-US" sz="1853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DimPlayer: Lưu thông tin người chơi, theo dõi lịch sử thay đổi hạng VIP theo chuẩn SCD Type 2, Type 4/5 và Type 6.</a:t>
            </a:r>
            <a:r>
              <a:rPr lang="en-US" sz="185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440600" y="6379180"/>
            <a:ext cx="1184640" cy="365380"/>
            <a:chOff x="0" y="0"/>
            <a:chExt cx="1579520" cy="487173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444500" cy="444500"/>
              <a:chOff x="0" y="0"/>
              <a:chExt cx="87802" cy="8780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7802" cy="87802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87802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87802"/>
                    </a:lnTo>
                    <a:lnTo>
                      <a:pt x="0" y="8780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57150"/>
                <a:ext cx="87802" cy="1449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222250" y="57150"/>
              <a:ext cx="1357270" cy="430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2400" b="1">
                  <a:solidFill>
                    <a:srgbClr val="3434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3528378" y="6341080"/>
            <a:ext cx="4992021" cy="1286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5"/>
              </a:lnSpc>
              <a:spcBef>
                <a:spcPct val="0"/>
              </a:spcBef>
            </a:pPr>
            <a:r>
              <a:rPr lang="en-US" sz="1853" b="1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DimTime: Chiều thời gian đa vai trò (PurchaseDate, ReleaseDate, RefundDate) với 2 phân cấp Calendar và Fiscal.</a:t>
            </a:r>
            <a:r>
              <a:rPr lang="en-US" sz="1853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  <a:p>
            <a:pPr marL="0" lvl="0" indent="0" algn="l">
              <a:lnSpc>
                <a:spcPts val="2595"/>
              </a:lnSpc>
              <a:spcBef>
                <a:spcPct val="0"/>
              </a:spcBef>
            </a:pPr>
            <a:endParaRPr lang="en-US" sz="1853" u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2" name="Group 32"/>
          <p:cNvGrpSpPr/>
          <p:nvPr/>
        </p:nvGrpSpPr>
        <p:grpSpPr>
          <a:xfrm>
            <a:off x="2440600" y="7627494"/>
            <a:ext cx="1184640" cy="365380"/>
            <a:chOff x="0" y="0"/>
            <a:chExt cx="1579520" cy="487173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444500" cy="444500"/>
              <a:chOff x="0" y="0"/>
              <a:chExt cx="87802" cy="8780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7802" cy="87802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87802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87802"/>
                    </a:lnTo>
                    <a:lnTo>
                      <a:pt x="0" y="8780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57150"/>
                <a:ext cx="87802" cy="1449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222250" y="57150"/>
              <a:ext cx="1357270" cy="430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2400" b="1">
                  <a:solidFill>
                    <a:srgbClr val="3434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509328" y="7589394"/>
            <a:ext cx="4992021" cy="638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5"/>
              </a:lnSpc>
              <a:spcBef>
                <a:spcPct val="0"/>
              </a:spcBef>
            </a:pPr>
            <a:r>
              <a:rPr lang="en-US" sz="1853" b="1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DimGeography (City → State → Country → Continent): Phân cấp khuyết Ragged Hierarchy ẩn cấp rỗng qua HideMemberIf.</a:t>
            </a:r>
            <a:r>
              <a:rPr lang="en-US" sz="1853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2440600" y="8751984"/>
            <a:ext cx="1184640" cy="365380"/>
            <a:chOff x="0" y="0"/>
            <a:chExt cx="1579520" cy="487173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444500" cy="444500"/>
              <a:chOff x="0" y="0"/>
              <a:chExt cx="87802" cy="87802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7802" cy="87802"/>
              </a:xfrm>
              <a:custGeom>
                <a:avLst/>
                <a:gdLst/>
                <a:ahLst/>
                <a:cxnLst/>
                <a:rect l="l" t="t" r="r" b="b"/>
                <a:pathLst>
                  <a:path w="87802" h="87802">
                    <a:moveTo>
                      <a:pt x="0" y="0"/>
                    </a:moveTo>
                    <a:lnTo>
                      <a:pt x="87802" y="0"/>
                    </a:lnTo>
                    <a:lnTo>
                      <a:pt x="87802" y="87802"/>
                    </a:lnTo>
                    <a:lnTo>
                      <a:pt x="0" y="8780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57150"/>
                <a:ext cx="87802" cy="14495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222250" y="57150"/>
              <a:ext cx="1357270" cy="430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2400" b="1">
                  <a:solidFill>
                    <a:srgbClr val="34343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05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3498829" y="8596266"/>
            <a:ext cx="4992021" cy="962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95"/>
              </a:lnSpc>
              <a:spcBef>
                <a:spcPct val="0"/>
              </a:spcBef>
            </a:pPr>
            <a:r>
              <a:rPr lang="en-US" sz="1853" b="1" u="none" strike="noStrik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DimPublisher &amp; BridgeGameGenre: Phân cấp đệ quy Parent-Child (Studio mẹ - con) và bảng cầu nối Many-to-Many Thể loại game.</a:t>
            </a:r>
            <a:r>
              <a:rPr lang="en-US" sz="1853" u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84366" y="-196806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08865" y="-392510"/>
            <a:ext cx="5197998" cy="11072020"/>
            <a:chOff x="0" y="0"/>
            <a:chExt cx="1369020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69020" cy="2916088"/>
            </a:xfrm>
            <a:custGeom>
              <a:avLst/>
              <a:gdLst/>
              <a:ahLst/>
              <a:cxnLst/>
              <a:rect l="l" t="t" r="r" b="b"/>
              <a:pathLst>
                <a:path w="1369020" h="2916088">
                  <a:moveTo>
                    <a:pt x="0" y="0"/>
                  </a:moveTo>
                  <a:lnTo>
                    <a:pt x="1369020" y="0"/>
                  </a:lnTo>
                  <a:lnTo>
                    <a:pt x="1369020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69020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431877" y="6332344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73568" y="2733941"/>
            <a:ext cx="7790850" cy="5869673"/>
          </a:xfrm>
          <a:custGeom>
            <a:avLst/>
            <a:gdLst/>
            <a:ahLst/>
            <a:cxnLst/>
            <a:rect l="l" t="t" r="r" b="b"/>
            <a:pathLst>
              <a:path w="7790850" h="5869673">
                <a:moveTo>
                  <a:pt x="0" y="0"/>
                </a:moveTo>
                <a:lnTo>
                  <a:pt x="7790849" y="0"/>
                </a:lnTo>
                <a:lnTo>
                  <a:pt x="7790849" y="5869673"/>
                </a:lnTo>
                <a:lnTo>
                  <a:pt x="0" y="5869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460631" y="2722996"/>
            <a:ext cx="7798669" cy="5880618"/>
          </a:xfrm>
          <a:custGeom>
            <a:avLst/>
            <a:gdLst/>
            <a:ahLst/>
            <a:cxnLst/>
            <a:rect l="l" t="t" r="r" b="b"/>
            <a:pathLst>
              <a:path w="7798669" h="5880618">
                <a:moveTo>
                  <a:pt x="0" y="0"/>
                </a:moveTo>
                <a:lnTo>
                  <a:pt x="7798669" y="0"/>
                </a:lnTo>
                <a:lnTo>
                  <a:pt x="7798669" y="5880618"/>
                </a:lnTo>
                <a:lnTo>
                  <a:pt x="0" y="5880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942090" y="364220"/>
            <a:ext cx="8403819" cy="235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TẠO CUBE &amp; DIMENSION USAGE</a:t>
            </a:r>
          </a:p>
          <a:p>
            <a:pPr algn="l">
              <a:lnSpc>
                <a:spcPts val="9059"/>
              </a:lnSpc>
            </a:pPr>
            <a:endParaRPr lang="en-US" sz="9339">
              <a:solidFill>
                <a:srgbClr val="343434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0" y="121840"/>
            <a:ext cx="4066631" cy="3032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87"/>
              </a:lnSpc>
            </a:pPr>
            <a:r>
              <a:rPr lang="en-US" sz="23285" b="1" spc="-1862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77696" y="8988265"/>
            <a:ext cx="7532608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Thiết lập 3 Measure Groups: GameSales, ItemTransactions và BridgeGameGenre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32758" y="285991"/>
            <a:ext cx="7379171" cy="2724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Tab Dimension Usage cấu hình đầy đủ 5 loại liên kết: Regular, Role-Playing, Referenced (Geography qua Player), Fact/Degenerate (Order) và Many-to-Many (Genre).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-467361" y="-2757747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86204" y="6250419"/>
            <a:ext cx="11514218" cy="8506128"/>
          </a:xfrm>
          <a:custGeom>
            <a:avLst/>
            <a:gdLst/>
            <a:ahLst/>
            <a:cxnLst/>
            <a:rect l="l" t="t" r="r" b="b"/>
            <a:pathLst>
              <a:path w="11514218" h="850612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259300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021110" y="811312"/>
            <a:ext cx="249294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VKU - Faculty of CS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05333" y="811312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5641" y="811312"/>
            <a:ext cx="18199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Montserrat Extra-Light"/>
                <a:ea typeface="Montserrat Extra-Light"/>
                <a:cs typeface="Montserrat Extra-Light"/>
                <a:sym typeface="Montserrat Extra-Light"/>
              </a:rPr>
              <a:t>Project.</a:t>
            </a:r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11279340" y="-3711595"/>
            <a:ext cx="643045" cy="9407130"/>
            <a:chOff x="0" y="0"/>
            <a:chExt cx="169362" cy="24775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9362" cy="2477598"/>
            </a:xfrm>
            <a:custGeom>
              <a:avLst/>
              <a:gdLst/>
              <a:ahLst/>
              <a:cxnLst/>
              <a:rect l="l" t="t" r="r" b="b"/>
              <a:pathLst>
                <a:path w="169362" h="2477598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2392917"/>
                  </a:lnTo>
                  <a:cubicBezTo>
                    <a:pt x="169362" y="2439685"/>
                    <a:pt x="131449" y="2477598"/>
                    <a:pt x="84681" y="2477598"/>
                  </a:cubicBezTo>
                  <a:lnTo>
                    <a:pt x="84681" y="2477598"/>
                  </a:lnTo>
                  <a:cubicBezTo>
                    <a:pt x="37913" y="2477598"/>
                    <a:pt x="0" y="2439685"/>
                    <a:pt x="0" y="239291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69362" cy="2525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884884" y="3132008"/>
            <a:ext cx="8259116" cy="6236822"/>
          </a:xfrm>
          <a:custGeom>
            <a:avLst/>
            <a:gdLst/>
            <a:ahLst/>
            <a:cxnLst/>
            <a:rect l="l" t="t" r="r" b="b"/>
            <a:pathLst>
              <a:path w="8259116" h="6236822">
                <a:moveTo>
                  <a:pt x="0" y="0"/>
                </a:moveTo>
                <a:lnTo>
                  <a:pt x="8259116" y="0"/>
                </a:lnTo>
                <a:lnTo>
                  <a:pt x="8259116" y="6236822"/>
                </a:lnTo>
                <a:lnTo>
                  <a:pt x="0" y="623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430843" y="3132008"/>
            <a:ext cx="7828457" cy="4175177"/>
          </a:xfrm>
          <a:custGeom>
            <a:avLst/>
            <a:gdLst/>
            <a:ahLst/>
            <a:cxnLst/>
            <a:rect l="l" t="t" r="r" b="b"/>
            <a:pathLst>
              <a:path w="7828457" h="4175177">
                <a:moveTo>
                  <a:pt x="0" y="0"/>
                </a:moveTo>
                <a:lnTo>
                  <a:pt x="7828457" y="0"/>
                </a:lnTo>
                <a:lnTo>
                  <a:pt x="7828457" y="4175177"/>
                </a:lnTo>
                <a:lnTo>
                  <a:pt x="0" y="4175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041524" y="7129114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3686" y="1824130"/>
            <a:ext cx="17714314" cy="970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8"/>
              </a:lnSpc>
            </a:pPr>
            <a:r>
              <a:rPr lang="en-US" sz="7462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PARTITIONS (MOLAP/HOLAP/ROLAP) &amp; INDEXING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14668" y="-3157079"/>
            <a:ext cx="15827806" cy="6707033"/>
          </a:xfrm>
          <a:custGeom>
            <a:avLst/>
            <a:gdLst/>
            <a:ahLst/>
            <a:cxnLst/>
            <a:rect l="l" t="t" r="r" b="b"/>
            <a:pathLst>
              <a:path w="15827806" h="6707033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120312" flipH="1">
            <a:off x="-2273262" y="8331539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009786" y="3371275"/>
            <a:ext cx="7249514" cy="2162610"/>
            <a:chOff x="0" y="0"/>
            <a:chExt cx="1909337" cy="56957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09337" cy="569576"/>
            </a:xfrm>
            <a:custGeom>
              <a:avLst/>
              <a:gdLst/>
              <a:ahLst/>
              <a:cxnLst/>
              <a:rect l="l" t="t" r="r" b="b"/>
              <a:pathLst>
                <a:path w="1909337" h="569576">
                  <a:moveTo>
                    <a:pt x="0" y="0"/>
                  </a:moveTo>
                  <a:lnTo>
                    <a:pt x="1909337" y="0"/>
                  </a:lnTo>
                  <a:lnTo>
                    <a:pt x="1909337" y="569576"/>
                  </a:lnTo>
                  <a:lnTo>
                    <a:pt x="0" y="569576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909337" cy="617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20468" y="2041336"/>
            <a:ext cx="7376109" cy="4822488"/>
          </a:xfrm>
          <a:custGeom>
            <a:avLst/>
            <a:gdLst/>
            <a:ahLst/>
            <a:cxnLst/>
            <a:rect l="l" t="t" r="r" b="b"/>
            <a:pathLst>
              <a:path w="7376109" h="4822488">
                <a:moveTo>
                  <a:pt x="0" y="0"/>
                </a:moveTo>
                <a:lnTo>
                  <a:pt x="7376109" y="0"/>
                </a:lnTo>
                <a:lnTo>
                  <a:pt x="7376109" y="4822488"/>
                </a:lnTo>
                <a:lnTo>
                  <a:pt x="0" y="4822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558" b="-6322"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0009786" y="6166803"/>
            <a:ext cx="7249514" cy="2516573"/>
            <a:chOff x="0" y="0"/>
            <a:chExt cx="1909337" cy="66280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09337" cy="662801"/>
            </a:xfrm>
            <a:custGeom>
              <a:avLst/>
              <a:gdLst/>
              <a:ahLst/>
              <a:cxnLst/>
              <a:rect l="l" t="t" r="r" b="b"/>
              <a:pathLst>
                <a:path w="1909337" h="662801">
                  <a:moveTo>
                    <a:pt x="0" y="0"/>
                  </a:moveTo>
                  <a:lnTo>
                    <a:pt x="1909337" y="0"/>
                  </a:lnTo>
                  <a:lnTo>
                    <a:pt x="1909337" y="662801"/>
                  </a:lnTo>
                  <a:lnTo>
                    <a:pt x="0" y="662801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909337" cy="7104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498821" y="7087435"/>
            <a:ext cx="7419404" cy="2483956"/>
          </a:xfrm>
          <a:custGeom>
            <a:avLst/>
            <a:gdLst/>
            <a:ahLst/>
            <a:cxnLst/>
            <a:rect l="l" t="t" r="r" b="b"/>
            <a:pathLst>
              <a:path w="7419404" h="2483956">
                <a:moveTo>
                  <a:pt x="0" y="0"/>
                </a:moveTo>
                <a:lnTo>
                  <a:pt x="7419404" y="0"/>
                </a:lnTo>
                <a:lnTo>
                  <a:pt x="7419404" y="2483956"/>
                </a:lnTo>
                <a:lnTo>
                  <a:pt x="0" y="2483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504" b="-30562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520468" y="386938"/>
            <a:ext cx="11008955" cy="1115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9"/>
              </a:lnSpc>
            </a:pPr>
            <a:r>
              <a:rPr lang="en-US" sz="8617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TRUY VẤN &amp; TỐI ƯU HÓA VẬT LÝ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29423" y="-247030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23926" y="3754171"/>
            <a:ext cx="6821235" cy="1389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7"/>
              </a:lnSpc>
              <a:spcBef>
                <a:spcPct val="0"/>
              </a:spcBef>
            </a:pPr>
            <a:r>
              <a:rPr lang="en-US" sz="267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Tối ưu SQL Server với Indexed Views (WITH SCHEMABINDING, NOEXPAND), Partitioning PartByYear và Columnstore Index.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23926" y="6291506"/>
            <a:ext cx="6821235" cy="1856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7"/>
              </a:lnSpc>
              <a:spcBef>
                <a:spcPct val="0"/>
              </a:spcBef>
            </a:pPr>
            <a:r>
              <a:rPr lang="en-US" sz="267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Tối ưu SSAS với Natural Hierarchies, AggregationUsage (Full, None, Unrestricted, Default) và Mondrian Aggregate Tables.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14668" y="-3157079"/>
            <a:ext cx="15827806" cy="6707033"/>
          </a:xfrm>
          <a:custGeom>
            <a:avLst/>
            <a:gdLst/>
            <a:ahLst/>
            <a:cxnLst/>
            <a:rect l="l" t="t" r="r" b="b"/>
            <a:pathLst>
              <a:path w="15827806" h="6707033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120312" flipH="1">
            <a:off x="-2273262" y="8331539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019060" y="8417648"/>
            <a:ext cx="12558960" cy="1521052"/>
            <a:chOff x="0" y="0"/>
            <a:chExt cx="3307710" cy="4006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07710" cy="400606"/>
            </a:xfrm>
            <a:custGeom>
              <a:avLst/>
              <a:gdLst/>
              <a:ahLst/>
              <a:cxnLst/>
              <a:rect l="l" t="t" r="r" b="b"/>
              <a:pathLst>
                <a:path w="3307710" h="400606">
                  <a:moveTo>
                    <a:pt x="0" y="0"/>
                  </a:moveTo>
                  <a:lnTo>
                    <a:pt x="3307710" y="0"/>
                  </a:lnTo>
                  <a:lnTo>
                    <a:pt x="3307710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3307710" cy="448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71593" y="2454493"/>
            <a:ext cx="8131920" cy="5253671"/>
          </a:xfrm>
          <a:custGeom>
            <a:avLst/>
            <a:gdLst/>
            <a:ahLst/>
            <a:cxnLst/>
            <a:rect l="l" t="t" r="r" b="b"/>
            <a:pathLst>
              <a:path w="8131920" h="5253671">
                <a:moveTo>
                  <a:pt x="0" y="0"/>
                </a:moveTo>
                <a:lnTo>
                  <a:pt x="8131920" y="0"/>
                </a:lnTo>
                <a:lnTo>
                  <a:pt x="8131920" y="5253671"/>
                </a:lnTo>
                <a:lnTo>
                  <a:pt x="0" y="52536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351945" y="5143500"/>
            <a:ext cx="7670244" cy="2564664"/>
          </a:xfrm>
          <a:custGeom>
            <a:avLst/>
            <a:gdLst/>
            <a:ahLst/>
            <a:cxnLst/>
            <a:rect l="l" t="t" r="r" b="b"/>
            <a:pathLst>
              <a:path w="7670244" h="2564664">
                <a:moveTo>
                  <a:pt x="0" y="0"/>
                </a:moveTo>
                <a:lnTo>
                  <a:pt x="7670244" y="0"/>
                </a:lnTo>
                <a:lnTo>
                  <a:pt x="7670244" y="2564664"/>
                </a:lnTo>
                <a:lnTo>
                  <a:pt x="0" y="25646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520468" y="498572"/>
            <a:ext cx="10186471" cy="100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7755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CÁC THAO TÁC OLAP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29423" y="-247030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51945" y="7519836"/>
            <a:ext cx="1354994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id="15" name="AutoShape 15"/>
          <p:cNvSpPr/>
          <p:nvPr/>
        </p:nvSpPr>
        <p:spPr>
          <a:xfrm>
            <a:off x="9904270" y="4228041"/>
            <a:ext cx="1802669" cy="6636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6" name="TextBox 16"/>
          <p:cNvSpPr txBox="1"/>
          <p:nvPr/>
        </p:nvSpPr>
        <p:spPr>
          <a:xfrm>
            <a:off x="10849517" y="3956578"/>
            <a:ext cx="1430417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Roll-up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56514" y="8663471"/>
            <a:ext cx="11275107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Tổng hợp doanh thu ròng (NetSalesAmount) từ cấp Thành phố (City) lên Quốc gia (Country) và Châu lục (Continent), hoặc từ SubCategory lên Category.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14668" y="-3157079"/>
            <a:ext cx="15827806" cy="6707033"/>
          </a:xfrm>
          <a:custGeom>
            <a:avLst/>
            <a:gdLst/>
            <a:ahLst/>
            <a:cxnLst/>
            <a:rect l="l" t="t" r="r" b="b"/>
            <a:pathLst>
              <a:path w="15827806" h="6707033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120312" flipH="1">
            <a:off x="-2273262" y="8331539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019060" y="2850985"/>
            <a:ext cx="7124940" cy="5777530"/>
          </a:xfrm>
          <a:custGeom>
            <a:avLst/>
            <a:gdLst/>
            <a:ahLst/>
            <a:cxnLst/>
            <a:rect l="l" t="t" r="r" b="b"/>
            <a:pathLst>
              <a:path w="7124940" h="5777530">
                <a:moveTo>
                  <a:pt x="0" y="0"/>
                </a:moveTo>
                <a:lnTo>
                  <a:pt x="7124940" y="0"/>
                </a:lnTo>
                <a:lnTo>
                  <a:pt x="7124940" y="5777530"/>
                </a:lnTo>
                <a:lnTo>
                  <a:pt x="0" y="57775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20468" y="772042"/>
            <a:ext cx="10339405" cy="1913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7"/>
              </a:lnSpc>
            </a:pPr>
            <a:r>
              <a:rPr lang="en-US" sz="7574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CÁC THAO TÁC OLAP</a:t>
            </a:r>
          </a:p>
          <a:p>
            <a:pPr algn="l">
              <a:lnSpc>
                <a:spcPts val="7347"/>
              </a:lnSpc>
            </a:pPr>
            <a:endParaRPr lang="en-US" sz="7574">
              <a:solidFill>
                <a:srgbClr val="343434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529423" y="-247030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39939" y="1914683"/>
            <a:ext cx="2169795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Drill-down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655324" y="4247091"/>
            <a:ext cx="7929712" cy="3239003"/>
            <a:chOff x="0" y="0"/>
            <a:chExt cx="10572950" cy="4318671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0572950" cy="4318671"/>
              <a:chOff x="0" y="0"/>
              <a:chExt cx="1952885" cy="79768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952885" cy="797683"/>
              </a:xfrm>
              <a:custGeom>
                <a:avLst/>
                <a:gdLst/>
                <a:ahLst/>
                <a:cxnLst/>
                <a:rect l="l" t="t" r="r" b="b"/>
                <a:pathLst>
                  <a:path w="1952885" h="797683">
                    <a:moveTo>
                      <a:pt x="0" y="0"/>
                    </a:moveTo>
                    <a:lnTo>
                      <a:pt x="1952885" y="0"/>
                    </a:lnTo>
                    <a:lnTo>
                      <a:pt x="1952885" y="797683"/>
                    </a:lnTo>
                    <a:lnTo>
                      <a:pt x="0" y="79768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1952885" cy="8453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360626" y="543552"/>
              <a:ext cx="9757319" cy="33749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91"/>
                </a:lnSpc>
                <a:spcBef>
                  <a:spcPct val="0"/>
                </a:spcBef>
              </a:pPr>
              <a:r>
                <a:rPr lang="en-US" sz="2922">
                  <a:solidFill>
                    <a:srgbClr val="F2F7F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Đi sâu phân tích doanh thu từ cấp Năm (Year) → Học kỳ (Semester) → Quý (Quarter) → Tháng (Month) để phát hiện tháng đạt đỉnh doanh thu (Peak Month).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14668" y="-3157079"/>
            <a:ext cx="15827806" cy="6707033"/>
          </a:xfrm>
          <a:custGeom>
            <a:avLst/>
            <a:gdLst/>
            <a:ahLst/>
            <a:cxnLst/>
            <a:rect l="l" t="t" r="r" b="b"/>
            <a:pathLst>
              <a:path w="15827806" h="6707033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120312" flipH="1">
            <a:off x="-2273262" y="8331539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036364" y="6808095"/>
            <a:ext cx="15222936" cy="3158131"/>
            <a:chOff x="0" y="0"/>
            <a:chExt cx="4009333" cy="8317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09333" cy="831771"/>
            </a:xfrm>
            <a:custGeom>
              <a:avLst/>
              <a:gdLst/>
              <a:ahLst/>
              <a:cxnLst/>
              <a:rect l="l" t="t" r="r" b="b"/>
              <a:pathLst>
                <a:path w="4009333" h="831771">
                  <a:moveTo>
                    <a:pt x="0" y="0"/>
                  </a:moveTo>
                  <a:lnTo>
                    <a:pt x="4009333" y="0"/>
                  </a:lnTo>
                  <a:lnTo>
                    <a:pt x="4009333" y="831771"/>
                  </a:lnTo>
                  <a:lnTo>
                    <a:pt x="0" y="831771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009333" cy="879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791048" y="2693334"/>
            <a:ext cx="11967221" cy="3694162"/>
          </a:xfrm>
          <a:custGeom>
            <a:avLst/>
            <a:gdLst/>
            <a:ahLst/>
            <a:cxnLst/>
            <a:rect l="l" t="t" r="r" b="b"/>
            <a:pathLst>
              <a:path w="11967221" h="3694162">
                <a:moveTo>
                  <a:pt x="0" y="0"/>
                </a:moveTo>
                <a:lnTo>
                  <a:pt x="11967221" y="0"/>
                </a:lnTo>
                <a:lnTo>
                  <a:pt x="11967221" y="3694162"/>
                </a:lnTo>
                <a:lnTo>
                  <a:pt x="0" y="36941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520468" y="518064"/>
            <a:ext cx="10810879" cy="203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61"/>
              </a:lnSpc>
            </a:pPr>
            <a:r>
              <a:rPr lang="en-US" sz="8104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CÁC THAO TÁC OLAP</a:t>
            </a:r>
          </a:p>
          <a:p>
            <a:pPr algn="l">
              <a:lnSpc>
                <a:spcPts val="7861"/>
              </a:lnSpc>
            </a:pPr>
            <a:endParaRPr lang="en-US" sz="8104">
              <a:solidFill>
                <a:srgbClr val="343434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529423" y="-247030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91048" y="1552356"/>
            <a:ext cx="966430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Slice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74263" y="7104192"/>
            <a:ext cx="14704124" cy="2724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Thao tác Slice cố định một giá trị trên một chiều, ví dụ WHERE ([Player].[Geography].[Country].&amp;[Germany]) hoặc [Purchase Date].[Calendar].[Year].&amp;[2025] để tập trung phân tích lát cắt thị trường cụ thể.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14668" y="-3157079"/>
            <a:ext cx="15827806" cy="6707033"/>
          </a:xfrm>
          <a:custGeom>
            <a:avLst/>
            <a:gdLst/>
            <a:ahLst/>
            <a:cxnLst/>
            <a:rect l="l" t="t" r="r" b="b"/>
            <a:pathLst>
              <a:path w="15827806" h="6707033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120312" flipH="1">
            <a:off x="-2273262" y="8331539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08865" y="-392510"/>
            <a:ext cx="1437565" cy="11072020"/>
            <a:chOff x="0" y="0"/>
            <a:chExt cx="378618" cy="29160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8618" cy="2916088"/>
            </a:xfrm>
            <a:custGeom>
              <a:avLst/>
              <a:gdLst/>
              <a:ahLst/>
              <a:cxnLst/>
              <a:rect l="l" t="t" r="r" b="b"/>
              <a:pathLst>
                <a:path w="378618" h="291608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378618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468841" y="7936352"/>
            <a:ext cx="14373020" cy="1897138"/>
            <a:chOff x="0" y="0"/>
            <a:chExt cx="3785487" cy="4996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85487" cy="499658"/>
            </a:xfrm>
            <a:custGeom>
              <a:avLst/>
              <a:gdLst/>
              <a:ahLst/>
              <a:cxnLst/>
              <a:rect l="l" t="t" r="r" b="b"/>
              <a:pathLst>
                <a:path w="3785487" h="499658">
                  <a:moveTo>
                    <a:pt x="0" y="0"/>
                  </a:moveTo>
                  <a:lnTo>
                    <a:pt x="3785487" y="0"/>
                  </a:lnTo>
                  <a:lnTo>
                    <a:pt x="3785487" y="499658"/>
                  </a:lnTo>
                  <a:lnTo>
                    <a:pt x="0" y="49965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3785487" cy="547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3268161" y="2207807"/>
            <a:ext cx="11137301" cy="5219216"/>
          </a:xfrm>
          <a:custGeom>
            <a:avLst/>
            <a:gdLst/>
            <a:ahLst/>
            <a:cxnLst/>
            <a:rect l="l" t="t" r="r" b="b"/>
            <a:pathLst>
              <a:path w="11137301" h="5219216">
                <a:moveTo>
                  <a:pt x="0" y="0"/>
                </a:moveTo>
                <a:lnTo>
                  <a:pt x="11137301" y="0"/>
                </a:lnTo>
                <a:lnTo>
                  <a:pt x="11137301" y="5219215"/>
                </a:lnTo>
                <a:lnTo>
                  <a:pt x="0" y="52192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520468" y="386938"/>
            <a:ext cx="11008955" cy="217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9"/>
              </a:lnSpc>
            </a:pPr>
            <a:r>
              <a:rPr lang="en-US" sz="8617">
                <a:solidFill>
                  <a:srgbClr val="343434"/>
                </a:solidFill>
                <a:latin typeface="Francois One"/>
                <a:ea typeface="Francois One"/>
                <a:cs typeface="Francois One"/>
                <a:sym typeface="Francois One"/>
              </a:rPr>
              <a:t>CÁC THAO TÁC OLAP</a:t>
            </a:r>
          </a:p>
          <a:p>
            <a:pPr algn="l">
              <a:lnSpc>
                <a:spcPts val="8359"/>
              </a:lnSpc>
            </a:pPr>
            <a:endParaRPr lang="en-US" sz="8617">
              <a:solidFill>
                <a:srgbClr val="343434"/>
              </a:solidFill>
              <a:latin typeface="Francois One"/>
              <a:ea typeface="Francois One"/>
              <a:cs typeface="Francois One"/>
              <a:sym typeface="Francois On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529423" y="-247030"/>
            <a:ext cx="7273548" cy="449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sz="34507" b="1" spc="-2760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37780" y="1712506"/>
            <a:ext cx="892135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Dice &amp; Drill-Across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29916" y="8155841"/>
            <a:ext cx="13436281" cy="1353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Lọc khối dữ liệu con theo nhiều điều kiện (Quốc gia thuộc Bắc Mỹ/Châu Á và Danh mục = AAA Action RPG &amp; Story Expansions) và Drill-Across kết hợp doanh thu bán Game với doanh thu Vật phẩm ảo.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89023" y="-2444319"/>
            <a:ext cx="12760102" cy="5407093"/>
          </a:xfrm>
          <a:custGeom>
            <a:avLst/>
            <a:gdLst/>
            <a:ahLst/>
            <a:cxnLst/>
            <a:rect l="l" t="t" r="r" b="b"/>
            <a:pathLst>
              <a:path w="12760102" h="5407093">
                <a:moveTo>
                  <a:pt x="12760103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3" y="5407093"/>
                </a:lnTo>
                <a:lnTo>
                  <a:pt x="1276010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581804" y="-392510"/>
            <a:ext cx="4872009" cy="11072020"/>
            <a:chOff x="0" y="0"/>
            <a:chExt cx="1283163" cy="29160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3163" cy="2916088"/>
            </a:xfrm>
            <a:custGeom>
              <a:avLst/>
              <a:gdLst/>
              <a:ahLst/>
              <a:cxnLst/>
              <a:rect l="l" t="t" r="r" b="b"/>
              <a:pathLst>
                <a:path w="1283163" h="2916088">
                  <a:moveTo>
                    <a:pt x="0" y="0"/>
                  </a:moveTo>
                  <a:lnTo>
                    <a:pt x="1283163" y="0"/>
                  </a:lnTo>
                  <a:lnTo>
                    <a:pt x="1283163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283163" cy="2963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846700"/>
            <a:ext cx="4928460" cy="18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68"/>
              </a:lnSpc>
            </a:pPr>
            <a:r>
              <a:rPr lang="en-US" sz="14400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MDX &amp; SQL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8530" y="6602812"/>
            <a:ext cx="753949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spc="76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Ý NGHĨA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5008" y="7550232"/>
            <a:ext cx="10258520" cy="1708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6903" lvl="1" indent="-278452" algn="l">
              <a:lnSpc>
                <a:spcPts val="3611"/>
              </a:lnSpc>
              <a:buFont typeface="Arial"/>
              <a:buChar char="•"/>
            </a:pPr>
            <a:r>
              <a:rPr lang="en-US" sz="2579" spc="128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Đối sánh 14 câu truy vấn MDX và 14 câu SQL/OLAP</a:t>
            </a:r>
          </a:p>
          <a:p>
            <a:pPr marL="556903" lvl="1" indent="-278452" algn="l">
              <a:lnSpc>
                <a:spcPts val="3611"/>
              </a:lnSpc>
              <a:buFont typeface="Arial"/>
              <a:buChar char="•"/>
            </a:pPr>
            <a:r>
              <a:rPr lang="en-US" sz="2579" spc="128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Khai thác Time Series (YTD, PARALLELPERIOD, Moving Avg)</a:t>
            </a:r>
          </a:p>
          <a:p>
            <a:pPr marL="556903" lvl="1" indent="-278452" algn="l">
              <a:lnSpc>
                <a:spcPts val="3611"/>
              </a:lnSpc>
              <a:buFont typeface="Arial"/>
              <a:buChar char="•"/>
            </a:pPr>
            <a:r>
              <a:rPr lang="en-US" sz="2579" spc="128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Xử lý Parent-Child (.DATAMEMBER) &amp; Many-to-Many</a:t>
            </a:r>
          </a:p>
          <a:p>
            <a:pPr algn="l">
              <a:lnSpc>
                <a:spcPts val="2858"/>
              </a:lnSpc>
              <a:spcBef>
                <a:spcPct val="0"/>
              </a:spcBef>
            </a:pPr>
            <a:endParaRPr lang="en-US" sz="2579" spc="128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11934" y="3920888"/>
            <a:ext cx="8890453" cy="221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6164" lvl="1" indent="-283082" algn="l">
              <a:lnSpc>
                <a:spcPts val="3671"/>
              </a:lnSpc>
              <a:buFont typeface="Arial"/>
              <a:buChar char="•"/>
            </a:pPr>
            <a:r>
              <a:rPr lang="en-US" sz="2622" spc="13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Phân tích chuỗi thời gian (YTD, YoY, LAG)</a:t>
            </a:r>
          </a:p>
          <a:p>
            <a:pPr marL="566164" lvl="1" indent="-283082" algn="l">
              <a:lnSpc>
                <a:spcPts val="3671"/>
              </a:lnSpc>
              <a:buFont typeface="Arial"/>
              <a:buChar char="•"/>
            </a:pPr>
            <a:r>
              <a:rPr lang="en-US" sz="2622" spc="13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Phân tích tỷ trọng địa lý (CURRENTMEMBER.PARENT)</a:t>
            </a:r>
          </a:p>
          <a:p>
            <a:pPr marL="566164" lvl="1" indent="-283082" algn="l">
              <a:lnSpc>
                <a:spcPts val="3671"/>
              </a:lnSpc>
              <a:buFont typeface="Arial"/>
              <a:buChar char="•"/>
            </a:pPr>
            <a:r>
              <a:rPr lang="en-US" sz="2622" spc="13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Phân tích Top 3 Countries vs Other Countries</a:t>
            </a:r>
          </a:p>
          <a:p>
            <a:pPr marL="566164" lvl="1" indent="-283082" algn="l">
              <a:lnSpc>
                <a:spcPts val="3671"/>
              </a:lnSpc>
              <a:buFont typeface="Arial"/>
              <a:buChar char="•"/>
            </a:pPr>
            <a:r>
              <a:rPr lang="en-US" sz="2622" spc="131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Truy vấn SQL ROLLUP, CUBE, GROUPING SETS, Window</a:t>
            </a:r>
          </a:p>
          <a:p>
            <a:pPr algn="l">
              <a:lnSpc>
                <a:spcPts val="3212"/>
              </a:lnSpc>
              <a:spcBef>
                <a:spcPct val="0"/>
              </a:spcBef>
            </a:pPr>
            <a:endParaRPr lang="en-US" sz="2622" spc="131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2905624"/>
            <a:ext cx="753949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spc="76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NHÓM TRUY VẤN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81419" y="236140"/>
            <a:ext cx="6072778" cy="375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6"/>
              </a:lnSpc>
            </a:pPr>
            <a:r>
              <a:rPr lang="en-US" sz="28810" b="1" spc="-2304">
                <a:solidFill>
                  <a:srgbClr val="F2F7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368446" y="601085"/>
            <a:ext cx="13063928" cy="1035567"/>
            <a:chOff x="0" y="0"/>
            <a:chExt cx="17418571" cy="138075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7418571" cy="1380755"/>
              <a:chOff x="0" y="0"/>
              <a:chExt cx="6021662" cy="47733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021662" cy="477332"/>
              </a:xfrm>
              <a:custGeom>
                <a:avLst/>
                <a:gdLst/>
                <a:ahLst/>
                <a:cxnLst/>
                <a:rect l="l" t="t" r="r" b="b"/>
                <a:pathLst>
                  <a:path w="6021662" h="477332">
                    <a:moveTo>
                      <a:pt x="18964" y="0"/>
                    </a:moveTo>
                    <a:lnTo>
                      <a:pt x="6002698" y="0"/>
                    </a:lnTo>
                    <a:cubicBezTo>
                      <a:pt x="6013172" y="0"/>
                      <a:pt x="6021662" y="8490"/>
                      <a:pt x="6021662" y="18964"/>
                    </a:cubicBezTo>
                    <a:lnTo>
                      <a:pt x="6021662" y="458368"/>
                    </a:lnTo>
                    <a:cubicBezTo>
                      <a:pt x="6021662" y="463398"/>
                      <a:pt x="6019664" y="468221"/>
                      <a:pt x="6016108" y="471778"/>
                    </a:cubicBezTo>
                    <a:cubicBezTo>
                      <a:pt x="6012552" y="475334"/>
                      <a:pt x="6007728" y="477332"/>
                      <a:pt x="6002698" y="477332"/>
                    </a:cubicBezTo>
                    <a:lnTo>
                      <a:pt x="18964" y="477332"/>
                    </a:lnTo>
                    <a:cubicBezTo>
                      <a:pt x="13934" y="477332"/>
                      <a:pt x="9111" y="475334"/>
                      <a:pt x="5554" y="471778"/>
                    </a:cubicBezTo>
                    <a:cubicBezTo>
                      <a:pt x="1998" y="468221"/>
                      <a:pt x="0" y="463398"/>
                      <a:pt x="0" y="458368"/>
                    </a:cubicBezTo>
                    <a:lnTo>
                      <a:pt x="0" y="18964"/>
                    </a:lnTo>
                    <a:cubicBezTo>
                      <a:pt x="0" y="13934"/>
                      <a:pt x="1998" y="9111"/>
                      <a:pt x="5554" y="5554"/>
                    </a:cubicBezTo>
                    <a:cubicBezTo>
                      <a:pt x="9111" y="1998"/>
                      <a:pt x="13934" y="0"/>
                      <a:pt x="1896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6021662" cy="5344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2048371" y="499410"/>
              <a:ext cx="13846092" cy="638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2"/>
                </a:lnSpc>
              </a:pPr>
              <a:r>
                <a:rPr lang="en-US" sz="3600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TỶ TRỌNG DOANH THU QUỐC GIA SO VỚI CHÂU LỤC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9" name="Freeform 9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1" name="Freeform 11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3" name="Freeform 13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5" name="Freeform 15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6" name="Freeform 16"/>
          <p:cNvSpPr/>
          <p:nvPr/>
        </p:nvSpPr>
        <p:spPr>
          <a:xfrm>
            <a:off x="4368446" y="2280914"/>
            <a:ext cx="13063928" cy="7240349"/>
          </a:xfrm>
          <a:custGeom>
            <a:avLst/>
            <a:gdLst/>
            <a:ahLst/>
            <a:cxnLst/>
            <a:rect l="l" t="t" r="r" b="b"/>
            <a:pathLst>
              <a:path w="13063928" h="7240349">
                <a:moveTo>
                  <a:pt x="0" y="0"/>
                </a:moveTo>
                <a:lnTo>
                  <a:pt x="13063928" y="0"/>
                </a:lnTo>
                <a:lnTo>
                  <a:pt x="13063928" y="7240348"/>
                </a:lnTo>
                <a:lnTo>
                  <a:pt x="0" y="7240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80013" y="3394615"/>
            <a:ext cx="3936390" cy="3266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Sử dụng CURRENTMEMBER / CURRENTMEMBER.PARENT và DESCENDANTS(..., SELF_AND_BEFORE)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l">
              <a:lnSpc>
                <a:spcPts val="3275"/>
              </a:lnSpc>
            </a:pPr>
            <a:endParaRPr lang="en-US" sz="2599" b="1">
              <a:solidFill>
                <a:srgbClr val="3434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Đối sánh với GROUP BY ROLLUP(ContinentName, CountryName, CityName) trong SQL/OLAP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l">
              <a:lnSpc>
                <a:spcPts val="3275"/>
              </a:lnSpc>
            </a:pPr>
            <a:endParaRPr lang="en-US" sz="2599" b="1">
              <a:solidFill>
                <a:srgbClr val="3434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Xử lý trơn tru các quốc gia khuyết cấp Bang qua COALESCE(st.CountryKey, ci.CountryKey)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</p:txBody>
      </p:sp>
      <p:sp>
        <p:nvSpPr>
          <p:cNvPr id="18" name="Freeform 18"/>
          <p:cNvSpPr/>
          <p:nvPr/>
        </p:nvSpPr>
        <p:spPr>
          <a:xfrm rot="-8410460">
            <a:off x="-2362813" y="7951956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735414" y="7100017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683215" y="495883"/>
            <a:ext cx="13063928" cy="1035567"/>
            <a:chOff x="0" y="0"/>
            <a:chExt cx="17418571" cy="138075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7418571" cy="1380755"/>
              <a:chOff x="0" y="0"/>
              <a:chExt cx="6021662" cy="47733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021662" cy="477332"/>
              </a:xfrm>
              <a:custGeom>
                <a:avLst/>
                <a:gdLst/>
                <a:ahLst/>
                <a:cxnLst/>
                <a:rect l="l" t="t" r="r" b="b"/>
                <a:pathLst>
                  <a:path w="6021662" h="477332">
                    <a:moveTo>
                      <a:pt x="18964" y="0"/>
                    </a:moveTo>
                    <a:lnTo>
                      <a:pt x="6002698" y="0"/>
                    </a:lnTo>
                    <a:cubicBezTo>
                      <a:pt x="6013172" y="0"/>
                      <a:pt x="6021662" y="8490"/>
                      <a:pt x="6021662" y="18964"/>
                    </a:cubicBezTo>
                    <a:lnTo>
                      <a:pt x="6021662" y="458368"/>
                    </a:lnTo>
                    <a:cubicBezTo>
                      <a:pt x="6021662" y="463398"/>
                      <a:pt x="6019664" y="468221"/>
                      <a:pt x="6016108" y="471778"/>
                    </a:cubicBezTo>
                    <a:cubicBezTo>
                      <a:pt x="6012552" y="475334"/>
                      <a:pt x="6007728" y="477332"/>
                      <a:pt x="6002698" y="477332"/>
                    </a:cubicBezTo>
                    <a:lnTo>
                      <a:pt x="18964" y="477332"/>
                    </a:lnTo>
                    <a:cubicBezTo>
                      <a:pt x="13934" y="477332"/>
                      <a:pt x="9111" y="475334"/>
                      <a:pt x="5554" y="471778"/>
                    </a:cubicBezTo>
                    <a:cubicBezTo>
                      <a:pt x="1998" y="468221"/>
                      <a:pt x="0" y="463398"/>
                      <a:pt x="0" y="458368"/>
                    </a:cubicBezTo>
                    <a:lnTo>
                      <a:pt x="0" y="18964"/>
                    </a:lnTo>
                    <a:cubicBezTo>
                      <a:pt x="0" y="13934"/>
                      <a:pt x="1998" y="9111"/>
                      <a:pt x="5554" y="5554"/>
                    </a:cubicBezTo>
                    <a:cubicBezTo>
                      <a:pt x="9111" y="1998"/>
                      <a:pt x="13934" y="0"/>
                      <a:pt x="1896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6021662" cy="5344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748594" y="413899"/>
              <a:ext cx="16430544" cy="638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2"/>
                </a:lnSpc>
              </a:pPr>
              <a:r>
                <a:rPr lang="en-US" sz="3600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PHÂN TÍCH CHUỖI THỜI GIAN: YO-Y, YTD &amp; MOVING AVERAGE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9" name="Freeform 9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1" name="Freeform 11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3" name="Freeform 13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5" name="Freeform 15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231320" y="4168973"/>
            <a:ext cx="4090311" cy="2856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MDX: Dùng PARALLELPERIOD, PREVMEMBER, PERIODSTODATE (YTD) và AVG(LAG(2):CURRENTMEMBER)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just">
              <a:lnSpc>
                <a:spcPts val="3275"/>
              </a:lnSpc>
            </a:pPr>
            <a:endParaRPr lang="en-US" sz="2599" b="1">
              <a:solidFill>
                <a:srgbClr val="3434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SQL/OLAP: Dùng Window Framing ROWS 2 PRECEDING và ROWS UNBOUNDED PRECEDING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id="17" name="Freeform 17"/>
          <p:cNvSpPr/>
          <p:nvPr/>
        </p:nvSpPr>
        <p:spPr>
          <a:xfrm rot="-8410460">
            <a:off x="-2362813" y="7951956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683215" y="2322110"/>
            <a:ext cx="13066850" cy="7241075"/>
          </a:xfrm>
          <a:custGeom>
            <a:avLst/>
            <a:gdLst/>
            <a:ahLst/>
            <a:cxnLst/>
            <a:rect l="l" t="t" r="r" b="b"/>
            <a:pathLst>
              <a:path w="13066850" h="7241075">
                <a:moveTo>
                  <a:pt x="0" y="0"/>
                </a:moveTo>
                <a:lnTo>
                  <a:pt x="13066850" y="0"/>
                </a:lnTo>
                <a:lnTo>
                  <a:pt x="13066850" y="7241075"/>
                </a:lnTo>
                <a:lnTo>
                  <a:pt x="0" y="7241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683215" y="495883"/>
            <a:ext cx="13063928" cy="1035567"/>
            <a:chOff x="0" y="0"/>
            <a:chExt cx="17418571" cy="138075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7418571" cy="1380755"/>
              <a:chOff x="0" y="0"/>
              <a:chExt cx="6021662" cy="47733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021662" cy="477332"/>
              </a:xfrm>
              <a:custGeom>
                <a:avLst/>
                <a:gdLst/>
                <a:ahLst/>
                <a:cxnLst/>
                <a:rect l="l" t="t" r="r" b="b"/>
                <a:pathLst>
                  <a:path w="6021662" h="477332">
                    <a:moveTo>
                      <a:pt x="18964" y="0"/>
                    </a:moveTo>
                    <a:lnTo>
                      <a:pt x="6002698" y="0"/>
                    </a:lnTo>
                    <a:cubicBezTo>
                      <a:pt x="6013172" y="0"/>
                      <a:pt x="6021662" y="8490"/>
                      <a:pt x="6021662" y="18964"/>
                    </a:cubicBezTo>
                    <a:lnTo>
                      <a:pt x="6021662" y="458368"/>
                    </a:lnTo>
                    <a:cubicBezTo>
                      <a:pt x="6021662" y="463398"/>
                      <a:pt x="6019664" y="468221"/>
                      <a:pt x="6016108" y="471778"/>
                    </a:cubicBezTo>
                    <a:cubicBezTo>
                      <a:pt x="6012552" y="475334"/>
                      <a:pt x="6007728" y="477332"/>
                      <a:pt x="6002698" y="477332"/>
                    </a:cubicBezTo>
                    <a:lnTo>
                      <a:pt x="18964" y="477332"/>
                    </a:lnTo>
                    <a:cubicBezTo>
                      <a:pt x="13934" y="477332"/>
                      <a:pt x="9111" y="475334"/>
                      <a:pt x="5554" y="471778"/>
                    </a:cubicBezTo>
                    <a:cubicBezTo>
                      <a:pt x="1998" y="468221"/>
                      <a:pt x="0" y="463398"/>
                      <a:pt x="0" y="458368"/>
                    </a:cubicBezTo>
                    <a:lnTo>
                      <a:pt x="0" y="18964"/>
                    </a:lnTo>
                    <a:cubicBezTo>
                      <a:pt x="0" y="13934"/>
                      <a:pt x="1998" y="9111"/>
                      <a:pt x="5554" y="5554"/>
                    </a:cubicBezTo>
                    <a:cubicBezTo>
                      <a:pt x="9111" y="1998"/>
                      <a:pt x="13934" y="0"/>
                      <a:pt x="1896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6021662" cy="5344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748594" y="413899"/>
              <a:ext cx="16430544" cy="638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2"/>
                </a:lnSpc>
              </a:pPr>
              <a:r>
                <a:rPr lang="en-US" sz="3600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SO SÁNH TOP 3 QUỐC GIA VỚI NHÓM CÒN LẠI (OTHER COUNTRIES)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3" name="Freeform 13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5" name="Freeform 15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308281" y="3840041"/>
            <a:ext cx="4090311" cy="3266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Sử dụng WITH SET [SetTop3Countries] AS TOPCOUNT(..., 3, [Gross Item Amount])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  <a:p>
            <a:pPr algn="just">
              <a:lnSpc>
                <a:spcPts val="3275"/>
              </a:lnSpc>
            </a:pPr>
            <a:endParaRPr lang="en-US" sz="2599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Gộp nhóm bằng AGGREGATE([SetTop3Countries]) và phép trừ tập hợp [All] - [Top 3 Countries]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just">
              <a:lnSpc>
                <a:spcPts val="3275"/>
              </a:lnSpc>
            </a:pPr>
            <a:endParaRPr lang="en-US" sz="2599" b="1">
              <a:solidFill>
                <a:srgbClr val="3434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Đánh giá mức độ tập trung doanh thu vật phẩm ảo (Skins, Passes, Keys) tại Mỹ, Hàn Quốc, Singapore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id="17" name="Freeform 17"/>
          <p:cNvSpPr/>
          <p:nvPr/>
        </p:nvSpPr>
        <p:spPr>
          <a:xfrm rot="-8410460">
            <a:off x="-2362813" y="7951956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683945" y="2150927"/>
            <a:ext cx="13065390" cy="7261294"/>
          </a:xfrm>
          <a:custGeom>
            <a:avLst/>
            <a:gdLst/>
            <a:ahLst/>
            <a:cxnLst/>
            <a:rect l="l" t="t" r="r" b="b"/>
            <a:pathLst>
              <a:path w="13065390" h="7261294">
                <a:moveTo>
                  <a:pt x="0" y="0"/>
                </a:moveTo>
                <a:lnTo>
                  <a:pt x="13065390" y="0"/>
                </a:lnTo>
                <a:lnTo>
                  <a:pt x="13065390" y="7261294"/>
                </a:lnTo>
                <a:lnTo>
                  <a:pt x="0" y="72612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274961" y="581655"/>
            <a:ext cx="13887771" cy="894091"/>
            <a:chOff x="0" y="0"/>
            <a:chExt cx="18517028" cy="1192121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8517028" cy="1192121"/>
              <a:chOff x="0" y="0"/>
              <a:chExt cx="6401403" cy="41212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401403" cy="412121"/>
              </a:xfrm>
              <a:custGeom>
                <a:avLst/>
                <a:gdLst/>
                <a:ahLst/>
                <a:cxnLst/>
                <a:rect l="l" t="t" r="r" b="b"/>
                <a:pathLst>
                  <a:path w="6401403" h="412121">
                    <a:moveTo>
                      <a:pt x="17839" y="0"/>
                    </a:moveTo>
                    <a:lnTo>
                      <a:pt x="6383564" y="0"/>
                    </a:lnTo>
                    <a:cubicBezTo>
                      <a:pt x="6393416" y="0"/>
                      <a:pt x="6401403" y="7987"/>
                      <a:pt x="6401403" y="17839"/>
                    </a:cubicBezTo>
                    <a:lnTo>
                      <a:pt x="6401403" y="394282"/>
                    </a:lnTo>
                    <a:cubicBezTo>
                      <a:pt x="6401403" y="404134"/>
                      <a:pt x="6393416" y="412121"/>
                      <a:pt x="6383564" y="412121"/>
                    </a:cubicBezTo>
                    <a:lnTo>
                      <a:pt x="17839" y="412121"/>
                    </a:lnTo>
                    <a:cubicBezTo>
                      <a:pt x="7987" y="412121"/>
                      <a:pt x="0" y="404134"/>
                      <a:pt x="0" y="394282"/>
                    </a:cubicBezTo>
                    <a:lnTo>
                      <a:pt x="0" y="17839"/>
                    </a:lnTo>
                    <a:cubicBezTo>
                      <a:pt x="0" y="7987"/>
                      <a:pt x="7987" y="0"/>
                      <a:pt x="17839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6401403" cy="4692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319582"/>
              <a:ext cx="18517028" cy="638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2"/>
                </a:lnSpc>
              </a:pPr>
              <a:r>
                <a:rPr lang="en-US" sz="3600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TRUY VẤN ĐỆ QUY PARENT-CHILD VỚI .DATAMEMBER &amp; CLOSURE TABLE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9" name="Freeform 9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1" name="Freeform 11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3" name="Freeform 13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5" name="Freeform 15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12822" y="4428458"/>
            <a:ext cx="4577728" cy="2037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MDX: Dùng [Publisher].[Studio Hierarchy].CURRENTMEMBER.DATAMEMBER tách doanh thu riêng của công ty mẹ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l">
              <a:lnSpc>
                <a:spcPts val="3275"/>
              </a:lnSpc>
            </a:pPr>
            <a:endParaRPr lang="en-US" sz="2599" b="1">
              <a:solidFill>
                <a:srgbClr val="3434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SQL: Kết bảng bao đóng DimPublisherClosure kiểm tra Distance = 0 so với tổng toàn cây con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</p:txBody>
      </p:sp>
      <p:sp>
        <p:nvSpPr>
          <p:cNvPr id="17" name="Freeform 17"/>
          <p:cNvSpPr/>
          <p:nvPr/>
        </p:nvSpPr>
        <p:spPr>
          <a:xfrm rot="-8410460">
            <a:off x="-2362813" y="7951956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690550" y="2308934"/>
            <a:ext cx="13056594" cy="7267427"/>
          </a:xfrm>
          <a:custGeom>
            <a:avLst/>
            <a:gdLst/>
            <a:ahLst/>
            <a:cxnLst/>
            <a:rect l="l" t="t" r="r" b="b"/>
            <a:pathLst>
              <a:path w="13056594" h="7267427">
                <a:moveTo>
                  <a:pt x="0" y="0"/>
                </a:moveTo>
                <a:lnTo>
                  <a:pt x="13056593" y="0"/>
                </a:lnTo>
                <a:lnTo>
                  <a:pt x="13056593" y="7267427"/>
                </a:lnTo>
                <a:lnTo>
                  <a:pt x="0" y="7267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193066" y="733996"/>
            <a:ext cx="13730919" cy="934993"/>
            <a:chOff x="0" y="0"/>
            <a:chExt cx="18307892" cy="1246658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8307892" cy="1246658"/>
              <a:chOff x="0" y="0"/>
              <a:chExt cx="6329104" cy="43097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29104" cy="430974"/>
              </a:xfrm>
              <a:custGeom>
                <a:avLst/>
                <a:gdLst/>
                <a:ahLst/>
                <a:cxnLst/>
                <a:rect l="l" t="t" r="r" b="b"/>
                <a:pathLst>
                  <a:path w="6329104" h="430974">
                    <a:moveTo>
                      <a:pt x="18043" y="0"/>
                    </a:moveTo>
                    <a:lnTo>
                      <a:pt x="6311061" y="0"/>
                    </a:lnTo>
                    <a:cubicBezTo>
                      <a:pt x="6315847" y="0"/>
                      <a:pt x="6320436" y="1901"/>
                      <a:pt x="6323819" y="5285"/>
                    </a:cubicBezTo>
                    <a:cubicBezTo>
                      <a:pt x="6327203" y="8668"/>
                      <a:pt x="6329104" y="13257"/>
                      <a:pt x="6329104" y="18043"/>
                    </a:cubicBezTo>
                    <a:lnTo>
                      <a:pt x="6329104" y="412931"/>
                    </a:lnTo>
                    <a:cubicBezTo>
                      <a:pt x="6329104" y="422896"/>
                      <a:pt x="6321026" y="430974"/>
                      <a:pt x="6311061" y="430974"/>
                    </a:cubicBezTo>
                    <a:lnTo>
                      <a:pt x="18043" y="430974"/>
                    </a:lnTo>
                    <a:cubicBezTo>
                      <a:pt x="8078" y="430974"/>
                      <a:pt x="0" y="422896"/>
                      <a:pt x="0" y="412931"/>
                    </a:cubicBezTo>
                    <a:lnTo>
                      <a:pt x="0" y="18043"/>
                    </a:lnTo>
                    <a:cubicBezTo>
                      <a:pt x="0" y="8078"/>
                      <a:pt x="8078" y="0"/>
                      <a:pt x="1804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6329104" cy="4881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381054"/>
              <a:ext cx="18307892" cy="638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2"/>
                </a:lnSpc>
              </a:pPr>
              <a:r>
                <a:rPr lang="en-US" sz="3600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PHÂN TÍCH ĐA THỂ LOẠI (MANY-TO-MANY) &amp; ACTIVE BUYERS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9" name="Freeform 9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1" name="Freeform 11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3" name="Freeform 13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5" name="Freeform 15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80013" y="3394615"/>
            <a:ext cx="3936390" cy="4495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Đếm số lượng người mua duy nhất (Active Buyers) bằng DISTINCTCOUNT và COUNT(..., EXCLUDEEMPTY)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l">
              <a:lnSpc>
                <a:spcPts val="3275"/>
              </a:lnSpc>
            </a:pPr>
            <a:endParaRPr lang="en-US" sz="2599" b="1">
              <a:solidFill>
                <a:srgbClr val="3434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Nhân doanh thu với trọng số WeightFactor trên bảng BridgeGameGenre để chống cộng trùng (Double-Counting)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l">
              <a:lnSpc>
                <a:spcPts val="3275"/>
              </a:lnSpc>
            </a:pPr>
            <a:endParaRPr lang="en-US" sz="2599" b="1">
              <a:solidFill>
                <a:srgbClr val="34343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So sánh doanh thu có trọng số và không trọng số giữa các thể loại Action RPG, Open World, Tactical Shooter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</p:txBody>
      </p:sp>
      <p:sp>
        <p:nvSpPr>
          <p:cNvPr id="17" name="Freeform 17"/>
          <p:cNvSpPr/>
          <p:nvPr/>
        </p:nvSpPr>
        <p:spPr>
          <a:xfrm rot="-8410460">
            <a:off x="-2362813" y="7951956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8" y="0"/>
                </a:lnTo>
                <a:lnTo>
                  <a:pt x="11976398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524371" y="2315760"/>
            <a:ext cx="13068308" cy="7253774"/>
          </a:xfrm>
          <a:custGeom>
            <a:avLst/>
            <a:gdLst/>
            <a:ahLst/>
            <a:cxnLst/>
            <a:rect l="l" t="t" r="r" b="b"/>
            <a:pathLst>
              <a:path w="13068308" h="7253774">
                <a:moveTo>
                  <a:pt x="0" y="0"/>
                </a:moveTo>
                <a:lnTo>
                  <a:pt x="13068308" y="0"/>
                </a:lnTo>
                <a:lnTo>
                  <a:pt x="13068308" y="7253775"/>
                </a:lnTo>
                <a:lnTo>
                  <a:pt x="0" y="7253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54536" y="432233"/>
            <a:ext cx="8427701" cy="757066"/>
            <a:chOff x="0" y="0"/>
            <a:chExt cx="11236935" cy="100942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1236935" cy="1009422"/>
              <a:chOff x="0" y="0"/>
              <a:chExt cx="3884649" cy="34896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884649" cy="348961"/>
              </a:xfrm>
              <a:custGeom>
                <a:avLst/>
                <a:gdLst/>
                <a:ahLst/>
                <a:cxnLst/>
                <a:rect l="l" t="t" r="r" b="b"/>
                <a:pathLst>
                  <a:path w="3884649" h="348961">
                    <a:moveTo>
                      <a:pt x="29396" y="0"/>
                    </a:moveTo>
                    <a:lnTo>
                      <a:pt x="3855253" y="0"/>
                    </a:lnTo>
                    <a:cubicBezTo>
                      <a:pt x="3871488" y="0"/>
                      <a:pt x="3884649" y="13161"/>
                      <a:pt x="3884649" y="29396"/>
                    </a:cubicBezTo>
                    <a:lnTo>
                      <a:pt x="3884649" y="319565"/>
                    </a:lnTo>
                    <a:cubicBezTo>
                      <a:pt x="3884649" y="335800"/>
                      <a:pt x="3871488" y="348961"/>
                      <a:pt x="3855253" y="348961"/>
                    </a:cubicBezTo>
                    <a:lnTo>
                      <a:pt x="29396" y="348961"/>
                    </a:lnTo>
                    <a:cubicBezTo>
                      <a:pt x="13161" y="348961"/>
                      <a:pt x="0" y="335800"/>
                      <a:pt x="0" y="319565"/>
                    </a:cubicBezTo>
                    <a:lnTo>
                      <a:pt x="0" y="29396"/>
                    </a:lnTo>
                    <a:cubicBezTo>
                      <a:pt x="0" y="13161"/>
                      <a:pt x="13161" y="0"/>
                      <a:pt x="2939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3884649" cy="4061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352479"/>
              <a:ext cx="11236935" cy="4300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2400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TÌM THÁNG ĐẠT ĐỈNH DOANH THU (PEAK MONTH)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9" name="Freeform 9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1" name="Freeform 11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3" name="Freeform 13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5" name="Freeform 15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6" name="Freeform 16"/>
          <p:cNvSpPr/>
          <p:nvPr/>
        </p:nvSpPr>
        <p:spPr>
          <a:xfrm rot="-8410460">
            <a:off x="-2260200" y="7951956"/>
            <a:ext cx="11976399" cy="7170869"/>
          </a:xfrm>
          <a:custGeom>
            <a:avLst/>
            <a:gdLst/>
            <a:ahLst/>
            <a:cxnLst/>
            <a:rect l="l" t="t" r="r" b="b"/>
            <a:pathLst>
              <a:path w="11976399" h="7170869">
                <a:moveTo>
                  <a:pt x="0" y="0"/>
                </a:moveTo>
                <a:lnTo>
                  <a:pt x="11976399" y="0"/>
                </a:lnTo>
                <a:lnTo>
                  <a:pt x="11976399" y="7170868"/>
                </a:lnTo>
                <a:lnTo>
                  <a:pt x="0" y="717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534735" y="1880036"/>
            <a:ext cx="8447461" cy="4736100"/>
          </a:xfrm>
          <a:custGeom>
            <a:avLst/>
            <a:gdLst/>
            <a:ahLst/>
            <a:cxnLst/>
            <a:rect l="l" t="t" r="r" b="b"/>
            <a:pathLst>
              <a:path w="8447461" h="4736100">
                <a:moveTo>
                  <a:pt x="0" y="0"/>
                </a:moveTo>
                <a:lnTo>
                  <a:pt x="8447460" y="0"/>
                </a:lnTo>
                <a:lnTo>
                  <a:pt x="8447460" y="4736100"/>
                </a:lnTo>
                <a:lnTo>
                  <a:pt x="0" y="4736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9692579" y="439941"/>
            <a:ext cx="8289616" cy="757066"/>
            <a:chOff x="0" y="0"/>
            <a:chExt cx="11052822" cy="1009422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11052822" cy="1009422"/>
              <a:chOff x="0" y="0"/>
              <a:chExt cx="3821000" cy="34896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821000" cy="348961"/>
              </a:xfrm>
              <a:custGeom>
                <a:avLst/>
                <a:gdLst/>
                <a:ahLst/>
                <a:cxnLst/>
                <a:rect l="l" t="t" r="r" b="b"/>
                <a:pathLst>
                  <a:path w="3821000" h="348961">
                    <a:moveTo>
                      <a:pt x="29886" y="0"/>
                    </a:moveTo>
                    <a:lnTo>
                      <a:pt x="3791114" y="0"/>
                    </a:lnTo>
                    <a:cubicBezTo>
                      <a:pt x="3799041" y="0"/>
                      <a:pt x="3806642" y="3149"/>
                      <a:pt x="3812247" y="8753"/>
                    </a:cubicBezTo>
                    <a:cubicBezTo>
                      <a:pt x="3817851" y="14358"/>
                      <a:pt x="3821000" y="21960"/>
                      <a:pt x="3821000" y="29886"/>
                    </a:cubicBezTo>
                    <a:lnTo>
                      <a:pt x="3821000" y="319075"/>
                    </a:lnTo>
                    <a:cubicBezTo>
                      <a:pt x="3821000" y="327001"/>
                      <a:pt x="3817851" y="334603"/>
                      <a:pt x="3812247" y="340207"/>
                    </a:cubicBezTo>
                    <a:cubicBezTo>
                      <a:pt x="3806642" y="345812"/>
                      <a:pt x="3799041" y="348961"/>
                      <a:pt x="3791114" y="348961"/>
                    </a:cubicBezTo>
                    <a:lnTo>
                      <a:pt x="29886" y="348961"/>
                    </a:lnTo>
                    <a:cubicBezTo>
                      <a:pt x="21960" y="348961"/>
                      <a:pt x="14358" y="345812"/>
                      <a:pt x="8753" y="340207"/>
                    </a:cubicBezTo>
                    <a:cubicBezTo>
                      <a:pt x="3149" y="334603"/>
                      <a:pt x="0" y="327001"/>
                      <a:pt x="0" y="319075"/>
                    </a:cubicBezTo>
                    <a:lnTo>
                      <a:pt x="0" y="29886"/>
                    </a:lnTo>
                    <a:cubicBezTo>
                      <a:pt x="0" y="21960"/>
                      <a:pt x="3149" y="14358"/>
                      <a:pt x="8753" y="8753"/>
                    </a:cubicBezTo>
                    <a:cubicBezTo>
                      <a:pt x="14358" y="3149"/>
                      <a:pt x="21960" y="0"/>
                      <a:pt x="29886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57150"/>
                <a:ext cx="3821000" cy="4061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0" y="352479"/>
              <a:ext cx="11052822" cy="4300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8"/>
                </a:lnSpc>
              </a:pPr>
              <a:r>
                <a:rPr lang="en-US" sz="2400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LỌC NGƯỜI CHƠI CÓ BIÊN LỢI NHUẬN THẤP HƠN THÀNH PHỐ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201131" y="1880036"/>
            <a:ext cx="8670206" cy="4736100"/>
          </a:xfrm>
          <a:custGeom>
            <a:avLst/>
            <a:gdLst/>
            <a:ahLst/>
            <a:cxnLst/>
            <a:rect l="l" t="t" r="r" b="b"/>
            <a:pathLst>
              <a:path w="8670206" h="4736100">
                <a:moveTo>
                  <a:pt x="0" y="0"/>
                </a:moveTo>
                <a:lnTo>
                  <a:pt x="8670206" y="0"/>
                </a:lnTo>
                <a:lnTo>
                  <a:pt x="8670206" y="4736100"/>
                </a:lnTo>
                <a:lnTo>
                  <a:pt x="0" y="47361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2352236" y="8502968"/>
            <a:ext cx="14364998" cy="1016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0"/>
              </a:lnSpc>
            </a:pPr>
            <a:r>
              <a:rPr lang="en-US" sz="3254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Chuỗi phân tích chuyên sâu: Slicing → Relative Navigation → Time Series → Top/Bottom Set → Parent-Child → Drill-Across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4536" y="6954012"/>
            <a:ext cx="8607276" cy="808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Dùng TOPCOUNT(DESCENDANTS(Year, Month), 1, [Net Sales]).ITEM(0).NAME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Xác định chính xác tháng bùng nổ doanh số của từng danh mục tại từng quốc gia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34735" y="6894004"/>
            <a:ext cx="8607276" cy="1628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Dùng hàm FILTER(NONEMPTY(Player.MEMBERS), [Net Margin %] &lt; [City Margin %])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</a:p>
          <a:p>
            <a:pPr algn="l">
              <a:lnSpc>
                <a:spcPts val="3275"/>
              </a:lnSpc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Phát hiện các tài khoản lạm dụng chiết khấu hoặc hoàn tiền cao hơn mức trung bình của thành phố</a:t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n-US" sz="259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/>
            </a: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</a:p>
          <a:p>
            <a:pPr algn="l">
              <a:lnSpc>
                <a:spcPts val="3275"/>
              </a:lnSpc>
            </a:pPr>
            <a:endParaRPr lang="en-US" sz="2599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03339">
            <a:off x="-6483411" y="2098439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651384" y="337307"/>
            <a:ext cx="6932714" cy="1205804"/>
            <a:chOff x="0" y="0"/>
            <a:chExt cx="9243619" cy="160773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243619" cy="1607739"/>
              <a:chOff x="0" y="0"/>
              <a:chExt cx="3195552" cy="5558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195552" cy="555801"/>
              </a:xfrm>
              <a:custGeom>
                <a:avLst/>
                <a:gdLst/>
                <a:ahLst/>
                <a:cxnLst/>
                <a:rect l="l" t="t" r="r" b="b"/>
                <a:pathLst>
                  <a:path w="3195552" h="555801">
                    <a:moveTo>
                      <a:pt x="35735" y="0"/>
                    </a:moveTo>
                    <a:lnTo>
                      <a:pt x="3159817" y="0"/>
                    </a:lnTo>
                    <a:cubicBezTo>
                      <a:pt x="3179553" y="0"/>
                      <a:pt x="3195552" y="15999"/>
                      <a:pt x="3195552" y="35735"/>
                    </a:cubicBezTo>
                    <a:lnTo>
                      <a:pt x="3195552" y="520066"/>
                    </a:lnTo>
                    <a:cubicBezTo>
                      <a:pt x="3195552" y="529543"/>
                      <a:pt x="3191787" y="538633"/>
                      <a:pt x="3185086" y="545334"/>
                    </a:cubicBezTo>
                    <a:cubicBezTo>
                      <a:pt x="3178384" y="552036"/>
                      <a:pt x="3169295" y="555801"/>
                      <a:pt x="3159817" y="555801"/>
                    </a:cubicBezTo>
                    <a:lnTo>
                      <a:pt x="35735" y="555801"/>
                    </a:lnTo>
                    <a:cubicBezTo>
                      <a:pt x="26258" y="555801"/>
                      <a:pt x="17168" y="552036"/>
                      <a:pt x="10467" y="545334"/>
                    </a:cubicBezTo>
                    <a:cubicBezTo>
                      <a:pt x="3765" y="538633"/>
                      <a:pt x="0" y="529543"/>
                      <a:pt x="0" y="520066"/>
                    </a:cubicBezTo>
                    <a:lnTo>
                      <a:pt x="0" y="35735"/>
                    </a:lnTo>
                    <a:cubicBezTo>
                      <a:pt x="0" y="26258"/>
                      <a:pt x="3765" y="17168"/>
                      <a:pt x="10467" y="10467"/>
                    </a:cubicBezTo>
                    <a:cubicBezTo>
                      <a:pt x="17168" y="3765"/>
                      <a:pt x="26258" y="0"/>
                      <a:pt x="3573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3195552" cy="6129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611634" y="533148"/>
              <a:ext cx="6403811" cy="8917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2"/>
                </a:lnSpc>
              </a:pPr>
              <a:r>
                <a:rPr lang="en-US" sz="49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DASHBOARD TỔNG QUAN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0" name="Freeform 10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2" name="Freeform 12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4" name="Freeform 14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6" name="Freeform 16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4046438" y="1867601"/>
            <a:ext cx="13071972" cy="7271284"/>
          </a:xfrm>
          <a:custGeom>
            <a:avLst/>
            <a:gdLst/>
            <a:ahLst/>
            <a:cxnLst/>
            <a:rect l="l" t="t" r="r" b="b"/>
            <a:pathLst>
              <a:path w="13071972" h="7271284">
                <a:moveTo>
                  <a:pt x="0" y="0"/>
                </a:moveTo>
                <a:lnTo>
                  <a:pt x="13071972" y="0"/>
                </a:lnTo>
                <a:lnTo>
                  <a:pt x="13071972" y="7271285"/>
                </a:lnTo>
                <a:lnTo>
                  <a:pt x="0" y="7271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89106" y="3394615"/>
            <a:ext cx="3342496" cy="5314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275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Tổng giao dịch: 10.000+ dòng | Tỷ lệ Net Margin: ~91,5%</a:t>
            </a:r>
          </a:p>
          <a:p>
            <a:pPr algn="l">
              <a:lnSpc>
                <a:spcPts val="3275"/>
              </a:lnSpc>
            </a:pPr>
            <a:endParaRPr lang="en-US" sz="2599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275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Mảng In-Game Items (Skins/Passes/Keys) có biên lợi nhuận vượt trội</a:t>
            </a:r>
          </a:p>
          <a:p>
            <a:pPr algn="l">
              <a:lnSpc>
                <a:spcPts val="3275"/>
              </a:lnSpc>
            </a:pPr>
            <a:endParaRPr lang="en-US" sz="2599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275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Doanh thu tăng trưởng mạnh vào Quý 4 và các đợt phát hành DLC lớn</a:t>
            </a:r>
          </a:p>
          <a:p>
            <a:pPr algn="l">
              <a:lnSpc>
                <a:spcPts val="3275"/>
              </a:lnSpc>
            </a:pPr>
            <a:endParaRPr lang="en-US" sz="2599">
              <a:solidFill>
                <a:srgbClr val="34343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275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Khuyến nghị đẩy mạnh mô hình Live-Ops &amp; Battle Pass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03339">
            <a:off x="-6483411" y="2098439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651384" y="337307"/>
            <a:ext cx="6932714" cy="1205804"/>
            <a:chOff x="0" y="0"/>
            <a:chExt cx="9243619" cy="160773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243619" cy="1607739"/>
              <a:chOff x="0" y="0"/>
              <a:chExt cx="3195552" cy="5558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195552" cy="555801"/>
              </a:xfrm>
              <a:custGeom>
                <a:avLst/>
                <a:gdLst/>
                <a:ahLst/>
                <a:cxnLst/>
                <a:rect l="l" t="t" r="r" b="b"/>
                <a:pathLst>
                  <a:path w="3195552" h="555801">
                    <a:moveTo>
                      <a:pt x="35735" y="0"/>
                    </a:moveTo>
                    <a:lnTo>
                      <a:pt x="3159817" y="0"/>
                    </a:lnTo>
                    <a:cubicBezTo>
                      <a:pt x="3179553" y="0"/>
                      <a:pt x="3195552" y="15999"/>
                      <a:pt x="3195552" y="35735"/>
                    </a:cubicBezTo>
                    <a:lnTo>
                      <a:pt x="3195552" y="520066"/>
                    </a:lnTo>
                    <a:cubicBezTo>
                      <a:pt x="3195552" y="529543"/>
                      <a:pt x="3191787" y="538633"/>
                      <a:pt x="3185086" y="545334"/>
                    </a:cubicBezTo>
                    <a:cubicBezTo>
                      <a:pt x="3178384" y="552036"/>
                      <a:pt x="3169295" y="555801"/>
                      <a:pt x="3159817" y="555801"/>
                    </a:cubicBezTo>
                    <a:lnTo>
                      <a:pt x="35735" y="555801"/>
                    </a:lnTo>
                    <a:cubicBezTo>
                      <a:pt x="26258" y="555801"/>
                      <a:pt x="17168" y="552036"/>
                      <a:pt x="10467" y="545334"/>
                    </a:cubicBezTo>
                    <a:cubicBezTo>
                      <a:pt x="3765" y="538633"/>
                      <a:pt x="0" y="529543"/>
                      <a:pt x="0" y="520066"/>
                    </a:cubicBezTo>
                    <a:lnTo>
                      <a:pt x="0" y="35735"/>
                    </a:lnTo>
                    <a:cubicBezTo>
                      <a:pt x="0" y="26258"/>
                      <a:pt x="3765" y="17168"/>
                      <a:pt x="10467" y="10467"/>
                    </a:cubicBezTo>
                    <a:cubicBezTo>
                      <a:pt x="17168" y="3765"/>
                      <a:pt x="26258" y="0"/>
                      <a:pt x="3573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3195552" cy="6129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611634" y="533148"/>
              <a:ext cx="6403811" cy="8917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2"/>
                </a:lnSpc>
              </a:pPr>
              <a:r>
                <a:rPr lang="en-US" sz="49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DASHBOARD THỜI GIAN &amp; ĐỊA LÝ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0" name="Freeform 10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2" name="Freeform 12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4" name="Freeform 14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6" name="Freeform 16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1741395" y="2118821"/>
            <a:ext cx="7008836" cy="5464031"/>
          </a:xfrm>
          <a:custGeom>
            <a:avLst/>
            <a:gdLst/>
            <a:ahLst/>
            <a:cxnLst/>
            <a:rect l="l" t="t" r="r" b="b"/>
            <a:pathLst>
              <a:path w="7008836" h="5464031">
                <a:moveTo>
                  <a:pt x="0" y="0"/>
                </a:moveTo>
                <a:lnTo>
                  <a:pt x="7008837" y="0"/>
                </a:lnTo>
                <a:lnTo>
                  <a:pt x="7008837" y="5464032"/>
                </a:lnTo>
                <a:lnTo>
                  <a:pt x="0" y="54640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719251" y="2118821"/>
            <a:ext cx="7054357" cy="5456329"/>
          </a:xfrm>
          <a:custGeom>
            <a:avLst/>
            <a:gdLst/>
            <a:ahLst/>
            <a:cxnLst/>
            <a:rect l="l" t="t" r="r" b="b"/>
            <a:pathLst>
              <a:path w="7054357" h="5456329">
                <a:moveTo>
                  <a:pt x="0" y="0"/>
                </a:moveTo>
                <a:lnTo>
                  <a:pt x="7054357" y="0"/>
                </a:lnTo>
                <a:lnTo>
                  <a:pt x="7054357" y="5456329"/>
                </a:lnTo>
                <a:lnTo>
                  <a:pt x="0" y="54563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28700" y="7946687"/>
            <a:ext cx="8489156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Doanh thu tăng đều qua 3 phân vùng Sales_2024, Sales_2025, Sales_2026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Trung bình trượt 3 tháng (MovAvg) phản ánh chu kỳ mùa vụ rõ rệt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19251" y="7946687"/>
            <a:ext cx="7242691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Bắc Mỹ và Châu Á (Việt Nam, Singapore, Hàn Quốc) dẫn đầu doanh số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Thị trường Châu Á chiếm tỷ trọng cao nhất ở mảng Vật phẩm ảo CS2 &amp; Dota 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03339">
            <a:off x="-6483411" y="2098439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651384" y="337307"/>
            <a:ext cx="6932714" cy="1205804"/>
            <a:chOff x="0" y="0"/>
            <a:chExt cx="9243619" cy="160773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243619" cy="1607739"/>
              <a:chOff x="0" y="0"/>
              <a:chExt cx="3195552" cy="5558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195552" cy="555801"/>
              </a:xfrm>
              <a:custGeom>
                <a:avLst/>
                <a:gdLst/>
                <a:ahLst/>
                <a:cxnLst/>
                <a:rect l="l" t="t" r="r" b="b"/>
                <a:pathLst>
                  <a:path w="3195552" h="555801">
                    <a:moveTo>
                      <a:pt x="35735" y="0"/>
                    </a:moveTo>
                    <a:lnTo>
                      <a:pt x="3159817" y="0"/>
                    </a:lnTo>
                    <a:cubicBezTo>
                      <a:pt x="3179553" y="0"/>
                      <a:pt x="3195552" y="15999"/>
                      <a:pt x="3195552" y="35735"/>
                    </a:cubicBezTo>
                    <a:lnTo>
                      <a:pt x="3195552" y="520066"/>
                    </a:lnTo>
                    <a:cubicBezTo>
                      <a:pt x="3195552" y="529543"/>
                      <a:pt x="3191787" y="538633"/>
                      <a:pt x="3185086" y="545334"/>
                    </a:cubicBezTo>
                    <a:cubicBezTo>
                      <a:pt x="3178384" y="552036"/>
                      <a:pt x="3169295" y="555801"/>
                      <a:pt x="3159817" y="555801"/>
                    </a:cubicBezTo>
                    <a:lnTo>
                      <a:pt x="35735" y="555801"/>
                    </a:lnTo>
                    <a:cubicBezTo>
                      <a:pt x="26258" y="555801"/>
                      <a:pt x="17168" y="552036"/>
                      <a:pt x="10467" y="545334"/>
                    </a:cubicBezTo>
                    <a:cubicBezTo>
                      <a:pt x="3765" y="538633"/>
                      <a:pt x="0" y="529543"/>
                      <a:pt x="0" y="520066"/>
                    </a:cubicBezTo>
                    <a:lnTo>
                      <a:pt x="0" y="35735"/>
                    </a:lnTo>
                    <a:cubicBezTo>
                      <a:pt x="0" y="26258"/>
                      <a:pt x="3765" y="17168"/>
                      <a:pt x="10467" y="10467"/>
                    </a:cubicBezTo>
                    <a:cubicBezTo>
                      <a:pt x="17168" y="3765"/>
                      <a:pt x="26258" y="0"/>
                      <a:pt x="3573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3195552" cy="6129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611634" y="533148"/>
              <a:ext cx="6403811" cy="8917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2"/>
                </a:lnSpc>
              </a:pPr>
              <a:r>
                <a:rPr lang="en-US" sz="49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DASHBOARD DANH MỤC &amp; VIP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0" name="Freeform 10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2" name="Freeform 12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4" name="Freeform 14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6" name="Freeform 16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1879271" y="2061372"/>
            <a:ext cx="6881597" cy="5456329"/>
          </a:xfrm>
          <a:custGeom>
            <a:avLst/>
            <a:gdLst/>
            <a:ahLst/>
            <a:cxnLst/>
            <a:rect l="l" t="t" r="r" b="b"/>
            <a:pathLst>
              <a:path w="6881597" h="5456329">
                <a:moveTo>
                  <a:pt x="0" y="0"/>
                </a:moveTo>
                <a:lnTo>
                  <a:pt x="6881597" y="0"/>
                </a:lnTo>
                <a:lnTo>
                  <a:pt x="6881597" y="5456330"/>
                </a:lnTo>
                <a:lnTo>
                  <a:pt x="0" y="5456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805894" y="2129341"/>
            <a:ext cx="6634744" cy="5323530"/>
          </a:xfrm>
          <a:custGeom>
            <a:avLst/>
            <a:gdLst/>
            <a:ahLst/>
            <a:cxnLst/>
            <a:rect l="l" t="t" r="r" b="b"/>
            <a:pathLst>
              <a:path w="6634744" h="5323530">
                <a:moveTo>
                  <a:pt x="0" y="0"/>
                </a:moveTo>
                <a:lnTo>
                  <a:pt x="6634744" y="0"/>
                </a:lnTo>
                <a:lnTo>
                  <a:pt x="6634744" y="5323529"/>
                </a:lnTo>
                <a:lnTo>
                  <a:pt x="0" y="5323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547CAA"/>
            </a:solidFill>
            <a:prstDash val="solid"/>
            <a:miter/>
          </a:ln>
        </p:spPr>
      </p:sp>
      <p:sp>
        <p:nvSpPr>
          <p:cNvPr id="20" name="TextBox 20"/>
          <p:cNvSpPr txBox="1"/>
          <p:nvPr/>
        </p:nvSpPr>
        <p:spPr>
          <a:xfrm>
            <a:off x="652338" y="7991475"/>
            <a:ext cx="8645962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AAA Action RPG (Diablo IV, Elden Ring, Cyberpunk) dẫn đầu doanh thu bán Game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Cosmetic Skins (Karambit Sapphire, AK-47 Gold Arabesque) dẫn đầu giá trị đơn hàng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42521" y="7991475"/>
            <a:ext cx="8106489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Nhóm khách hàng Diamond &amp; Platinum (Whales) đóng góp &gt;65% doanh thu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Theo dõi SCD Type 2/6 cho thấy hiệu quả rõ rệt khi người chơi nâng hạng từ Gold lên Diamond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03339">
            <a:off x="-6483411" y="2098439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677643" y="572213"/>
            <a:ext cx="6932714" cy="1205804"/>
            <a:chOff x="0" y="0"/>
            <a:chExt cx="9243619" cy="160773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243619" cy="1607739"/>
              <a:chOff x="0" y="0"/>
              <a:chExt cx="3195552" cy="5558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195552" cy="555801"/>
              </a:xfrm>
              <a:custGeom>
                <a:avLst/>
                <a:gdLst/>
                <a:ahLst/>
                <a:cxnLst/>
                <a:rect l="l" t="t" r="r" b="b"/>
                <a:pathLst>
                  <a:path w="3195552" h="555801">
                    <a:moveTo>
                      <a:pt x="35735" y="0"/>
                    </a:moveTo>
                    <a:lnTo>
                      <a:pt x="3159817" y="0"/>
                    </a:lnTo>
                    <a:cubicBezTo>
                      <a:pt x="3179553" y="0"/>
                      <a:pt x="3195552" y="15999"/>
                      <a:pt x="3195552" y="35735"/>
                    </a:cubicBezTo>
                    <a:lnTo>
                      <a:pt x="3195552" y="520066"/>
                    </a:lnTo>
                    <a:cubicBezTo>
                      <a:pt x="3195552" y="529543"/>
                      <a:pt x="3191787" y="538633"/>
                      <a:pt x="3185086" y="545334"/>
                    </a:cubicBezTo>
                    <a:cubicBezTo>
                      <a:pt x="3178384" y="552036"/>
                      <a:pt x="3169295" y="555801"/>
                      <a:pt x="3159817" y="555801"/>
                    </a:cubicBezTo>
                    <a:lnTo>
                      <a:pt x="35735" y="555801"/>
                    </a:lnTo>
                    <a:cubicBezTo>
                      <a:pt x="26258" y="555801"/>
                      <a:pt x="17168" y="552036"/>
                      <a:pt x="10467" y="545334"/>
                    </a:cubicBezTo>
                    <a:cubicBezTo>
                      <a:pt x="3765" y="538633"/>
                      <a:pt x="0" y="529543"/>
                      <a:pt x="0" y="520066"/>
                    </a:cubicBezTo>
                    <a:lnTo>
                      <a:pt x="0" y="35735"/>
                    </a:lnTo>
                    <a:cubicBezTo>
                      <a:pt x="0" y="26258"/>
                      <a:pt x="3765" y="17168"/>
                      <a:pt x="10467" y="10467"/>
                    </a:cubicBezTo>
                    <a:cubicBezTo>
                      <a:pt x="17168" y="3765"/>
                      <a:pt x="26258" y="0"/>
                      <a:pt x="3573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3195552" cy="6129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611634" y="533148"/>
              <a:ext cx="6403811" cy="8917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2"/>
                </a:lnSpc>
              </a:pPr>
              <a:r>
                <a:rPr lang="en-US" sz="49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DASHBOARD PUBLISHER &amp; GENRE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0" name="Freeform 10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2" name="Freeform 12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838804" y="7519896"/>
            <a:ext cx="587693" cy="302895"/>
            <a:chOff x="0" y="0"/>
            <a:chExt cx="783590" cy="403860"/>
          </a:xfrm>
        </p:grpSpPr>
        <p:sp>
          <p:nvSpPr>
            <p:cNvPr id="14" name="Freeform 14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834042" y="7477033"/>
            <a:ext cx="316230" cy="314325"/>
            <a:chOff x="0" y="0"/>
            <a:chExt cx="421640" cy="419100"/>
          </a:xfrm>
        </p:grpSpPr>
        <p:sp>
          <p:nvSpPr>
            <p:cNvPr id="16" name="Freeform 16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1856945" y="2063757"/>
            <a:ext cx="14766754" cy="5759034"/>
          </a:xfrm>
          <a:custGeom>
            <a:avLst/>
            <a:gdLst/>
            <a:ahLst/>
            <a:cxnLst/>
            <a:rect l="l" t="t" r="r" b="b"/>
            <a:pathLst>
              <a:path w="14766754" h="5759034">
                <a:moveTo>
                  <a:pt x="0" y="0"/>
                </a:moveTo>
                <a:lnTo>
                  <a:pt x="14766754" y="0"/>
                </a:lnTo>
                <a:lnTo>
                  <a:pt x="14766754" y="5759034"/>
                </a:lnTo>
                <a:lnTo>
                  <a:pt x="0" y="57590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0053772" y="8070441"/>
            <a:ext cx="7542848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Tập đoàn Xbox Game Studios dẫn đầu tổng doanh thu toàn cây phân cấp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Valve Corporation dẫn đầu doanh thu trực tiếp (Personal Sales) nhờ hệ sinh thái CS2 &amp; Dota 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1380" y="8060916"/>
            <a:ext cx="9149120" cy="89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Action RPG và Tactical Shooter chiếm thị phần cao nhất sau khi nhân WeightFactor</a:t>
            </a: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343434"/>
                </a:solidFill>
                <a:latin typeface="Montserrat"/>
                <a:ea typeface="Montserrat"/>
                <a:cs typeface="Montserrat"/>
                <a:sym typeface="Montserrat"/>
              </a:rPr>
              <a:t>Loại bỏ hoàn toàn sai số cộng trùng (Double-Counting) trên báo cáo thể loại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03339">
            <a:off x="-6483411" y="2098439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677643" y="572213"/>
            <a:ext cx="6932714" cy="1205804"/>
            <a:chOff x="0" y="0"/>
            <a:chExt cx="9243619" cy="160773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243619" cy="1607739"/>
              <a:chOff x="0" y="0"/>
              <a:chExt cx="3195552" cy="5558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195552" cy="555801"/>
              </a:xfrm>
              <a:custGeom>
                <a:avLst/>
                <a:gdLst/>
                <a:ahLst/>
                <a:cxnLst/>
                <a:rect l="l" t="t" r="r" b="b"/>
                <a:pathLst>
                  <a:path w="3195552" h="555801">
                    <a:moveTo>
                      <a:pt x="35735" y="0"/>
                    </a:moveTo>
                    <a:lnTo>
                      <a:pt x="3159817" y="0"/>
                    </a:lnTo>
                    <a:cubicBezTo>
                      <a:pt x="3179553" y="0"/>
                      <a:pt x="3195552" y="15999"/>
                      <a:pt x="3195552" y="35735"/>
                    </a:cubicBezTo>
                    <a:lnTo>
                      <a:pt x="3195552" y="520066"/>
                    </a:lnTo>
                    <a:cubicBezTo>
                      <a:pt x="3195552" y="529543"/>
                      <a:pt x="3191787" y="538633"/>
                      <a:pt x="3185086" y="545334"/>
                    </a:cubicBezTo>
                    <a:cubicBezTo>
                      <a:pt x="3178384" y="552036"/>
                      <a:pt x="3169295" y="555801"/>
                      <a:pt x="3159817" y="555801"/>
                    </a:cubicBezTo>
                    <a:lnTo>
                      <a:pt x="35735" y="555801"/>
                    </a:lnTo>
                    <a:cubicBezTo>
                      <a:pt x="26258" y="555801"/>
                      <a:pt x="17168" y="552036"/>
                      <a:pt x="10467" y="545334"/>
                    </a:cubicBezTo>
                    <a:cubicBezTo>
                      <a:pt x="3765" y="538633"/>
                      <a:pt x="0" y="529543"/>
                      <a:pt x="0" y="520066"/>
                    </a:cubicBezTo>
                    <a:lnTo>
                      <a:pt x="0" y="35735"/>
                    </a:lnTo>
                    <a:cubicBezTo>
                      <a:pt x="0" y="26258"/>
                      <a:pt x="3765" y="17168"/>
                      <a:pt x="10467" y="10467"/>
                    </a:cubicBezTo>
                    <a:cubicBezTo>
                      <a:pt x="17168" y="3765"/>
                      <a:pt x="26258" y="0"/>
                      <a:pt x="3573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3195552" cy="6129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611634" y="533148"/>
              <a:ext cx="6403811" cy="8917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2"/>
                </a:lnSpc>
              </a:pPr>
              <a:r>
                <a:rPr lang="en-US" sz="49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HIỆU NĂNG VẬT LÝ &amp; TUNING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0" name="Freeform 10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2" name="Freeform 12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4" name="Freeform 14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6" name="Freeform 16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4664416" y="2173073"/>
            <a:ext cx="12471988" cy="6953133"/>
          </a:xfrm>
          <a:custGeom>
            <a:avLst/>
            <a:gdLst/>
            <a:ahLst/>
            <a:cxnLst/>
            <a:rect l="l" t="t" r="r" b="b"/>
            <a:pathLst>
              <a:path w="12471988" h="6953133">
                <a:moveTo>
                  <a:pt x="0" y="0"/>
                </a:moveTo>
                <a:lnTo>
                  <a:pt x="12471988" y="0"/>
                </a:lnTo>
                <a:lnTo>
                  <a:pt x="12471988" y="6953133"/>
                </a:lnTo>
                <a:lnTo>
                  <a:pt x="0" y="69531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55285" y="3474015"/>
            <a:ext cx="3957881" cy="4606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301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Indexed Views (NOEXPAND) &amp; Columnstore Index giảm &gt;85% thời gian quét bảng Fact</a:t>
            </a:r>
          </a:p>
          <a:p>
            <a:pPr algn="l">
              <a:lnSpc>
                <a:spcPts val="3301"/>
              </a:lnSpc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301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Partitioning theo năm (PartByYear) giúp Partition Pruning tức thì</a:t>
            </a:r>
          </a:p>
          <a:p>
            <a:pPr algn="l">
              <a:lnSpc>
                <a:spcPts val="3301"/>
              </a:lnSpc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301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Kết hợp lưu trữ MOLAP (2024), HOLAP (2025) và ROLAP (2026)</a:t>
            </a:r>
          </a:p>
          <a:p>
            <a:pPr algn="l">
              <a:lnSpc>
                <a:spcPts val="3301"/>
              </a:lnSpc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301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Tối ưu hóa AggregationUsage (Full, None, Unrestricted, Default)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0419" y="2356185"/>
            <a:ext cx="3527346" cy="438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Physical Design &amp; Partitioning (Ch.5)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5008">
            <a:off x="12951966" y="7025744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703339">
            <a:off x="-6483411" y="2098439"/>
            <a:ext cx="12701350" cy="5382197"/>
          </a:xfrm>
          <a:custGeom>
            <a:avLst/>
            <a:gdLst/>
            <a:ahLst/>
            <a:cxnLst/>
            <a:rect l="l" t="t" r="r" b="b"/>
            <a:pathLst>
              <a:path w="12701350" h="5382197">
                <a:moveTo>
                  <a:pt x="0" y="0"/>
                </a:moveTo>
                <a:lnTo>
                  <a:pt x="12701350" y="0"/>
                </a:lnTo>
                <a:lnTo>
                  <a:pt x="12701350" y="5382196"/>
                </a:lnTo>
                <a:lnTo>
                  <a:pt x="0" y="5382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677643" y="682827"/>
            <a:ext cx="6932714" cy="1205804"/>
            <a:chOff x="0" y="0"/>
            <a:chExt cx="9243619" cy="1607739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243619" cy="1607739"/>
              <a:chOff x="0" y="0"/>
              <a:chExt cx="3195552" cy="5558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195552" cy="555801"/>
              </a:xfrm>
              <a:custGeom>
                <a:avLst/>
                <a:gdLst/>
                <a:ahLst/>
                <a:cxnLst/>
                <a:rect l="l" t="t" r="r" b="b"/>
                <a:pathLst>
                  <a:path w="3195552" h="555801">
                    <a:moveTo>
                      <a:pt x="35735" y="0"/>
                    </a:moveTo>
                    <a:lnTo>
                      <a:pt x="3159817" y="0"/>
                    </a:lnTo>
                    <a:cubicBezTo>
                      <a:pt x="3179553" y="0"/>
                      <a:pt x="3195552" y="15999"/>
                      <a:pt x="3195552" y="35735"/>
                    </a:cubicBezTo>
                    <a:lnTo>
                      <a:pt x="3195552" y="520066"/>
                    </a:lnTo>
                    <a:cubicBezTo>
                      <a:pt x="3195552" y="529543"/>
                      <a:pt x="3191787" y="538633"/>
                      <a:pt x="3185086" y="545334"/>
                    </a:cubicBezTo>
                    <a:cubicBezTo>
                      <a:pt x="3178384" y="552036"/>
                      <a:pt x="3169295" y="555801"/>
                      <a:pt x="3159817" y="555801"/>
                    </a:cubicBezTo>
                    <a:lnTo>
                      <a:pt x="35735" y="555801"/>
                    </a:lnTo>
                    <a:cubicBezTo>
                      <a:pt x="26258" y="555801"/>
                      <a:pt x="17168" y="552036"/>
                      <a:pt x="10467" y="545334"/>
                    </a:cubicBezTo>
                    <a:cubicBezTo>
                      <a:pt x="3765" y="538633"/>
                      <a:pt x="0" y="529543"/>
                      <a:pt x="0" y="520066"/>
                    </a:cubicBezTo>
                    <a:lnTo>
                      <a:pt x="0" y="35735"/>
                    </a:lnTo>
                    <a:cubicBezTo>
                      <a:pt x="0" y="26258"/>
                      <a:pt x="3765" y="17168"/>
                      <a:pt x="10467" y="10467"/>
                    </a:cubicBezTo>
                    <a:cubicBezTo>
                      <a:pt x="17168" y="3765"/>
                      <a:pt x="26258" y="0"/>
                      <a:pt x="35735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B795">
                      <a:alpha val="100000"/>
                    </a:srgbClr>
                  </a:gs>
                  <a:gs pos="50000">
                    <a:srgbClr val="699ACD">
                      <a:alpha val="100000"/>
                    </a:srgbClr>
                  </a:gs>
                  <a:gs pos="100000">
                    <a:srgbClr val="2F679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3195552" cy="6129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611634" y="533148"/>
              <a:ext cx="6403811" cy="8917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2"/>
                </a:lnSpc>
              </a:pPr>
              <a:r>
                <a:rPr lang="en-US" sz="4961" b="1">
                  <a:solidFill>
                    <a:srgbClr val="F2F7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KẾT LUẬN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65405" y="5983605"/>
            <a:ext cx="119062" cy="145733"/>
            <a:chOff x="0" y="0"/>
            <a:chExt cx="158750" cy="194310"/>
          </a:xfrm>
        </p:grpSpPr>
        <p:sp>
          <p:nvSpPr>
            <p:cNvPr id="10" name="Freeform 10"/>
            <p:cNvSpPr/>
            <p:nvPr/>
          </p:nvSpPr>
          <p:spPr>
            <a:xfrm>
              <a:off x="50053" y="50800"/>
              <a:ext cx="56230" cy="91636"/>
            </a:xfrm>
            <a:custGeom>
              <a:avLst/>
              <a:gdLst/>
              <a:ahLst/>
              <a:cxnLst/>
              <a:rect l="l" t="t" r="r" b="b"/>
              <a:pathLst>
                <a:path w="56230" h="91636">
                  <a:moveTo>
                    <a:pt x="52817" y="24130"/>
                  </a:moveTo>
                  <a:cubicBezTo>
                    <a:pt x="52817" y="81280"/>
                    <a:pt x="41387" y="90170"/>
                    <a:pt x="33767" y="91440"/>
                  </a:cubicBezTo>
                  <a:cubicBezTo>
                    <a:pt x="26147" y="92710"/>
                    <a:pt x="15987" y="87630"/>
                    <a:pt x="10907" y="81280"/>
                  </a:cubicBezTo>
                  <a:cubicBezTo>
                    <a:pt x="7097" y="76200"/>
                    <a:pt x="5827" y="64770"/>
                    <a:pt x="7097" y="57150"/>
                  </a:cubicBezTo>
                  <a:cubicBezTo>
                    <a:pt x="9637" y="50800"/>
                    <a:pt x="18527" y="41910"/>
                    <a:pt x="24877" y="40640"/>
                  </a:cubicBezTo>
                  <a:cubicBezTo>
                    <a:pt x="33767" y="39370"/>
                    <a:pt x="50277" y="45720"/>
                    <a:pt x="54087" y="53340"/>
                  </a:cubicBezTo>
                  <a:cubicBezTo>
                    <a:pt x="57897" y="59690"/>
                    <a:pt x="56627" y="77470"/>
                    <a:pt x="50277" y="83820"/>
                  </a:cubicBezTo>
                  <a:cubicBezTo>
                    <a:pt x="45197" y="90170"/>
                    <a:pt x="27417" y="93980"/>
                    <a:pt x="19797" y="88900"/>
                  </a:cubicBezTo>
                  <a:cubicBezTo>
                    <a:pt x="8367" y="81280"/>
                    <a:pt x="-3063" y="41910"/>
                    <a:pt x="747" y="26670"/>
                  </a:cubicBezTo>
                  <a:cubicBezTo>
                    <a:pt x="4557" y="15240"/>
                    <a:pt x="19797" y="0"/>
                    <a:pt x="28687" y="0"/>
                  </a:cubicBezTo>
                  <a:cubicBezTo>
                    <a:pt x="36307" y="0"/>
                    <a:pt x="52817" y="24130"/>
                    <a:pt x="52817" y="2413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715875" y="5942647"/>
            <a:ext cx="240030" cy="235267"/>
            <a:chOff x="0" y="0"/>
            <a:chExt cx="320040" cy="313690"/>
          </a:xfrm>
        </p:grpSpPr>
        <p:sp>
          <p:nvSpPr>
            <p:cNvPr id="12" name="Freeform 12"/>
            <p:cNvSpPr/>
            <p:nvPr/>
          </p:nvSpPr>
          <p:spPr>
            <a:xfrm>
              <a:off x="50800" y="50800"/>
              <a:ext cx="218440" cy="212090"/>
            </a:xfrm>
            <a:custGeom>
              <a:avLst/>
              <a:gdLst/>
              <a:ahLst/>
              <a:cxnLst/>
              <a:rect l="l" t="t" r="r" b="b"/>
              <a:pathLst>
                <a:path w="218440" h="212090">
                  <a:moveTo>
                    <a:pt x="0" y="147320"/>
                  </a:moveTo>
                  <a:cubicBezTo>
                    <a:pt x="0" y="111760"/>
                    <a:pt x="0" y="102870"/>
                    <a:pt x="0" y="93980"/>
                  </a:cubicBezTo>
                  <a:cubicBezTo>
                    <a:pt x="0" y="85090"/>
                    <a:pt x="0" y="76200"/>
                    <a:pt x="0" y="68580"/>
                  </a:cubicBezTo>
                  <a:cubicBezTo>
                    <a:pt x="1270" y="59690"/>
                    <a:pt x="0" y="48260"/>
                    <a:pt x="3810" y="40640"/>
                  </a:cubicBezTo>
                  <a:cubicBezTo>
                    <a:pt x="7620" y="33020"/>
                    <a:pt x="15240" y="27940"/>
                    <a:pt x="22860" y="22860"/>
                  </a:cubicBezTo>
                  <a:cubicBezTo>
                    <a:pt x="30480" y="17780"/>
                    <a:pt x="38100" y="13970"/>
                    <a:pt x="46990" y="11430"/>
                  </a:cubicBezTo>
                  <a:cubicBezTo>
                    <a:pt x="57150" y="7620"/>
                    <a:pt x="67310" y="5080"/>
                    <a:pt x="77470" y="3810"/>
                  </a:cubicBezTo>
                  <a:cubicBezTo>
                    <a:pt x="87630" y="1270"/>
                    <a:pt x="96520" y="1270"/>
                    <a:pt x="106680" y="0"/>
                  </a:cubicBezTo>
                  <a:cubicBezTo>
                    <a:pt x="115570" y="0"/>
                    <a:pt x="124460" y="0"/>
                    <a:pt x="133350" y="0"/>
                  </a:cubicBezTo>
                  <a:cubicBezTo>
                    <a:pt x="142240" y="1270"/>
                    <a:pt x="151130" y="1270"/>
                    <a:pt x="158750" y="2540"/>
                  </a:cubicBezTo>
                  <a:cubicBezTo>
                    <a:pt x="167640" y="3810"/>
                    <a:pt x="176530" y="6350"/>
                    <a:pt x="184150" y="8890"/>
                  </a:cubicBezTo>
                  <a:cubicBezTo>
                    <a:pt x="191770" y="11430"/>
                    <a:pt x="200660" y="13970"/>
                    <a:pt x="207010" y="21590"/>
                  </a:cubicBezTo>
                  <a:cubicBezTo>
                    <a:pt x="213360" y="27940"/>
                    <a:pt x="215900" y="41910"/>
                    <a:pt x="217170" y="50800"/>
                  </a:cubicBezTo>
                  <a:cubicBezTo>
                    <a:pt x="218440" y="59690"/>
                    <a:pt x="218440" y="68580"/>
                    <a:pt x="217170" y="77470"/>
                  </a:cubicBezTo>
                  <a:cubicBezTo>
                    <a:pt x="217170" y="86360"/>
                    <a:pt x="214630" y="95250"/>
                    <a:pt x="215900" y="105410"/>
                  </a:cubicBezTo>
                  <a:cubicBezTo>
                    <a:pt x="215900" y="114300"/>
                    <a:pt x="218440" y="124460"/>
                    <a:pt x="218440" y="133350"/>
                  </a:cubicBezTo>
                  <a:cubicBezTo>
                    <a:pt x="218440" y="143510"/>
                    <a:pt x="218440" y="154940"/>
                    <a:pt x="215900" y="162560"/>
                  </a:cubicBezTo>
                  <a:cubicBezTo>
                    <a:pt x="213360" y="167640"/>
                    <a:pt x="208280" y="171450"/>
                    <a:pt x="205740" y="176530"/>
                  </a:cubicBezTo>
                  <a:cubicBezTo>
                    <a:pt x="204470" y="182880"/>
                    <a:pt x="208280" y="190500"/>
                    <a:pt x="204470" y="195580"/>
                  </a:cubicBezTo>
                  <a:cubicBezTo>
                    <a:pt x="199390" y="203200"/>
                    <a:pt x="185420" y="207010"/>
                    <a:pt x="175260" y="209550"/>
                  </a:cubicBezTo>
                  <a:cubicBezTo>
                    <a:pt x="165100" y="212090"/>
                    <a:pt x="153670" y="212090"/>
                    <a:pt x="142240" y="212090"/>
                  </a:cubicBezTo>
                  <a:cubicBezTo>
                    <a:pt x="132080" y="212090"/>
                    <a:pt x="121920" y="208280"/>
                    <a:pt x="111760" y="208280"/>
                  </a:cubicBezTo>
                  <a:cubicBezTo>
                    <a:pt x="101600" y="207010"/>
                    <a:pt x="91440" y="205740"/>
                    <a:pt x="81280" y="205740"/>
                  </a:cubicBezTo>
                  <a:cubicBezTo>
                    <a:pt x="71120" y="205740"/>
                    <a:pt x="62230" y="205740"/>
                    <a:pt x="53340" y="205740"/>
                  </a:cubicBezTo>
                  <a:cubicBezTo>
                    <a:pt x="44450" y="204470"/>
                    <a:pt x="34290" y="207010"/>
                    <a:pt x="26670" y="203200"/>
                  </a:cubicBezTo>
                  <a:cubicBezTo>
                    <a:pt x="19050" y="199390"/>
                    <a:pt x="10160" y="190500"/>
                    <a:pt x="5080" y="181610"/>
                  </a:cubicBezTo>
                  <a:cubicBezTo>
                    <a:pt x="1270" y="172720"/>
                    <a:pt x="0" y="147320"/>
                    <a:pt x="0" y="147320"/>
                  </a:cubicBezTo>
                  <a:moveTo>
                    <a:pt x="81280" y="93980"/>
                  </a:moveTo>
                  <a:cubicBezTo>
                    <a:pt x="95250" y="87630"/>
                    <a:pt x="93980" y="87630"/>
                    <a:pt x="95250" y="86360"/>
                  </a:cubicBezTo>
                  <a:cubicBezTo>
                    <a:pt x="96520" y="85090"/>
                    <a:pt x="102870" y="80010"/>
                    <a:pt x="101600" y="78740"/>
                  </a:cubicBezTo>
                  <a:cubicBezTo>
                    <a:pt x="101600" y="77470"/>
                    <a:pt x="95250" y="78740"/>
                    <a:pt x="91440" y="78740"/>
                  </a:cubicBezTo>
                  <a:cubicBezTo>
                    <a:pt x="88900" y="78740"/>
                    <a:pt x="83820" y="77470"/>
                    <a:pt x="82550" y="78740"/>
                  </a:cubicBezTo>
                  <a:cubicBezTo>
                    <a:pt x="81280" y="80010"/>
                    <a:pt x="82550" y="83820"/>
                    <a:pt x="82550" y="86360"/>
                  </a:cubicBezTo>
                  <a:cubicBezTo>
                    <a:pt x="82550" y="88900"/>
                    <a:pt x="81280" y="93980"/>
                    <a:pt x="81280" y="93980"/>
                  </a:cubicBezTo>
                </a:path>
              </a:pathLst>
            </a:custGeom>
            <a:solidFill>
              <a:srgbClr val="F3F3F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905172" y="7431405"/>
            <a:ext cx="587693" cy="302895"/>
            <a:chOff x="0" y="0"/>
            <a:chExt cx="783590" cy="403860"/>
          </a:xfrm>
        </p:grpSpPr>
        <p:sp>
          <p:nvSpPr>
            <p:cNvPr id="14" name="Freeform 14"/>
            <p:cNvSpPr/>
            <p:nvPr/>
          </p:nvSpPr>
          <p:spPr>
            <a:xfrm>
              <a:off x="50659" y="36372"/>
              <a:ext cx="683004" cy="316370"/>
            </a:xfrm>
            <a:custGeom>
              <a:avLst/>
              <a:gdLst/>
              <a:ahLst/>
              <a:cxnLst/>
              <a:rect l="l" t="t" r="r" b="b"/>
              <a:pathLst>
                <a:path w="683004" h="316370">
                  <a:moveTo>
                    <a:pt x="600851" y="60148"/>
                  </a:moveTo>
                  <a:cubicBezTo>
                    <a:pt x="151271" y="75388"/>
                    <a:pt x="124601" y="83008"/>
                    <a:pt x="101741" y="102058"/>
                  </a:cubicBezTo>
                  <a:cubicBezTo>
                    <a:pt x="81421" y="119838"/>
                    <a:pt x="68721" y="149048"/>
                    <a:pt x="59831" y="174448"/>
                  </a:cubicBezTo>
                  <a:cubicBezTo>
                    <a:pt x="52211" y="197308"/>
                    <a:pt x="43321" y="229058"/>
                    <a:pt x="48401" y="246838"/>
                  </a:cubicBezTo>
                  <a:cubicBezTo>
                    <a:pt x="50941" y="258268"/>
                    <a:pt x="56021" y="265888"/>
                    <a:pt x="68721" y="272238"/>
                  </a:cubicBezTo>
                  <a:cubicBezTo>
                    <a:pt x="96661" y="284938"/>
                    <a:pt x="167781" y="274778"/>
                    <a:pt x="231281" y="273508"/>
                  </a:cubicBezTo>
                  <a:cubicBezTo>
                    <a:pt x="321451" y="269698"/>
                    <a:pt x="477661" y="262078"/>
                    <a:pt x="555131" y="248108"/>
                  </a:cubicBezTo>
                  <a:cubicBezTo>
                    <a:pt x="599581" y="239218"/>
                    <a:pt x="637681" y="212548"/>
                    <a:pt x="660541" y="213818"/>
                  </a:cubicBezTo>
                  <a:cubicBezTo>
                    <a:pt x="670701" y="215088"/>
                    <a:pt x="679591" y="221438"/>
                    <a:pt x="682131" y="227788"/>
                  </a:cubicBezTo>
                  <a:cubicBezTo>
                    <a:pt x="684671" y="234138"/>
                    <a:pt x="675781" y="253188"/>
                    <a:pt x="669431" y="255728"/>
                  </a:cubicBezTo>
                  <a:cubicBezTo>
                    <a:pt x="663081" y="258268"/>
                    <a:pt x="644031" y="248108"/>
                    <a:pt x="642761" y="241758"/>
                  </a:cubicBezTo>
                  <a:cubicBezTo>
                    <a:pt x="640221" y="234138"/>
                    <a:pt x="650381" y="217628"/>
                    <a:pt x="658001" y="215088"/>
                  </a:cubicBezTo>
                  <a:cubicBezTo>
                    <a:pt x="664351" y="212548"/>
                    <a:pt x="678321" y="218898"/>
                    <a:pt x="680861" y="225248"/>
                  </a:cubicBezTo>
                  <a:cubicBezTo>
                    <a:pt x="684671" y="231598"/>
                    <a:pt x="683401" y="243028"/>
                    <a:pt x="677051" y="250648"/>
                  </a:cubicBezTo>
                  <a:cubicBezTo>
                    <a:pt x="663081" y="267158"/>
                    <a:pt x="609741" y="277318"/>
                    <a:pt x="556401" y="287478"/>
                  </a:cubicBezTo>
                  <a:cubicBezTo>
                    <a:pt x="457341" y="305258"/>
                    <a:pt x="209691" y="315418"/>
                    <a:pt x="123331" y="315418"/>
                  </a:cubicBezTo>
                  <a:cubicBezTo>
                    <a:pt x="87771" y="315418"/>
                    <a:pt x="66181" y="319228"/>
                    <a:pt x="45861" y="311608"/>
                  </a:cubicBezTo>
                  <a:cubicBezTo>
                    <a:pt x="28081" y="303988"/>
                    <a:pt x="10301" y="286208"/>
                    <a:pt x="3951" y="273508"/>
                  </a:cubicBezTo>
                  <a:cubicBezTo>
                    <a:pt x="-1129" y="263348"/>
                    <a:pt x="141" y="255728"/>
                    <a:pt x="141" y="244298"/>
                  </a:cubicBezTo>
                  <a:cubicBezTo>
                    <a:pt x="2681" y="221438"/>
                    <a:pt x="10301" y="178258"/>
                    <a:pt x="20461" y="150318"/>
                  </a:cubicBezTo>
                  <a:cubicBezTo>
                    <a:pt x="30621" y="124918"/>
                    <a:pt x="45861" y="99518"/>
                    <a:pt x="62371" y="83008"/>
                  </a:cubicBezTo>
                  <a:cubicBezTo>
                    <a:pt x="75071" y="70308"/>
                    <a:pt x="87771" y="66498"/>
                    <a:pt x="108091" y="57608"/>
                  </a:cubicBezTo>
                  <a:cubicBezTo>
                    <a:pt x="137301" y="43638"/>
                    <a:pt x="175401" y="23318"/>
                    <a:pt x="227471" y="14428"/>
                  </a:cubicBezTo>
                  <a:cubicBezTo>
                    <a:pt x="316371" y="-812"/>
                    <a:pt x="552591" y="-8432"/>
                    <a:pt x="600851" y="14428"/>
                  </a:cubicBezTo>
                  <a:cubicBezTo>
                    <a:pt x="616091" y="20778"/>
                    <a:pt x="623711" y="32208"/>
                    <a:pt x="623711" y="39828"/>
                  </a:cubicBezTo>
                  <a:cubicBezTo>
                    <a:pt x="623711" y="47448"/>
                    <a:pt x="600851" y="60148"/>
                    <a:pt x="600851" y="601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900410" y="7388543"/>
            <a:ext cx="316230" cy="314325"/>
            <a:chOff x="0" y="0"/>
            <a:chExt cx="421640" cy="419100"/>
          </a:xfrm>
        </p:grpSpPr>
        <p:sp>
          <p:nvSpPr>
            <p:cNvPr id="16" name="Freeform 16"/>
            <p:cNvSpPr/>
            <p:nvPr/>
          </p:nvSpPr>
          <p:spPr>
            <a:xfrm>
              <a:off x="50476" y="48060"/>
              <a:ext cx="320067" cy="320240"/>
            </a:xfrm>
            <a:custGeom>
              <a:avLst/>
              <a:gdLst/>
              <a:ahLst/>
              <a:cxnLst/>
              <a:rect l="l" t="t" r="r" b="b"/>
              <a:pathLst>
                <a:path w="320067" h="320240">
                  <a:moveTo>
                    <a:pt x="28264" y="199590"/>
                  </a:moveTo>
                  <a:cubicBezTo>
                    <a:pt x="53664" y="95450"/>
                    <a:pt x="108274" y="64970"/>
                    <a:pt x="143834" y="44650"/>
                  </a:cubicBezTo>
                  <a:cubicBezTo>
                    <a:pt x="171774" y="29410"/>
                    <a:pt x="199714" y="17980"/>
                    <a:pt x="226384" y="10360"/>
                  </a:cubicBezTo>
                  <a:cubicBezTo>
                    <a:pt x="249244" y="5280"/>
                    <a:pt x="277184" y="-4880"/>
                    <a:pt x="293694" y="2740"/>
                  </a:cubicBezTo>
                  <a:cubicBezTo>
                    <a:pt x="306394" y="9090"/>
                    <a:pt x="316554" y="28140"/>
                    <a:pt x="319094" y="42110"/>
                  </a:cubicBezTo>
                  <a:cubicBezTo>
                    <a:pt x="321634" y="54810"/>
                    <a:pt x="319094" y="66240"/>
                    <a:pt x="312744" y="80210"/>
                  </a:cubicBezTo>
                  <a:cubicBezTo>
                    <a:pt x="303854" y="103070"/>
                    <a:pt x="280994" y="131010"/>
                    <a:pt x="251784" y="158950"/>
                  </a:cubicBezTo>
                  <a:cubicBezTo>
                    <a:pt x="203524" y="205940"/>
                    <a:pt x="72714" y="307540"/>
                    <a:pt x="33344" y="316430"/>
                  </a:cubicBezTo>
                  <a:cubicBezTo>
                    <a:pt x="20644" y="320240"/>
                    <a:pt x="11754" y="317700"/>
                    <a:pt x="6674" y="312620"/>
                  </a:cubicBezTo>
                  <a:cubicBezTo>
                    <a:pt x="1594" y="308810"/>
                    <a:pt x="-946" y="298650"/>
                    <a:pt x="324" y="292300"/>
                  </a:cubicBezTo>
                  <a:cubicBezTo>
                    <a:pt x="1594" y="285950"/>
                    <a:pt x="7944" y="278330"/>
                    <a:pt x="14294" y="275790"/>
                  </a:cubicBezTo>
                  <a:cubicBezTo>
                    <a:pt x="20644" y="273250"/>
                    <a:pt x="35884" y="277060"/>
                    <a:pt x="40964" y="283410"/>
                  </a:cubicBezTo>
                  <a:cubicBezTo>
                    <a:pt x="44774" y="287220"/>
                    <a:pt x="47314" y="297380"/>
                    <a:pt x="44774" y="303730"/>
                  </a:cubicBezTo>
                  <a:cubicBezTo>
                    <a:pt x="42234" y="310080"/>
                    <a:pt x="29534" y="318970"/>
                    <a:pt x="21914" y="320240"/>
                  </a:cubicBezTo>
                  <a:cubicBezTo>
                    <a:pt x="15564" y="320240"/>
                    <a:pt x="6674" y="315160"/>
                    <a:pt x="2864" y="308810"/>
                  </a:cubicBezTo>
                  <a:cubicBezTo>
                    <a:pt x="324" y="302460"/>
                    <a:pt x="-946" y="292300"/>
                    <a:pt x="5404" y="282140"/>
                  </a:cubicBezTo>
                  <a:cubicBezTo>
                    <a:pt x="21914" y="254200"/>
                    <a:pt x="127324" y="212290"/>
                    <a:pt x="174314" y="170380"/>
                  </a:cubicBezTo>
                  <a:cubicBezTo>
                    <a:pt x="216224" y="132280"/>
                    <a:pt x="286074" y="58620"/>
                    <a:pt x="278454" y="47190"/>
                  </a:cubicBezTo>
                  <a:cubicBezTo>
                    <a:pt x="272104" y="37030"/>
                    <a:pt x="199714" y="67510"/>
                    <a:pt x="167964" y="84020"/>
                  </a:cubicBezTo>
                  <a:cubicBezTo>
                    <a:pt x="138754" y="97990"/>
                    <a:pt x="108274" y="114500"/>
                    <a:pt x="91764" y="137360"/>
                  </a:cubicBezTo>
                  <a:cubicBezTo>
                    <a:pt x="75254" y="160220"/>
                    <a:pt x="79064" y="209750"/>
                    <a:pt x="65094" y="219910"/>
                  </a:cubicBezTo>
                  <a:cubicBezTo>
                    <a:pt x="57474" y="224990"/>
                    <a:pt x="44774" y="223720"/>
                    <a:pt x="38424" y="219910"/>
                  </a:cubicBezTo>
                  <a:cubicBezTo>
                    <a:pt x="32074" y="216100"/>
                    <a:pt x="28264" y="199590"/>
                    <a:pt x="28264" y="199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8083903" y="2736938"/>
            <a:ext cx="8743570" cy="5825403"/>
          </a:xfrm>
          <a:custGeom>
            <a:avLst/>
            <a:gdLst/>
            <a:ahLst/>
            <a:cxnLst/>
            <a:rect l="l" t="t" r="r" b="b"/>
            <a:pathLst>
              <a:path w="8743570" h="5825403">
                <a:moveTo>
                  <a:pt x="0" y="0"/>
                </a:moveTo>
                <a:lnTo>
                  <a:pt x="8743569" y="0"/>
                </a:lnTo>
                <a:lnTo>
                  <a:pt x="8743569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031430" y="2689313"/>
            <a:ext cx="5833272" cy="5925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Hoàn thành 100% quy trình 6 giai đoạn thiết kế Kho dữ liệu theo chuẩn Vaisman &amp; Zimányi (VKU)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Xây dựng Constellation Schema hỗ trợ đủ 6 loại Hierarchy, Ragged XOR Check &amp; SCD Type 2/4/5/6/7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Thiết kế ETL bằng BPMN 2.0 và triển khai thực tế trên SSIS &amp; Pentaho Kettle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61336" lvl="1" indent="-280668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Xây dựng OLAP Cube (SSAS &amp; Mondrian), 28 truy vấn MDX/SQL-OLAP và tối ưu hóa Partition/Columnstore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28310" y="5143500"/>
            <a:ext cx="8431381" cy="2479244"/>
            <a:chOff x="0" y="0"/>
            <a:chExt cx="2220611" cy="6529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20611" cy="652970"/>
            </a:xfrm>
            <a:custGeom>
              <a:avLst/>
              <a:gdLst/>
              <a:ahLst/>
              <a:cxnLst/>
              <a:rect l="l" t="t" r="r" b="b"/>
              <a:pathLst>
                <a:path w="2220611" h="652970">
                  <a:moveTo>
                    <a:pt x="0" y="0"/>
                  </a:moveTo>
                  <a:lnTo>
                    <a:pt x="2220611" y="0"/>
                  </a:lnTo>
                  <a:lnTo>
                    <a:pt x="2220611" y="652970"/>
                  </a:lnTo>
                  <a:lnTo>
                    <a:pt x="0" y="652970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220611" cy="700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760705">
            <a:off x="1423346" y="-1948290"/>
            <a:ext cx="15441309" cy="6543255"/>
          </a:xfrm>
          <a:custGeom>
            <a:avLst/>
            <a:gdLst/>
            <a:ahLst/>
            <a:cxnLst/>
            <a:rect l="l" t="t" r="r" b="b"/>
            <a:pathLst>
              <a:path w="15441309" h="6543255">
                <a:moveTo>
                  <a:pt x="0" y="0"/>
                </a:moveTo>
                <a:lnTo>
                  <a:pt x="15441308" y="0"/>
                </a:lnTo>
                <a:lnTo>
                  <a:pt x="15441308" y="6543255"/>
                </a:lnTo>
                <a:lnTo>
                  <a:pt x="0" y="65432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421043" y="3921572"/>
            <a:ext cx="9445915" cy="1206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59"/>
              </a:lnSpc>
            </a:pPr>
            <a:r>
              <a:rPr lang="en-US" sz="9339" b="1">
                <a:solidFill>
                  <a:srgbClr val="3434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CẢM ƠN THẦY CÔ &amp; CÁC BẠN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35577" y="5623546"/>
            <a:ext cx="7416846" cy="678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44"/>
              </a:lnSpc>
            </a:pPr>
            <a:r>
              <a:rPr lang="en-US" sz="4200" spc="100">
                <a:solidFill>
                  <a:srgbClr val="F2F7FA"/>
                </a:solidFill>
                <a:latin typeface="Montserrat"/>
                <a:ea typeface="Montserrat"/>
                <a:cs typeface="Montserrat"/>
                <a:sym typeface="Montserrat"/>
              </a:rPr>
              <a:t>ĐÃ LẮNG NGHE PHẦN TRÌNH BÀY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1970</Words>
  <Application>Microsoft Office PowerPoint</Application>
  <PresentationFormat>Custom</PresentationFormat>
  <Paragraphs>243</Paragraphs>
  <Slides>47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Montserrat Extra-Light</vt:lpstr>
      <vt:lpstr>Calibri</vt:lpstr>
      <vt:lpstr>Arial</vt:lpstr>
      <vt:lpstr>Francois One</vt:lpstr>
      <vt:lpstr>Montserrat Bold</vt:lpstr>
      <vt:lpstr>Montserrat Italics</vt:lpstr>
      <vt:lpstr>Montserrat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KHO_GKI</dc:title>
  <cp:lastModifiedBy>ngo nhat huy</cp:lastModifiedBy>
  <cp:revision>2</cp:revision>
  <dcterms:created xsi:type="dcterms:W3CDTF">2006-08-16T00:00:00Z</dcterms:created>
  <dcterms:modified xsi:type="dcterms:W3CDTF">2026-10-16T10:09:47Z</dcterms:modified>
  <dc:identifier>DAHBorGaCGk</dc:identifier>
</cp:coreProperties>
</file>